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8"/>
  </p:notesMasterIdLst>
  <p:handoutMasterIdLst>
    <p:handoutMasterId r:id="rId19"/>
  </p:handoutMasterIdLst>
  <p:sldIdLst>
    <p:sldId id="296" r:id="rId2"/>
    <p:sldId id="269" r:id="rId3"/>
    <p:sldId id="278" r:id="rId4"/>
    <p:sldId id="270" r:id="rId5"/>
    <p:sldId id="258" r:id="rId6"/>
    <p:sldId id="279" r:id="rId7"/>
    <p:sldId id="267" r:id="rId8"/>
    <p:sldId id="259" r:id="rId9"/>
    <p:sldId id="260" r:id="rId10"/>
    <p:sldId id="273" r:id="rId11"/>
    <p:sldId id="275" r:id="rId12"/>
    <p:sldId id="276" r:id="rId13"/>
    <p:sldId id="274" r:id="rId14"/>
    <p:sldId id="277" r:id="rId15"/>
    <p:sldId id="307" r:id="rId16"/>
    <p:sldId id="308" r:id="rId17"/>
  </p:sldIdLst>
  <p:sldSz cx="9144000" cy="6858000" type="screen4x3"/>
  <p:notesSz cx="6954838" cy="9309100"/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33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72" autoAdjust="0"/>
    <p:restoredTop sz="93367" autoAdjust="0"/>
  </p:normalViewPr>
  <p:slideViewPr>
    <p:cSldViewPr>
      <p:cViewPr varScale="1">
        <p:scale>
          <a:sx n="74" d="100"/>
          <a:sy n="74" d="100"/>
        </p:scale>
        <p:origin x="117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4291" cy="46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t" anchorCtr="0" compatLnSpc="1">
            <a:prstTxWarp prst="textNoShape">
              <a:avLst/>
            </a:prstTxWarp>
          </a:bodyPr>
          <a:lstStyle>
            <a:lvl1pPr defTabSz="930275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0548" y="0"/>
            <a:ext cx="3014290" cy="46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4202"/>
            <a:ext cx="3014291" cy="46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b" anchorCtr="0" compatLnSpc="1">
            <a:prstTxWarp prst="textNoShape">
              <a:avLst/>
            </a:prstTxWarp>
          </a:bodyPr>
          <a:lstStyle>
            <a:lvl1pPr defTabSz="930275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0548" y="8844202"/>
            <a:ext cx="3014290" cy="46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b" anchorCtr="0" compatLnSpc="1">
            <a:prstTxWarp prst="textNoShape">
              <a:avLst/>
            </a:prstTxWarp>
          </a:bodyPr>
          <a:lstStyle>
            <a:lvl1pPr algn="r" defTabSz="930275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A4FC305-6F9A-437F-9A1D-228C9BAAB5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9289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7839" y="4421306"/>
            <a:ext cx="5099161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949" tIns="46474" rIns="92949" bIns="46474"/>
          <a:lstStyle/>
          <a:p>
            <a:r>
              <a:rPr lang="en-US"/>
              <a:t>Section 6.7.1.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An abbreviated version is shown in Figure 6.37.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7839" y="4421306"/>
            <a:ext cx="5099161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949" tIns="46474" rIns="92949" bIns="46474"/>
          <a:lstStyle/>
          <a:p>
            <a:r>
              <a:rPr lang="en-US"/>
              <a:t>Section 6.9.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7839" y="4421306"/>
            <a:ext cx="5099161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949" tIns="46474" rIns="92949" bIns="46474"/>
          <a:lstStyle/>
          <a:p>
            <a:r>
              <a:rPr lang="en-US"/>
              <a:t>Cf. Figure 6.51.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Section 6.9.1.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Cf. Figure 6.54.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Section 6.9.1.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Cf. Figure 6.55.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Cf. Figure 6.55.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Section 6.9.2.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8500"/>
            <a:ext cx="4652962" cy="34909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84" y="4421306"/>
            <a:ext cx="5563870" cy="418885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Cf. Figure 6.57.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9F8DF-092D-4237-BC96-A6A4DCF43A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213B43-DE12-451A-835C-91D5744157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2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157FA3-1FC6-4189-8D7E-C4E7A31E30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0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ED73DE-7E52-4800-9C8C-B21A3D803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4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90B70-46D5-48DE-92DC-B721F6A844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3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3BB14-AD7C-49C2-9C22-69615C8FE2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3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024DB-BE71-4CF4-9950-51F9250D73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2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2799C-C7C9-48B8-9C9D-18D83D7628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3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C75AD-9978-4156-B037-6787867B29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3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BE3DC3-6A8E-417A-A7FC-5689CAD4CB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9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31435-38DD-4246-A98D-EB9338DE2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04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EAE9F-B518-49D2-98EC-0EDA8F4108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41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34EE1-33EE-429B-B0FC-41EA8AF361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5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C06EF-B83C-4A08-8D1E-A6E40B5738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63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C1E56-D646-4BA3-953A-CB00D1C575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3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 b="0"/>
            </a:lvl1pPr>
          </a:lstStyle>
          <a:p>
            <a:pPr>
              <a:defRPr/>
            </a:pPr>
            <a:fld id="{C35B52D5-8D8C-480E-B589-5B5CE027F6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ü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47663" y="609600"/>
            <a:ext cx="8526462" cy="51435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1" hangingPunct="1"/>
            <a:r>
              <a:rPr lang="en-US" sz="4000"/>
              <a:t>Rotations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6388" y="1970088"/>
            <a:ext cx="8643937" cy="273685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>
                <a:latin typeface="Courier New" pitchFamily="49" charset="0"/>
              </a:rPr>
              <a:t>rotateRight(G,P,C)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/>
              <a:t>	</a:t>
            </a:r>
            <a:r>
              <a:rPr lang="en-US" sz="2700">
                <a:latin typeface="Courier New" pitchFamily="49" charset="0"/>
              </a:rPr>
              <a:t>if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P</a:t>
            </a:r>
            <a:r>
              <a:rPr lang="en-US" sz="2700"/>
              <a:t> </a:t>
            </a:r>
            <a:r>
              <a:rPr lang="en-US" sz="2700" i="1"/>
              <a:t>is</a:t>
            </a:r>
            <a:r>
              <a:rPr lang="en-US" sz="2700"/>
              <a:t> </a:t>
            </a:r>
            <a:r>
              <a:rPr lang="en-US" sz="2700" i="1"/>
              <a:t>not the root of the tree</a:t>
            </a:r>
            <a:r>
              <a:rPr lang="en-US" sz="2700"/>
              <a:t> // i.e., if </a:t>
            </a:r>
            <a:r>
              <a:rPr lang="en-US" sz="2700">
                <a:latin typeface="Courier New" pitchFamily="49" charset="0"/>
              </a:rPr>
              <a:t>G</a:t>
            </a:r>
            <a:r>
              <a:rPr lang="en-US" sz="2700"/>
              <a:t> is not null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/>
              <a:t>1.		</a:t>
            </a:r>
            <a:r>
              <a:rPr lang="en-US" sz="2700" i="1"/>
              <a:t>grandparent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G</a:t>
            </a:r>
            <a:r>
              <a:rPr lang="en-US" sz="2700"/>
              <a:t> </a:t>
            </a:r>
            <a:r>
              <a:rPr lang="en-US" sz="2700" i="1"/>
              <a:t>of child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C</a:t>
            </a:r>
            <a:r>
              <a:rPr lang="en-US" sz="2700"/>
              <a:t> </a:t>
            </a:r>
            <a:r>
              <a:rPr lang="en-US" sz="2700" i="1"/>
              <a:t>becomes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C</a:t>
            </a:r>
            <a:r>
              <a:rPr lang="en-US" sz="2700" i="1"/>
              <a:t>’s parent by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 i="1"/>
              <a:t>		replacing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P;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/>
              <a:t>2.	</a:t>
            </a:r>
            <a:r>
              <a:rPr lang="en-US" sz="2700" i="1"/>
              <a:t>right subtree of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C</a:t>
            </a:r>
            <a:r>
              <a:rPr lang="en-US" sz="2700"/>
              <a:t> </a:t>
            </a:r>
            <a:r>
              <a:rPr lang="en-US" sz="2700" i="1"/>
              <a:t>becomes left subtree of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C</a:t>
            </a:r>
            <a:r>
              <a:rPr lang="en-US" sz="2700"/>
              <a:t>’</a:t>
            </a:r>
            <a:r>
              <a:rPr lang="en-US" sz="2700" i="1"/>
              <a:t>s</a:t>
            </a:r>
            <a:r>
              <a:rPr lang="en-US" sz="2700"/>
              <a:t> </a:t>
            </a:r>
            <a:r>
              <a:rPr lang="en-US" sz="2700" i="1"/>
              <a:t>parent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P;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700"/>
              <a:t>3.	</a:t>
            </a:r>
            <a:r>
              <a:rPr lang="en-US" sz="2700" i="1"/>
              <a:t>node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C</a:t>
            </a:r>
            <a:r>
              <a:rPr lang="en-US" sz="2700"/>
              <a:t> </a:t>
            </a:r>
            <a:r>
              <a:rPr lang="en-US" sz="2700" i="1"/>
              <a:t>acquires</a:t>
            </a:r>
            <a:r>
              <a:rPr lang="en-US" sz="2700"/>
              <a:t> </a:t>
            </a:r>
            <a:r>
              <a:rPr lang="en-US" sz="2700">
                <a:latin typeface="Courier New" pitchFamily="49" charset="0"/>
              </a:rPr>
              <a:t>P</a:t>
            </a:r>
            <a:r>
              <a:rPr lang="en-US" sz="2700"/>
              <a:t> </a:t>
            </a:r>
            <a:r>
              <a:rPr lang="en-US" sz="2700" i="1"/>
              <a:t>as its right child</a:t>
            </a:r>
            <a:r>
              <a:rPr lang="en-US" sz="2700">
                <a:latin typeface="Courier New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1447800" y="152400"/>
            <a:ext cx="6400800" cy="588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3200" b="0">
                <a:solidFill>
                  <a:schemeClr val="accent2"/>
                </a:solidFill>
              </a:rPr>
              <a:t>Step-by-step right rotation</a:t>
            </a:r>
          </a:p>
        </p:txBody>
      </p:sp>
      <p:sp>
        <p:nvSpPr>
          <p:cNvPr id="21507" name="AutoShape 3"/>
          <p:cNvSpPr>
            <a:spLocks noChangeArrowheads="1"/>
          </p:cNvSpPr>
          <p:nvPr/>
        </p:nvSpPr>
        <p:spPr bwMode="auto">
          <a:xfrm>
            <a:off x="304800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334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21509" name="AutoShape 5"/>
          <p:cNvSpPr>
            <a:spLocks noChangeArrowheads="1"/>
          </p:cNvSpPr>
          <p:nvPr/>
        </p:nvSpPr>
        <p:spPr bwMode="auto">
          <a:xfrm>
            <a:off x="1295400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5240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21511" name="AutoShape 7"/>
          <p:cNvSpPr>
            <a:spLocks noChangeArrowheads="1"/>
          </p:cNvSpPr>
          <p:nvPr/>
        </p:nvSpPr>
        <p:spPr bwMode="auto">
          <a:xfrm>
            <a:off x="2286000" y="21336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2514600" y="2286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21513" name="Oval 9"/>
          <p:cNvSpPr>
            <a:spLocks noChangeArrowheads="1"/>
          </p:cNvSpPr>
          <p:nvPr/>
        </p:nvSpPr>
        <p:spPr bwMode="auto">
          <a:xfrm>
            <a:off x="1219200" y="914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1230313" y="89376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21515" name="Oval 11"/>
          <p:cNvSpPr>
            <a:spLocks noChangeArrowheads="1"/>
          </p:cNvSpPr>
          <p:nvPr/>
        </p:nvSpPr>
        <p:spPr bwMode="auto">
          <a:xfrm>
            <a:off x="1905000" y="15240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1922463" y="150812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21517" name="Oval 13"/>
          <p:cNvSpPr>
            <a:spLocks noChangeArrowheads="1"/>
          </p:cNvSpPr>
          <p:nvPr/>
        </p:nvSpPr>
        <p:spPr bwMode="auto">
          <a:xfrm>
            <a:off x="1066800" y="1981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1076325" y="1970088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V="1">
            <a:off x="731838" y="2362200"/>
            <a:ext cx="411162" cy="298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flipH="1" flipV="1">
            <a:off x="1447800" y="2362200"/>
            <a:ext cx="257175" cy="295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 flipV="1">
            <a:off x="1447800" y="1828800"/>
            <a:ext cx="457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 flipH="1" flipV="1">
            <a:off x="2309813" y="1905000"/>
            <a:ext cx="3810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 flipH="1" flipV="1">
            <a:off x="1600200" y="12954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6" name="AutoShape 20"/>
          <p:cNvSpPr>
            <a:spLocks noChangeArrowheads="1"/>
          </p:cNvSpPr>
          <p:nvPr/>
        </p:nvSpPr>
        <p:spPr bwMode="auto">
          <a:xfrm>
            <a:off x="3200400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7" name="Text Box 21"/>
          <p:cNvSpPr txBox="1">
            <a:spLocks noChangeArrowheads="1"/>
          </p:cNvSpPr>
          <p:nvPr/>
        </p:nvSpPr>
        <p:spPr bwMode="auto">
          <a:xfrm>
            <a:off x="34290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70678" name="AutoShape 22"/>
          <p:cNvSpPr>
            <a:spLocks noChangeArrowheads="1"/>
          </p:cNvSpPr>
          <p:nvPr/>
        </p:nvSpPr>
        <p:spPr bwMode="auto">
          <a:xfrm>
            <a:off x="4191000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9" name="Text Box 23"/>
          <p:cNvSpPr txBox="1">
            <a:spLocks noChangeArrowheads="1"/>
          </p:cNvSpPr>
          <p:nvPr/>
        </p:nvSpPr>
        <p:spPr bwMode="auto">
          <a:xfrm>
            <a:off x="44196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70680" name="AutoShape 24"/>
          <p:cNvSpPr>
            <a:spLocks noChangeArrowheads="1"/>
          </p:cNvSpPr>
          <p:nvPr/>
        </p:nvSpPr>
        <p:spPr bwMode="auto">
          <a:xfrm>
            <a:off x="5181600" y="21336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1" name="Text Box 25"/>
          <p:cNvSpPr txBox="1">
            <a:spLocks noChangeArrowheads="1"/>
          </p:cNvSpPr>
          <p:nvPr/>
        </p:nvSpPr>
        <p:spPr bwMode="auto">
          <a:xfrm>
            <a:off x="5410200" y="2286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70682" name="Oval 26"/>
          <p:cNvSpPr>
            <a:spLocks noChangeArrowheads="1"/>
          </p:cNvSpPr>
          <p:nvPr/>
        </p:nvSpPr>
        <p:spPr bwMode="auto">
          <a:xfrm>
            <a:off x="4114800" y="914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3" name="Text Box 27"/>
          <p:cNvSpPr txBox="1">
            <a:spLocks noChangeArrowheads="1"/>
          </p:cNvSpPr>
          <p:nvPr/>
        </p:nvSpPr>
        <p:spPr bwMode="auto">
          <a:xfrm>
            <a:off x="4114800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70684" name="Oval 28"/>
          <p:cNvSpPr>
            <a:spLocks noChangeArrowheads="1"/>
          </p:cNvSpPr>
          <p:nvPr/>
        </p:nvSpPr>
        <p:spPr bwMode="auto">
          <a:xfrm>
            <a:off x="4800600" y="15240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5" name="Text Box 29"/>
          <p:cNvSpPr txBox="1">
            <a:spLocks noChangeArrowheads="1"/>
          </p:cNvSpPr>
          <p:nvPr/>
        </p:nvSpPr>
        <p:spPr bwMode="auto">
          <a:xfrm>
            <a:off x="4805363" y="1524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70686" name="Oval 30"/>
          <p:cNvSpPr>
            <a:spLocks noChangeArrowheads="1"/>
          </p:cNvSpPr>
          <p:nvPr/>
        </p:nvSpPr>
        <p:spPr bwMode="auto">
          <a:xfrm>
            <a:off x="3962400" y="1981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7" name="Text Box 31"/>
          <p:cNvSpPr txBox="1">
            <a:spLocks noChangeArrowheads="1"/>
          </p:cNvSpPr>
          <p:nvPr/>
        </p:nvSpPr>
        <p:spPr bwMode="auto">
          <a:xfrm>
            <a:off x="3960813" y="1981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70688" name="Line 32"/>
          <p:cNvSpPr>
            <a:spLocks noChangeShapeType="1"/>
          </p:cNvSpPr>
          <p:nvPr/>
        </p:nvSpPr>
        <p:spPr bwMode="auto">
          <a:xfrm flipV="1">
            <a:off x="3619500" y="2362200"/>
            <a:ext cx="419100" cy="309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89" name="Line 33"/>
          <p:cNvSpPr>
            <a:spLocks noChangeShapeType="1"/>
          </p:cNvSpPr>
          <p:nvPr/>
        </p:nvSpPr>
        <p:spPr bwMode="auto">
          <a:xfrm flipH="1" flipV="1">
            <a:off x="4343400" y="2362200"/>
            <a:ext cx="266700" cy="298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90" name="Line 34"/>
          <p:cNvSpPr>
            <a:spLocks noChangeShapeType="1"/>
          </p:cNvSpPr>
          <p:nvPr/>
        </p:nvSpPr>
        <p:spPr bwMode="auto">
          <a:xfrm flipV="1">
            <a:off x="4343400" y="1828800"/>
            <a:ext cx="457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91" name="Line 35"/>
          <p:cNvSpPr>
            <a:spLocks noChangeShapeType="1"/>
          </p:cNvSpPr>
          <p:nvPr/>
        </p:nvSpPr>
        <p:spPr bwMode="auto">
          <a:xfrm flipH="1" flipV="1">
            <a:off x="5181600" y="1905000"/>
            <a:ext cx="417513" cy="236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92" name="Line 36"/>
          <p:cNvSpPr>
            <a:spLocks noChangeShapeType="1"/>
          </p:cNvSpPr>
          <p:nvPr/>
        </p:nvSpPr>
        <p:spPr bwMode="auto">
          <a:xfrm flipH="1">
            <a:off x="4191000" y="1371600"/>
            <a:ext cx="1524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93" name="AutoShape 37"/>
          <p:cNvSpPr>
            <a:spLocks noChangeArrowheads="1"/>
          </p:cNvSpPr>
          <p:nvPr/>
        </p:nvSpPr>
        <p:spPr bwMode="auto">
          <a:xfrm>
            <a:off x="6096000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94" name="Text Box 38"/>
          <p:cNvSpPr txBox="1">
            <a:spLocks noChangeArrowheads="1"/>
          </p:cNvSpPr>
          <p:nvPr/>
        </p:nvSpPr>
        <p:spPr bwMode="auto">
          <a:xfrm>
            <a:off x="6324600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70695" name="AutoShape 39"/>
          <p:cNvSpPr>
            <a:spLocks noChangeArrowheads="1"/>
          </p:cNvSpPr>
          <p:nvPr/>
        </p:nvSpPr>
        <p:spPr bwMode="auto">
          <a:xfrm>
            <a:off x="7037388" y="2667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96" name="Text Box 40"/>
          <p:cNvSpPr txBox="1">
            <a:spLocks noChangeArrowheads="1"/>
          </p:cNvSpPr>
          <p:nvPr/>
        </p:nvSpPr>
        <p:spPr bwMode="auto">
          <a:xfrm>
            <a:off x="7265988" y="2819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70697" name="AutoShape 41"/>
          <p:cNvSpPr>
            <a:spLocks noChangeArrowheads="1"/>
          </p:cNvSpPr>
          <p:nvPr/>
        </p:nvSpPr>
        <p:spPr bwMode="auto">
          <a:xfrm>
            <a:off x="8077200" y="21336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98" name="Text Box 42"/>
          <p:cNvSpPr txBox="1">
            <a:spLocks noChangeArrowheads="1"/>
          </p:cNvSpPr>
          <p:nvPr/>
        </p:nvSpPr>
        <p:spPr bwMode="auto">
          <a:xfrm>
            <a:off x="8305800" y="2286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70699" name="Oval 43"/>
          <p:cNvSpPr>
            <a:spLocks noChangeArrowheads="1"/>
          </p:cNvSpPr>
          <p:nvPr/>
        </p:nvSpPr>
        <p:spPr bwMode="auto">
          <a:xfrm>
            <a:off x="7010400" y="914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00" name="Text Box 44"/>
          <p:cNvSpPr txBox="1">
            <a:spLocks noChangeArrowheads="1"/>
          </p:cNvSpPr>
          <p:nvPr/>
        </p:nvSpPr>
        <p:spPr bwMode="auto">
          <a:xfrm>
            <a:off x="7034213" y="91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70701" name="Oval 45"/>
          <p:cNvSpPr>
            <a:spLocks noChangeArrowheads="1"/>
          </p:cNvSpPr>
          <p:nvPr/>
        </p:nvSpPr>
        <p:spPr bwMode="auto">
          <a:xfrm>
            <a:off x="7696200" y="15240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02" name="Text Box 46"/>
          <p:cNvSpPr txBox="1">
            <a:spLocks noChangeArrowheads="1"/>
          </p:cNvSpPr>
          <p:nvPr/>
        </p:nvSpPr>
        <p:spPr bwMode="auto">
          <a:xfrm>
            <a:off x="7724775" y="1524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70703" name="Oval 47"/>
          <p:cNvSpPr>
            <a:spLocks noChangeArrowheads="1"/>
          </p:cNvSpPr>
          <p:nvPr/>
        </p:nvSpPr>
        <p:spPr bwMode="auto">
          <a:xfrm>
            <a:off x="6858000" y="1981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04" name="Text Box 48"/>
          <p:cNvSpPr txBox="1">
            <a:spLocks noChangeArrowheads="1"/>
          </p:cNvSpPr>
          <p:nvPr/>
        </p:nvSpPr>
        <p:spPr bwMode="auto">
          <a:xfrm>
            <a:off x="6880225" y="1981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70705" name="Line 49"/>
          <p:cNvSpPr>
            <a:spLocks noChangeShapeType="1"/>
          </p:cNvSpPr>
          <p:nvPr/>
        </p:nvSpPr>
        <p:spPr bwMode="auto">
          <a:xfrm flipV="1">
            <a:off x="6521450" y="2362200"/>
            <a:ext cx="412750" cy="303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06" name="Line 50"/>
          <p:cNvSpPr>
            <a:spLocks noChangeShapeType="1"/>
          </p:cNvSpPr>
          <p:nvPr/>
        </p:nvSpPr>
        <p:spPr bwMode="auto">
          <a:xfrm flipH="1" flipV="1">
            <a:off x="7239000" y="2362200"/>
            <a:ext cx="2286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07" name="Line 51"/>
          <p:cNvSpPr>
            <a:spLocks noChangeShapeType="1"/>
          </p:cNvSpPr>
          <p:nvPr/>
        </p:nvSpPr>
        <p:spPr bwMode="auto">
          <a:xfrm flipV="1">
            <a:off x="7239000" y="1828800"/>
            <a:ext cx="457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08" name="Line 52"/>
          <p:cNvSpPr>
            <a:spLocks noChangeShapeType="1"/>
          </p:cNvSpPr>
          <p:nvPr/>
        </p:nvSpPr>
        <p:spPr bwMode="auto">
          <a:xfrm flipH="1" flipV="1">
            <a:off x="8077200" y="1905000"/>
            <a:ext cx="412750" cy="217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09" name="Line 53"/>
          <p:cNvSpPr>
            <a:spLocks noChangeShapeType="1"/>
          </p:cNvSpPr>
          <p:nvPr/>
        </p:nvSpPr>
        <p:spPr bwMode="auto">
          <a:xfrm flipH="1">
            <a:off x="7086600" y="1371600"/>
            <a:ext cx="1524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10" name="Line 54"/>
          <p:cNvSpPr>
            <a:spLocks noChangeShapeType="1"/>
          </p:cNvSpPr>
          <p:nvPr/>
        </p:nvSpPr>
        <p:spPr bwMode="auto">
          <a:xfrm flipV="1">
            <a:off x="7467600" y="1970088"/>
            <a:ext cx="368300" cy="6969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11" name="Line 55"/>
          <p:cNvSpPr>
            <a:spLocks noChangeShapeType="1"/>
          </p:cNvSpPr>
          <p:nvPr/>
        </p:nvSpPr>
        <p:spPr bwMode="auto">
          <a:xfrm flipH="1" flipV="1">
            <a:off x="4495800" y="12954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12" name="AutoShape 56"/>
          <p:cNvSpPr>
            <a:spLocks noChangeArrowheads="1"/>
          </p:cNvSpPr>
          <p:nvPr/>
        </p:nvSpPr>
        <p:spPr bwMode="auto">
          <a:xfrm>
            <a:off x="990600" y="5715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13" name="Text Box 57"/>
          <p:cNvSpPr txBox="1">
            <a:spLocks noChangeArrowheads="1"/>
          </p:cNvSpPr>
          <p:nvPr/>
        </p:nvSpPr>
        <p:spPr bwMode="auto">
          <a:xfrm>
            <a:off x="1219200" y="5867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70714" name="AutoShape 58"/>
          <p:cNvSpPr>
            <a:spLocks noChangeArrowheads="1"/>
          </p:cNvSpPr>
          <p:nvPr/>
        </p:nvSpPr>
        <p:spPr bwMode="auto">
          <a:xfrm>
            <a:off x="1936750" y="57150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15" name="Text Box 59"/>
          <p:cNvSpPr txBox="1">
            <a:spLocks noChangeArrowheads="1"/>
          </p:cNvSpPr>
          <p:nvPr/>
        </p:nvSpPr>
        <p:spPr bwMode="auto">
          <a:xfrm>
            <a:off x="2165350" y="5867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70716" name="AutoShape 60"/>
          <p:cNvSpPr>
            <a:spLocks noChangeArrowheads="1"/>
          </p:cNvSpPr>
          <p:nvPr/>
        </p:nvSpPr>
        <p:spPr bwMode="auto">
          <a:xfrm>
            <a:off x="2971800" y="51816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17" name="Text Box 61"/>
          <p:cNvSpPr txBox="1">
            <a:spLocks noChangeArrowheads="1"/>
          </p:cNvSpPr>
          <p:nvPr/>
        </p:nvSpPr>
        <p:spPr bwMode="auto">
          <a:xfrm>
            <a:off x="3200400" y="5334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70718" name="Oval 62"/>
          <p:cNvSpPr>
            <a:spLocks noChangeArrowheads="1"/>
          </p:cNvSpPr>
          <p:nvPr/>
        </p:nvSpPr>
        <p:spPr bwMode="auto">
          <a:xfrm>
            <a:off x="1905000" y="3962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19" name="Text Box 63"/>
          <p:cNvSpPr txBox="1">
            <a:spLocks noChangeArrowheads="1"/>
          </p:cNvSpPr>
          <p:nvPr/>
        </p:nvSpPr>
        <p:spPr bwMode="auto">
          <a:xfrm>
            <a:off x="1925638" y="396716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70720" name="Oval 64"/>
          <p:cNvSpPr>
            <a:spLocks noChangeArrowheads="1"/>
          </p:cNvSpPr>
          <p:nvPr/>
        </p:nvSpPr>
        <p:spPr bwMode="auto">
          <a:xfrm>
            <a:off x="2590800" y="45720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21" name="Text Box 65"/>
          <p:cNvSpPr txBox="1">
            <a:spLocks noChangeArrowheads="1"/>
          </p:cNvSpPr>
          <p:nvPr/>
        </p:nvSpPr>
        <p:spPr bwMode="auto">
          <a:xfrm>
            <a:off x="2613025" y="458152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70722" name="Oval 66"/>
          <p:cNvSpPr>
            <a:spLocks noChangeArrowheads="1"/>
          </p:cNvSpPr>
          <p:nvPr/>
        </p:nvSpPr>
        <p:spPr bwMode="auto">
          <a:xfrm>
            <a:off x="1752600" y="5029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23" name="Text Box 67"/>
          <p:cNvSpPr txBox="1">
            <a:spLocks noChangeArrowheads="1"/>
          </p:cNvSpPr>
          <p:nvPr/>
        </p:nvSpPr>
        <p:spPr bwMode="auto">
          <a:xfrm>
            <a:off x="1733550" y="50450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70724" name="Line 68"/>
          <p:cNvSpPr>
            <a:spLocks noChangeShapeType="1"/>
          </p:cNvSpPr>
          <p:nvPr/>
        </p:nvSpPr>
        <p:spPr bwMode="auto">
          <a:xfrm flipV="1">
            <a:off x="1408113" y="5410200"/>
            <a:ext cx="420687" cy="307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25" name="Line 69"/>
          <p:cNvSpPr>
            <a:spLocks noChangeShapeType="1"/>
          </p:cNvSpPr>
          <p:nvPr/>
        </p:nvSpPr>
        <p:spPr bwMode="auto">
          <a:xfrm flipH="1" flipV="1">
            <a:off x="2133600" y="5410200"/>
            <a:ext cx="2286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26" name="Line 70"/>
          <p:cNvSpPr>
            <a:spLocks noChangeShapeType="1"/>
          </p:cNvSpPr>
          <p:nvPr/>
        </p:nvSpPr>
        <p:spPr bwMode="auto">
          <a:xfrm flipH="1" flipV="1">
            <a:off x="2971800" y="4953000"/>
            <a:ext cx="414338" cy="233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27" name="Line 71"/>
          <p:cNvSpPr>
            <a:spLocks noChangeShapeType="1"/>
          </p:cNvSpPr>
          <p:nvPr/>
        </p:nvSpPr>
        <p:spPr bwMode="auto">
          <a:xfrm flipH="1">
            <a:off x="1981200" y="4419600"/>
            <a:ext cx="1524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28" name="Freeform 72"/>
          <p:cNvSpPr>
            <a:spLocks/>
          </p:cNvSpPr>
          <p:nvPr/>
        </p:nvSpPr>
        <p:spPr bwMode="auto">
          <a:xfrm>
            <a:off x="2133600" y="4267200"/>
            <a:ext cx="609600" cy="1384300"/>
          </a:xfrm>
          <a:custGeom>
            <a:avLst/>
            <a:gdLst>
              <a:gd name="T0" fmla="*/ 0 w 384"/>
              <a:gd name="T1" fmla="*/ 2147483647 h 872"/>
              <a:gd name="T2" fmla="*/ 2147483647 w 384"/>
              <a:gd name="T3" fmla="*/ 2147483647 h 872"/>
              <a:gd name="T4" fmla="*/ 2147483647 w 384"/>
              <a:gd name="T5" fmla="*/ 2147483647 h 872"/>
              <a:gd name="T6" fmla="*/ 2147483647 w 384"/>
              <a:gd name="T7" fmla="*/ 2147483647 h 8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84" h="872">
                <a:moveTo>
                  <a:pt x="0" y="720"/>
                </a:moveTo>
                <a:cubicBezTo>
                  <a:pt x="28" y="796"/>
                  <a:pt x="56" y="872"/>
                  <a:pt x="96" y="768"/>
                </a:cubicBezTo>
                <a:cubicBezTo>
                  <a:pt x="136" y="664"/>
                  <a:pt x="192" y="192"/>
                  <a:pt x="240" y="96"/>
                </a:cubicBezTo>
                <a:cubicBezTo>
                  <a:pt x="288" y="0"/>
                  <a:pt x="336" y="96"/>
                  <a:pt x="384" y="19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30" name="Rectangle 74"/>
          <p:cNvSpPr>
            <a:spLocks noChangeArrowheads="1"/>
          </p:cNvSpPr>
          <p:nvPr/>
        </p:nvSpPr>
        <p:spPr bwMode="auto">
          <a:xfrm>
            <a:off x="6324600" y="3276600"/>
            <a:ext cx="26892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/>
              <a:t>2. </a:t>
            </a:r>
            <a:r>
              <a:rPr lang="en-US" sz="1600" i="1"/>
              <a:t>right subtree of</a:t>
            </a:r>
            <a:r>
              <a:rPr lang="en-US" sz="1600"/>
              <a:t> C </a:t>
            </a:r>
            <a:r>
              <a:rPr lang="en-US" sz="1600" i="1"/>
              <a:t>becomes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 i="1"/>
              <a:t>left subtree of</a:t>
            </a:r>
            <a:r>
              <a:rPr lang="en-US" sz="1600"/>
              <a:t> C’</a:t>
            </a:r>
            <a:r>
              <a:rPr lang="en-US" sz="1600" i="1"/>
              <a:t>s</a:t>
            </a:r>
            <a:r>
              <a:rPr lang="en-US" sz="1600"/>
              <a:t> </a:t>
            </a:r>
            <a:r>
              <a:rPr lang="en-US" sz="1600" i="1"/>
              <a:t>parent</a:t>
            </a:r>
            <a:r>
              <a:rPr lang="en-US" sz="1600"/>
              <a:t> P;</a:t>
            </a:r>
          </a:p>
        </p:txBody>
      </p:sp>
      <p:sp>
        <p:nvSpPr>
          <p:cNvPr id="70731" name="Rectangle 75"/>
          <p:cNvSpPr>
            <a:spLocks noChangeArrowheads="1"/>
          </p:cNvSpPr>
          <p:nvPr/>
        </p:nvSpPr>
        <p:spPr bwMode="auto">
          <a:xfrm>
            <a:off x="762000" y="6400800"/>
            <a:ext cx="34020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/>
              <a:t>3. </a:t>
            </a:r>
            <a:r>
              <a:rPr lang="en-US" sz="1600" i="1"/>
              <a:t>node</a:t>
            </a:r>
            <a:r>
              <a:rPr lang="en-US" sz="1600"/>
              <a:t> C </a:t>
            </a:r>
            <a:r>
              <a:rPr lang="en-US" sz="1600" i="1"/>
              <a:t>acquires</a:t>
            </a:r>
            <a:r>
              <a:rPr lang="en-US" sz="1600"/>
              <a:t> P </a:t>
            </a:r>
            <a:r>
              <a:rPr lang="en-US" sz="1600" i="1"/>
              <a:t>as its right child</a:t>
            </a:r>
            <a:r>
              <a:rPr lang="en-US" sz="1600"/>
              <a:t>;</a:t>
            </a:r>
          </a:p>
        </p:txBody>
      </p:sp>
      <p:sp>
        <p:nvSpPr>
          <p:cNvPr id="70732" name="Line 76"/>
          <p:cNvSpPr>
            <a:spLocks noChangeShapeType="1"/>
          </p:cNvSpPr>
          <p:nvPr/>
        </p:nvSpPr>
        <p:spPr bwMode="auto">
          <a:xfrm flipV="1">
            <a:off x="2362200" y="5003800"/>
            <a:ext cx="366713" cy="711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33" name="Oval 77"/>
          <p:cNvSpPr>
            <a:spLocks noChangeArrowheads="1"/>
          </p:cNvSpPr>
          <p:nvPr/>
        </p:nvSpPr>
        <p:spPr bwMode="auto">
          <a:xfrm>
            <a:off x="5638800" y="3962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34" name="Text Box 78"/>
          <p:cNvSpPr txBox="1">
            <a:spLocks noChangeArrowheads="1"/>
          </p:cNvSpPr>
          <p:nvPr/>
        </p:nvSpPr>
        <p:spPr bwMode="auto">
          <a:xfrm>
            <a:off x="5651500" y="3962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70735" name="Oval 79"/>
          <p:cNvSpPr>
            <a:spLocks noChangeArrowheads="1"/>
          </p:cNvSpPr>
          <p:nvPr/>
        </p:nvSpPr>
        <p:spPr bwMode="auto">
          <a:xfrm>
            <a:off x="6324600" y="45720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36" name="Text Box 80"/>
          <p:cNvSpPr txBox="1">
            <a:spLocks noChangeArrowheads="1"/>
          </p:cNvSpPr>
          <p:nvPr/>
        </p:nvSpPr>
        <p:spPr bwMode="auto">
          <a:xfrm>
            <a:off x="6303963" y="4572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70737" name="Line 81"/>
          <p:cNvSpPr>
            <a:spLocks noChangeShapeType="1"/>
          </p:cNvSpPr>
          <p:nvPr/>
        </p:nvSpPr>
        <p:spPr bwMode="auto">
          <a:xfrm flipV="1">
            <a:off x="5824538" y="4876800"/>
            <a:ext cx="500062" cy="236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38" name="Line 82"/>
          <p:cNvSpPr>
            <a:spLocks noChangeShapeType="1"/>
          </p:cNvSpPr>
          <p:nvPr/>
        </p:nvSpPr>
        <p:spPr bwMode="auto">
          <a:xfrm flipH="1" flipV="1">
            <a:off x="6019800" y="43434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39" name="Oval 83"/>
          <p:cNvSpPr>
            <a:spLocks noChangeArrowheads="1"/>
          </p:cNvSpPr>
          <p:nvPr/>
        </p:nvSpPr>
        <p:spPr bwMode="auto">
          <a:xfrm>
            <a:off x="7010400" y="5181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40" name="Text Box 84"/>
          <p:cNvSpPr txBox="1">
            <a:spLocks noChangeArrowheads="1"/>
          </p:cNvSpPr>
          <p:nvPr/>
        </p:nvSpPr>
        <p:spPr bwMode="auto">
          <a:xfrm>
            <a:off x="7034213" y="5181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70741" name="Line 85"/>
          <p:cNvSpPr>
            <a:spLocks noChangeShapeType="1"/>
          </p:cNvSpPr>
          <p:nvPr/>
        </p:nvSpPr>
        <p:spPr bwMode="auto">
          <a:xfrm flipH="1" flipV="1">
            <a:off x="6705600" y="49530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42" name="AutoShape 86"/>
          <p:cNvSpPr>
            <a:spLocks noChangeArrowheads="1"/>
          </p:cNvSpPr>
          <p:nvPr/>
        </p:nvSpPr>
        <p:spPr bwMode="auto">
          <a:xfrm>
            <a:off x="6253163" y="5900738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43" name="Text Box 87"/>
          <p:cNvSpPr txBox="1">
            <a:spLocks noChangeArrowheads="1"/>
          </p:cNvSpPr>
          <p:nvPr/>
        </p:nvSpPr>
        <p:spPr bwMode="auto">
          <a:xfrm>
            <a:off x="6481763" y="6053138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70744" name="AutoShape 88"/>
          <p:cNvSpPr>
            <a:spLocks noChangeArrowheads="1"/>
          </p:cNvSpPr>
          <p:nvPr/>
        </p:nvSpPr>
        <p:spPr bwMode="auto">
          <a:xfrm>
            <a:off x="7243763" y="5900738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45" name="Text Box 89"/>
          <p:cNvSpPr txBox="1">
            <a:spLocks noChangeArrowheads="1"/>
          </p:cNvSpPr>
          <p:nvPr/>
        </p:nvSpPr>
        <p:spPr bwMode="auto">
          <a:xfrm>
            <a:off x="7472363" y="6053138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70746" name="Line 90"/>
          <p:cNvSpPr>
            <a:spLocks noChangeShapeType="1"/>
          </p:cNvSpPr>
          <p:nvPr/>
        </p:nvSpPr>
        <p:spPr bwMode="auto">
          <a:xfrm flipV="1">
            <a:off x="6681788" y="5595938"/>
            <a:ext cx="409575" cy="3095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47" name="Line 91"/>
          <p:cNvSpPr>
            <a:spLocks noChangeShapeType="1"/>
          </p:cNvSpPr>
          <p:nvPr/>
        </p:nvSpPr>
        <p:spPr bwMode="auto">
          <a:xfrm flipH="1" flipV="1">
            <a:off x="7396163" y="5595938"/>
            <a:ext cx="257175" cy="3000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48" name="AutoShape 92"/>
          <p:cNvSpPr>
            <a:spLocks noChangeArrowheads="1"/>
          </p:cNvSpPr>
          <p:nvPr/>
        </p:nvSpPr>
        <p:spPr bwMode="auto">
          <a:xfrm>
            <a:off x="5410200" y="51054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749" name="Text Box 93"/>
          <p:cNvSpPr txBox="1">
            <a:spLocks noChangeArrowheads="1"/>
          </p:cNvSpPr>
          <p:nvPr/>
        </p:nvSpPr>
        <p:spPr bwMode="auto">
          <a:xfrm>
            <a:off x="5638800" y="5257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70750" name="Rectangle 94"/>
          <p:cNvSpPr>
            <a:spLocks noChangeArrowheads="1"/>
          </p:cNvSpPr>
          <p:nvPr/>
        </p:nvSpPr>
        <p:spPr bwMode="auto">
          <a:xfrm>
            <a:off x="4343400" y="52578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b="0">
                <a:latin typeface="Arial Unicode MS" pitchFamily="34" charset="-128"/>
              </a:rPr>
              <a:t>=</a:t>
            </a:r>
          </a:p>
        </p:txBody>
      </p:sp>
      <p:sp>
        <p:nvSpPr>
          <p:cNvPr id="21598" name="Freeform 95"/>
          <p:cNvSpPr>
            <a:spLocks/>
          </p:cNvSpPr>
          <p:nvPr/>
        </p:nvSpPr>
        <p:spPr bwMode="auto">
          <a:xfrm>
            <a:off x="1828800" y="2057400"/>
            <a:ext cx="533400" cy="152400"/>
          </a:xfrm>
          <a:custGeom>
            <a:avLst/>
            <a:gdLst>
              <a:gd name="T0" fmla="*/ 0 w 336"/>
              <a:gd name="T1" fmla="*/ 2147483647 h 96"/>
              <a:gd name="T2" fmla="*/ 2147483647 w 336"/>
              <a:gd name="T3" fmla="*/ 0 h 96"/>
              <a:gd name="T4" fmla="*/ 2147483647 w 336"/>
              <a:gd name="T5" fmla="*/ 2147483647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96">
                <a:moveTo>
                  <a:pt x="0" y="96"/>
                </a:moveTo>
                <a:cubicBezTo>
                  <a:pt x="68" y="48"/>
                  <a:pt x="136" y="0"/>
                  <a:pt x="192" y="0"/>
                </a:cubicBezTo>
                <a:cubicBezTo>
                  <a:pt x="248" y="0"/>
                  <a:pt x="292" y="48"/>
                  <a:pt x="336" y="96"/>
                </a:cubicBez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52" name="Rectangle 96"/>
          <p:cNvSpPr>
            <a:spLocks noChangeArrowheads="1"/>
          </p:cNvSpPr>
          <p:nvPr/>
        </p:nvSpPr>
        <p:spPr bwMode="auto">
          <a:xfrm>
            <a:off x="2990850" y="3276600"/>
            <a:ext cx="33385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/>
              <a:t>1. </a:t>
            </a:r>
            <a:r>
              <a:rPr lang="en-US" sz="1600" i="1"/>
              <a:t>grandparent</a:t>
            </a:r>
            <a:r>
              <a:rPr lang="en-US" sz="1600"/>
              <a:t> G </a:t>
            </a:r>
            <a:r>
              <a:rPr lang="en-US" sz="1600" i="1"/>
              <a:t>of child</a:t>
            </a:r>
            <a:r>
              <a:rPr lang="en-US" sz="1600"/>
              <a:t> C </a:t>
            </a:r>
            <a:r>
              <a:rPr lang="en-US" sz="1600" i="1"/>
              <a:t>becomes</a:t>
            </a:r>
            <a:r>
              <a:rPr lang="en-US" sz="1600"/>
              <a:t> </a:t>
            </a:r>
            <a:endParaRPr lang="en-US" sz="1600" i="1"/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/>
              <a:t>C</a:t>
            </a:r>
            <a:r>
              <a:rPr lang="en-US" sz="1600" i="1"/>
              <a:t>’s parent by replacing</a:t>
            </a:r>
            <a:r>
              <a:rPr lang="en-US" sz="1600"/>
              <a:t> P;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4" dur="500"/>
                                        <p:tgtEl>
                                          <p:spTgt spid="70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500"/>
                                        <p:tgtEl>
                                          <p:spTgt spid="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1" dur="500"/>
                                        <p:tgtEl>
                                          <p:spTgt spid="70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6" dur="500"/>
                                        <p:tgtEl>
                                          <p:spTgt spid="7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38" dur="500"/>
                                        <p:tgtEl>
                                          <p:spTgt spid="70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3" dur="1000"/>
                                        <p:tgtEl>
                                          <p:spTgt spid="7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76" grpId="0" animBg="1"/>
      <p:bldP spid="70677" grpId="0"/>
      <p:bldP spid="70678" grpId="0" animBg="1"/>
      <p:bldP spid="70679" grpId="0"/>
      <p:bldP spid="70680" grpId="0" animBg="1"/>
      <p:bldP spid="70681" grpId="0"/>
      <p:bldP spid="70682" grpId="0" animBg="1"/>
      <p:bldP spid="70683" grpId="0"/>
      <p:bldP spid="70684" grpId="0" animBg="1"/>
      <p:bldP spid="70685" grpId="0"/>
      <p:bldP spid="70686" grpId="0" animBg="1"/>
      <p:bldP spid="70687" grpId="0"/>
      <p:bldP spid="70688" grpId="0" animBg="1"/>
      <p:bldP spid="70689" grpId="0" animBg="1"/>
      <p:bldP spid="70690" grpId="0" animBg="1"/>
      <p:bldP spid="70691" grpId="0" animBg="1"/>
      <p:bldP spid="70692" grpId="0" animBg="1"/>
      <p:bldP spid="70693" grpId="0" animBg="1"/>
      <p:bldP spid="70694" grpId="0"/>
      <p:bldP spid="70695" grpId="0" animBg="1"/>
      <p:bldP spid="70696" grpId="0"/>
      <p:bldP spid="70697" grpId="0" animBg="1"/>
      <p:bldP spid="70698" grpId="0"/>
      <p:bldP spid="70699" grpId="0" animBg="1"/>
      <p:bldP spid="70700" grpId="0"/>
      <p:bldP spid="70701" grpId="0" animBg="1"/>
      <p:bldP spid="70702" grpId="0"/>
      <p:bldP spid="70703" grpId="0" animBg="1"/>
      <p:bldP spid="70704" grpId="0"/>
      <p:bldP spid="70705" grpId="0" animBg="1"/>
      <p:bldP spid="70706" grpId="0" animBg="1"/>
      <p:bldP spid="70707" grpId="0" animBg="1"/>
      <p:bldP spid="70707" grpId="1" animBg="1"/>
      <p:bldP spid="70708" grpId="0" animBg="1"/>
      <p:bldP spid="70709" grpId="0" animBg="1"/>
      <p:bldP spid="70710" grpId="0" animBg="1"/>
      <p:bldP spid="70711" grpId="0" animBg="1"/>
      <p:bldP spid="70711" grpId="1" animBg="1"/>
      <p:bldP spid="70712" grpId="0" animBg="1"/>
      <p:bldP spid="70713" grpId="0"/>
      <p:bldP spid="70714" grpId="0" animBg="1"/>
      <p:bldP spid="70715" grpId="0"/>
      <p:bldP spid="70716" grpId="0" animBg="1"/>
      <p:bldP spid="70717" grpId="0"/>
      <p:bldP spid="70718" grpId="0" animBg="1"/>
      <p:bldP spid="70719" grpId="0"/>
      <p:bldP spid="70720" grpId="0" animBg="1"/>
      <p:bldP spid="70721" grpId="0"/>
      <p:bldP spid="70722" grpId="0" animBg="1"/>
      <p:bldP spid="70723" grpId="0"/>
      <p:bldP spid="70724" grpId="0" animBg="1"/>
      <p:bldP spid="70725" grpId="0" animBg="1"/>
      <p:bldP spid="70725" grpId="1" animBg="1"/>
      <p:bldP spid="70726" grpId="0" animBg="1"/>
      <p:bldP spid="70727" grpId="0" animBg="1"/>
      <p:bldP spid="70728" grpId="0" animBg="1"/>
      <p:bldP spid="70730" grpId="0"/>
      <p:bldP spid="70731" grpId="0"/>
      <p:bldP spid="70732" grpId="0" animBg="1"/>
      <p:bldP spid="70733" grpId="0" animBg="1"/>
      <p:bldP spid="70734" grpId="0"/>
      <p:bldP spid="70735" grpId="0" animBg="1"/>
      <p:bldP spid="70736" grpId="0"/>
      <p:bldP spid="70737" grpId="0" animBg="1"/>
      <p:bldP spid="70738" grpId="0" animBg="1"/>
      <p:bldP spid="70739" grpId="0" animBg="1"/>
      <p:bldP spid="70740" grpId="0"/>
      <p:bldP spid="70741" grpId="0" animBg="1"/>
      <p:bldP spid="70742" grpId="0" animBg="1"/>
      <p:bldP spid="70743" grpId="0"/>
      <p:bldP spid="70744" grpId="0" animBg="1"/>
      <p:bldP spid="70745" grpId="0"/>
      <p:bldP spid="70746" grpId="0" animBg="1"/>
      <p:bldP spid="70747" grpId="0" animBg="1"/>
      <p:bldP spid="70748" grpId="0" animBg="1"/>
      <p:bldP spid="70749" grpId="0"/>
      <p:bldP spid="70750" grpId="0"/>
      <p:bldP spid="707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668338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4000"/>
              <a:t>Left rotation</a:t>
            </a:r>
          </a:p>
        </p:txBody>
      </p:sp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2590800" y="4114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22532" name="AutoShape 5"/>
          <p:cNvSpPr>
            <a:spLocks noChangeArrowheads="1"/>
          </p:cNvSpPr>
          <p:nvPr/>
        </p:nvSpPr>
        <p:spPr bwMode="auto">
          <a:xfrm>
            <a:off x="3352800" y="39624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3581400" y="4114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22534" name="AutoShape 7"/>
          <p:cNvSpPr>
            <a:spLocks noChangeArrowheads="1"/>
          </p:cNvSpPr>
          <p:nvPr/>
        </p:nvSpPr>
        <p:spPr bwMode="auto">
          <a:xfrm>
            <a:off x="1600200" y="33528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Text Box 8"/>
          <p:cNvSpPr txBox="1">
            <a:spLocks noChangeArrowheads="1"/>
          </p:cNvSpPr>
          <p:nvPr/>
        </p:nvSpPr>
        <p:spPr bwMode="auto">
          <a:xfrm>
            <a:off x="1828800" y="3505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22536" name="Oval 9"/>
          <p:cNvSpPr>
            <a:spLocks noChangeArrowheads="1"/>
          </p:cNvSpPr>
          <p:nvPr/>
        </p:nvSpPr>
        <p:spPr bwMode="auto">
          <a:xfrm>
            <a:off x="1752600" y="2133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Text Box 10"/>
          <p:cNvSpPr txBox="1">
            <a:spLocks noChangeArrowheads="1"/>
          </p:cNvSpPr>
          <p:nvPr/>
        </p:nvSpPr>
        <p:spPr bwMode="auto">
          <a:xfrm>
            <a:off x="1771650" y="2133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22538" name="Oval 11"/>
          <p:cNvSpPr>
            <a:spLocks noChangeArrowheads="1"/>
          </p:cNvSpPr>
          <p:nvPr/>
        </p:nvSpPr>
        <p:spPr bwMode="auto">
          <a:xfrm>
            <a:off x="2438400" y="2743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2463800" y="2743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22540" name="Oval 13"/>
          <p:cNvSpPr>
            <a:spLocks noChangeArrowheads="1"/>
          </p:cNvSpPr>
          <p:nvPr/>
        </p:nvSpPr>
        <p:spPr bwMode="auto">
          <a:xfrm>
            <a:off x="3116263" y="3276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Text Box 14"/>
          <p:cNvSpPr txBox="1">
            <a:spLocks noChangeArrowheads="1"/>
          </p:cNvSpPr>
          <p:nvPr/>
        </p:nvSpPr>
        <p:spPr bwMode="auto">
          <a:xfrm>
            <a:off x="3124200" y="3276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22542" name="Line 15"/>
          <p:cNvSpPr>
            <a:spLocks noChangeShapeType="1"/>
          </p:cNvSpPr>
          <p:nvPr/>
        </p:nvSpPr>
        <p:spPr bwMode="auto">
          <a:xfrm flipV="1">
            <a:off x="2776538" y="3657600"/>
            <a:ext cx="409575" cy="31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3" name="Line 16"/>
          <p:cNvSpPr>
            <a:spLocks noChangeShapeType="1"/>
          </p:cNvSpPr>
          <p:nvPr/>
        </p:nvSpPr>
        <p:spPr bwMode="auto">
          <a:xfrm flipH="1" flipV="1">
            <a:off x="3505200" y="3657600"/>
            <a:ext cx="261938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4" name="Line 17"/>
          <p:cNvSpPr>
            <a:spLocks noChangeShapeType="1"/>
          </p:cNvSpPr>
          <p:nvPr/>
        </p:nvSpPr>
        <p:spPr bwMode="auto">
          <a:xfrm flipV="1">
            <a:off x="2014538" y="3124200"/>
            <a:ext cx="500062" cy="233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5" name="Line 18"/>
          <p:cNvSpPr>
            <a:spLocks noChangeShapeType="1"/>
          </p:cNvSpPr>
          <p:nvPr/>
        </p:nvSpPr>
        <p:spPr bwMode="auto">
          <a:xfrm flipH="1" flipV="1">
            <a:off x="2819400" y="3124200"/>
            <a:ext cx="361950" cy="219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6" name="Line 19"/>
          <p:cNvSpPr>
            <a:spLocks noChangeShapeType="1"/>
          </p:cNvSpPr>
          <p:nvPr/>
        </p:nvSpPr>
        <p:spPr bwMode="auto">
          <a:xfrm flipH="1" flipV="1">
            <a:off x="2133600" y="25146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7" name="Freeform 20"/>
          <p:cNvSpPr>
            <a:spLocks/>
          </p:cNvSpPr>
          <p:nvPr/>
        </p:nvSpPr>
        <p:spPr bwMode="auto">
          <a:xfrm>
            <a:off x="2362200" y="3276600"/>
            <a:ext cx="533400" cy="152400"/>
          </a:xfrm>
          <a:custGeom>
            <a:avLst/>
            <a:gdLst>
              <a:gd name="T0" fmla="*/ 0 w 336"/>
              <a:gd name="T1" fmla="*/ 2147483647 h 96"/>
              <a:gd name="T2" fmla="*/ 2147483647 w 336"/>
              <a:gd name="T3" fmla="*/ 0 h 96"/>
              <a:gd name="T4" fmla="*/ 2147483647 w 336"/>
              <a:gd name="T5" fmla="*/ 2147483647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96">
                <a:moveTo>
                  <a:pt x="0" y="96"/>
                </a:moveTo>
                <a:cubicBezTo>
                  <a:pt x="68" y="48"/>
                  <a:pt x="136" y="0"/>
                  <a:pt x="192" y="0"/>
                </a:cubicBezTo>
                <a:cubicBezTo>
                  <a:pt x="248" y="0"/>
                  <a:pt x="292" y="48"/>
                  <a:pt x="336" y="96"/>
                </a:cubicBez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8" name="AutoShape 21"/>
          <p:cNvSpPr>
            <a:spLocks noChangeArrowheads="1"/>
          </p:cNvSpPr>
          <p:nvPr/>
        </p:nvSpPr>
        <p:spPr bwMode="auto">
          <a:xfrm>
            <a:off x="2362200" y="39624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Text Box 22"/>
          <p:cNvSpPr txBox="1">
            <a:spLocks noChangeArrowheads="1"/>
          </p:cNvSpPr>
          <p:nvPr/>
        </p:nvSpPr>
        <p:spPr bwMode="auto">
          <a:xfrm>
            <a:off x="6019800" y="4114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Y</a:t>
            </a:r>
          </a:p>
        </p:txBody>
      </p:sp>
      <p:sp>
        <p:nvSpPr>
          <p:cNvPr id="22550" name="AutoShape 23"/>
          <p:cNvSpPr>
            <a:spLocks noChangeArrowheads="1"/>
          </p:cNvSpPr>
          <p:nvPr/>
        </p:nvSpPr>
        <p:spPr bwMode="auto">
          <a:xfrm>
            <a:off x="6477000" y="33528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Text Box 24"/>
          <p:cNvSpPr txBox="1">
            <a:spLocks noChangeArrowheads="1"/>
          </p:cNvSpPr>
          <p:nvPr/>
        </p:nvSpPr>
        <p:spPr bwMode="auto">
          <a:xfrm>
            <a:off x="6705600" y="3505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Z</a:t>
            </a:r>
          </a:p>
        </p:txBody>
      </p:sp>
      <p:sp>
        <p:nvSpPr>
          <p:cNvPr id="22552" name="AutoShape 25"/>
          <p:cNvSpPr>
            <a:spLocks noChangeArrowheads="1"/>
          </p:cNvSpPr>
          <p:nvPr/>
        </p:nvSpPr>
        <p:spPr bwMode="auto">
          <a:xfrm>
            <a:off x="4876800" y="39624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3" name="Text Box 26"/>
          <p:cNvSpPr txBox="1">
            <a:spLocks noChangeArrowheads="1"/>
          </p:cNvSpPr>
          <p:nvPr/>
        </p:nvSpPr>
        <p:spPr bwMode="auto">
          <a:xfrm>
            <a:off x="5105400" y="4114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X</a:t>
            </a:r>
          </a:p>
        </p:txBody>
      </p:sp>
      <p:sp>
        <p:nvSpPr>
          <p:cNvPr id="22554" name="Oval 27"/>
          <p:cNvSpPr>
            <a:spLocks noChangeArrowheads="1"/>
          </p:cNvSpPr>
          <p:nvPr/>
        </p:nvSpPr>
        <p:spPr bwMode="auto">
          <a:xfrm>
            <a:off x="5562600" y="2133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5" name="Text Box 28"/>
          <p:cNvSpPr txBox="1">
            <a:spLocks noChangeArrowheads="1"/>
          </p:cNvSpPr>
          <p:nvPr/>
        </p:nvSpPr>
        <p:spPr bwMode="auto">
          <a:xfrm>
            <a:off x="5573713" y="2133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G</a:t>
            </a:r>
          </a:p>
        </p:txBody>
      </p:sp>
      <p:sp>
        <p:nvSpPr>
          <p:cNvPr id="22556" name="Oval 29"/>
          <p:cNvSpPr>
            <a:spLocks noChangeArrowheads="1"/>
          </p:cNvSpPr>
          <p:nvPr/>
        </p:nvSpPr>
        <p:spPr bwMode="auto">
          <a:xfrm>
            <a:off x="5562600" y="3276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7" name="Text Box 30"/>
          <p:cNvSpPr txBox="1">
            <a:spLocks noChangeArrowheads="1"/>
          </p:cNvSpPr>
          <p:nvPr/>
        </p:nvSpPr>
        <p:spPr bwMode="auto">
          <a:xfrm>
            <a:off x="5573713" y="3276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P</a:t>
            </a:r>
          </a:p>
        </p:txBody>
      </p:sp>
      <p:sp>
        <p:nvSpPr>
          <p:cNvPr id="22558" name="Oval 31"/>
          <p:cNvSpPr>
            <a:spLocks noChangeArrowheads="1"/>
          </p:cNvSpPr>
          <p:nvPr/>
        </p:nvSpPr>
        <p:spPr bwMode="auto">
          <a:xfrm>
            <a:off x="6248400" y="2743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9" name="Text Box 32"/>
          <p:cNvSpPr txBox="1">
            <a:spLocks noChangeArrowheads="1"/>
          </p:cNvSpPr>
          <p:nvPr/>
        </p:nvSpPr>
        <p:spPr bwMode="auto">
          <a:xfrm>
            <a:off x="6265863" y="2743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C</a:t>
            </a:r>
          </a:p>
        </p:txBody>
      </p:sp>
      <p:sp>
        <p:nvSpPr>
          <p:cNvPr id="22560" name="Line 33"/>
          <p:cNvSpPr>
            <a:spLocks noChangeShapeType="1"/>
          </p:cNvSpPr>
          <p:nvPr/>
        </p:nvSpPr>
        <p:spPr bwMode="auto">
          <a:xfrm flipV="1">
            <a:off x="5943600" y="3124200"/>
            <a:ext cx="3810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1" name="Line 34"/>
          <p:cNvSpPr>
            <a:spLocks noChangeShapeType="1"/>
          </p:cNvSpPr>
          <p:nvPr/>
        </p:nvSpPr>
        <p:spPr bwMode="auto">
          <a:xfrm flipH="1" flipV="1">
            <a:off x="6629400" y="3124200"/>
            <a:ext cx="2667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2" name="Line 37"/>
          <p:cNvSpPr>
            <a:spLocks noChangeShapeType="1"/>
          </p:cNvSpPr>
          <p:nvPr/>
        </p:nvSpPr>
        <p:spPr bwMode="auto">
          <a:xfrm flipH="1" flipV="1">
            <a:off x="5943600" y="25146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3" name="AutoShape 39"/>
          <p:cNvSpPr>
            <a:spLocks noChangeArrowheads="1"/>
          </p:cNvSpPr>
          <p:nvPr/>
        </p:nvSpPr>
        <p:spPr bwMode="auto">
          <a:xfrm>
            <a:off x="5791200" y="3962400"/>
            <a:ext cx="838200" cy="609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4" name="Line 40"/>
          <p:cNvSpPr>
            <a:spLocks noChangeShapeType="1"/>
          </p:cNvSpPr>
          <p:nvPr/>
        </p:nvSpPr>
        <p:spPr bwMode="auto">
          <a:xfrm flipV="1">
            <a:off x="5295900" y="3657600"/>
            <a:ext cx="342900" cy="309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5" name="Line 41"/>
          <p:cNvSpPr>
            <a:spLocks noChangeShapeType="1"/>
          </p:cNvSpPr>
          <p:nvPr/>
        </p:nvSpPr>
        <p:spPr bwMode="auto">
          <a:xfrm flipH="1" flipV="1">
            <a:off x="5943600" y="3657600"/>
            <a:ext cx="271463" cy="31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3863" y="685800"/>
            <a:ext cx="8372475" cy="862013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1" hangingPunct="1"/>
            <a:r>
              <a:rPr lang="en-US"/>
              <a:t>(max) heaps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23863" y="2424113"/>
            <a:ext cx="8378825" cy="189865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 marL="609600" indent="-609600" algn="l" eaLnBrk="1" hangingPunct="1">
              <a:buFont typeface="Wingdings" pitchFamily="2" charset="2"/>
              <a:buAutoNum type="arabicPeriod"/>
            </a:pPr>
            <a:r>
              <a:rPr lang="en-US" sz="2800">
                <a:latin typeface="Arial Unicode MS" pitchFamily="34" charset="-128"/>
              </a:rPr>
              <a:t>the value of each node is greater than or equal to the values stored in each of its children,</a:t>
            </a:r>
          </a:p>
          <a:p>
            <a:pPr marL="609600" indent="-609600" algn="l" eaLnBrk="1" hangingPunct="1">
              <a:buFont typeface="Wingdings" pitchFamily="2" charset="2"/>
              <a:buAutoNum type="arabicPeriod"/>
            </a:pPr>
            <a:r>
              <a:rPr lang="en-US" sz="2800">
                <a:latin typeface="Arial Unicode MS" pitchFamily="34" charset="-128"/>
              </a:rPr>
              <a:t>the tree is perfectly balanced and the leaves in the last level are all in the leftmost positions.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610"/>
          <p:cNvSpPr txBox="1">
            <a:spLocks noChangeArrowheads="1"/>
          </p:cNvSpPr>
          <p:nvPr/>
        </p:nvSpPr>
        <p:spPr bwMode="auto">
          <a:xfrm>
            <a:off x="4953000" y="1444625"/>
            <a:ext cx="32004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    20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10     15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7   3   7 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18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6   5</a:t>
            </a:r>
          </a:p>
        </p:txBody>
      </p:sp>
      <p:sp>
        <p:nvSpPr>
          <p:cNvPr id="35843" name="Line 611"/>
          <p:cNvSpPr>
            <a:spLocks noChangeShapeType="1"/>
          </p:cNvSpPr>
          <p:nvPr/>
        </p:nvSpPr>
        <p:spPr bwMode="auto">
          <a:xfrm flipH="1">
            <a:off x="6172200" y="1825625"/>
            <a:ext cx="3048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4" name="Line 612"/>
          <p:cNvSpPr>
            <a:spLocks noChangeShapeType="1"/>
          </p:cNvSpPr>
          <p:nvPr/>
        </p:nvSpPr>
        <p:spPr bwMode="auto">
          <a:xfrm>
            <a:off x="6858000" y="1825625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5" name="Line 613"/>
          <p:cNvSpPr>
            <a:spLocks noChangeShapeType="1"/>
          </p:cNvSpPr>
          <p:nvPr/>
        </p:nvSpPr>
        <p:spPr bwMode="auto">
          <a:xfrm flipH="1">
            <a:off x="5638800" y="2359025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6" name="Line 614"/>
          <p:cNvSpPr>
            <a:spLocks noChangeShapeType="1"/>
          </p:cNvSpPr>
          <p:nvPr/>
        </p:nvSpPr>
        <p:spPr bwMode="auto">
          <a:xfrm flipH="1">
            <a:off x="7010400" y="2359025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7" name="Line 615"/>
          <p:cNvSpPr>
            <a:spLocks noChangeShapeType="1"/>
          </p:cNvSpPr>
          <p:nvPr/>
        </p:nvSpPr>
        <p:spPr bwMode="auto">
          <a:xfrm>
            <a:off x="6019800" y="2359025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Line 616"/>
          <p:cNvSpPr>
            <a:spLocks noChangeShapeType="1"/>
          </p:cNvSpPr>
          <p:nvPr/>
        </p:nvSpPr>
        <p:spPr bwMode="auto">
          <a:xfrm>
            <a:off x="7391400" y="2359025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Line 617"/>
          <p:cNvSpPr>
            <a:spLocks noChangeShapeType="1"/>
          </p:cNvSpPr>
          <p:nvPr/>
        </p:nvSpPr>
        <p:spPr bwMode="auto">
          <a:xfrm flipH="1">
            <a:off x="5224463" y="2892425"/>
            <a:ext cx="190500" cy="268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Line 618"/>
          <p:cNvSpPr>
            <a:spLocks noChangeShapeType="1"/>
          </p:cNvSpPr>
          <p:nvPr/>
        </p:nvSpPr>
        <p:spPr bwMode="auto">
          <a:xfrm>
            <a:off x="5562600" y="2892425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Text Box 702"/>
          <p:cNvSpPr txBox="1">
            <a:spLocks noChangeArrowheads="1"/>
          </p:cNvSpPr>
          <p:nvPr/>
        </p:nvSpPr>
        <p:spPr bwMode="auto">
          <a:xfrm>
            <a:off x="1295400" y="1901825"/>
            <a:ext cx="27432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A binary tree that violates the first heap condition:</a:t>
            </a:r>
          </a:p>
        </p:txBody>
      </p:sp>
      <p:sp>
        <p:nvSpPr>
          <p:cNvPr id="35852" name="Text Box 703"/>
          <p:cNvSpPr txBox="1">
            <a:spLocks noChangeArrowheads="1"/>
          </p:cNvSpPr>
          <p:nvPr/>
        </p:nvSpPr>
        <p:spPr bwMode="auto">
          <a:xfrm>
            <a:off x="5029200" y="3978275"/>
            <a:ext cx="320040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    20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10     15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7   3   7   8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6       5</a:t>
            </a:r>
          </a:p>
        </p:txBody>
      </p:sp>
      <p:sp>
        <p:nvSpPr>
          <p:cNvPr id="35853" name="Line 704"/>
          <p:cNvSpPr>
            <a:spLocks noChangeShapeType="1"/>
          </p:cNvSpPr>
          <p:nvPr/>
        </p:nvSpPr>
        <p:spPr bwMode="auto">
          <a:xfrm flipH="1">
            <a:off x="6248400" y="4359275"/>
            <a:ext cx="3048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Line 705"/>
          <p:cNvSpPr>
            <a:spLocks noChangeShapeType="1"/>
          </p:cNvSpPr>
          <p:nvPr/>
        </p:nvSpPr>
        <p:spPr bwMode="auto">
          <a:xfrm>
            <a:off x="6934200" y="4359275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5" name="Line 706"/>
          <p:cNvSpPr>
            <a:spLocks noChangeShapeType="1"/>
          </p:cNvSpPr>
          <p:nvPr/>
        </p:nvSpPr>
        <p:spPr bwMode="auto">
          <a:xfrm flipH="1">
            <a:off x="5715000" y="4892675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6" name="Line 707"/>
          <p:cNvSpPr>
            <a:spLocks noChangeShapeType="1"/>
          </p:cNvSpPr>
          <p:nvPr/>
        </p:nvSpPr>
        <p:spPr bwMode="auto">
          <a:xfrm flipH="1">
            <a:off x="7086600" y="4892675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7" name="Line 708"/>
          <p:cNvSpPr>
            <a:spLocks noChangeShapeType="1"/>
          </p:cNvSpPr>
          <p:nvPr/>
        </p:nvSpPr>
        <p:spPr bwMode="auto">
          <a:xfrm>
            <a:off x="6096000" y="4892675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8" name="Line 709"/>
          <p:cNvSpPr>
            <a:spLocks noChangeShapeType="1"/>
          </p:cNvSpPr>
          <p:nvPr/>
        </p:nvSpPr>
        <p:spPr bwMode="auto">
          <a:xfrm>
            <a:off x="7467600" y="4892675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9" name="Line 711"/>
          <p:cNvSpPr>
            <a:spLocks noChangeShapeType="1"/>
          </p:cNvSpPr>
          <p:nvPr/>
        </p:nvSpPr>
        <p:spPr bwMode="auto">
          <a:xfrm flipH="1">
            <a:off x="6759575" y="5426075"/>
            <a:ext cx="174625" cy="3032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0" name="Text Box 712"/>
          <p:cNvSpPr txBox="1">
            <a:spLocks noChangeArrowheads="1"/>
          </p:cNvSpPr>
          <p:nvPr/>
        </p:nvSpPr>
        <p:spPr bwMode="auto">
          <a:xfrm>
            <a:off x="1308100" y="4206875"/>
            <a:ext cx="2743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A binary tree that violates the second heap condition:</a:t>
            </a:r>
          </a:p>
        </p:txBody>
      </p:sp>
      <p:sp>
        <p:nvSpPr>
          <p:cNvPr id="35861" name="Line 714"/>
          <p:cNvSpPr>
            <a:spLocks noChangeShapeType="1"/>
          </p:cNvSpPr>
          <p:nvPr/>
        </p:nvSpPr>
        <p:spPr bwMode="auto">
          <a:xfrm flipH="1">
            <a:off x="5302250" y="5426075"/>
            <a:ext cx="188913" cy="268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2" name="Rectangle 715"/>
          <p:cNvSpPr>
            <a:spLocks noChangeArrowheads="1"/>
          </p:cNvSpPr>
          <p:nvPr/>
        </p:nvSpPr>
        <p:spPr bwMode="auto">
          <a:xfrm>
            <a:off x="615950" y="395288"/>
            <a:ext cx="7772400" cy="6905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3600" b="0">
                <a:solidFill>
                  <a:schemeClr val="accent2"/>
                </a:solidFill>
              </a:rPr>
              <a:t>Heaps: counterexamples</a:t>
            </a:r>
          </a:p>
        </p:txBody>
      </p:sp>
      <p:sp>
        <p:nvSpPr>
          <p:cNvPr id="35863" name="Oval 717"/>
          <p:cNvSpPr>
            <a:spLocks noChangeArrowheads="1"/>
          </p:cNvSpPr>
          <p:nvPr/>
        </p:nvSpPr>
        <p:spPr bwMode="auto">
          <a:xfrm rot="2214487">
            <a:off x="6550025" y="4946650"/>
            <a:ext cx="576263" cy="122555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668338"/>
            <a:ext cx="3124200" cy="609600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600"/>
              <a:t>heap</a:t>
            </a: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4802188" y="663575"/>
            <a:ext cx="3763962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3600" b="0">
                <a:solidFill>
                  <a:schemeClr val="accent2"/>
                </a:solidFill>
              </a:rPr>
              <a:t>binary search tree</a:t>
            </a:r>
          </a:p>
        </p:txBody>
      </p:sp>
      <p:sp>
        <p:nvSpPr>
          <p:cNvPr id="36868" name="AutoShape 5"/>
          <p:cNvSpPr>
            <a:spLocks noChangeArrowheads="1"/>
          </p:cNvSpPr>
          <p:nvPr/>
        </p:nvSpPr>
        <p:spPr bwMode="auto">
          <a:xfrm>
            <a:off x="685800" y="3124200"/>
            <a:ext cx="1600200" cy="12192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9" name="Oval 6"/>
          <p:cNvSpPr>
            <a:spLocks noChangeArrowheads="1"/>
          </p:cNvSpPr>
          <p:nvPr/>
        </p:nvSpPr>
        <p:spPr bwMode="auto">
          <a:xfrm>
            <a:off x="1998663" y="2166938"/>
            <a:ext cx="685800" cy="685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2074863" y="2243138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el</a:t>
            </a:r>
          </a:p>
        </p:txBody>
      </p:sp>
      <p:sp>
        <p:nvSpPr>
          <p:cNvPr id="36871" name="Text Box 8"/>
          <p:cNvSpPr txBox="1">
            <a:spLocks noChangeArrowheads="1"/>
          </p:cNvSpPr>
          <p:nvPr/>
        </p:nvSpPr>
        <p:spPr bwMode="auto">
          <a:xfrm>
            <a:off x="1081088" y="3810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≤ </a:t>
            </a:r>
            <a:r>
              <a:rPr lang="en-US" sz="2400" b="0">
                <a:latin typeface="Arial Unicode MS" pitchFamily="34" charset="-128"/>
              </a:rPr>
              <a:t>el</a:t>
            </a:r>
          </a:p>
        </p:txBody>
      </p:sp>
      <p:sp>
        <p:nvSpPr>
          <p:cNvPr id="36872" name="AutoShape 9"/>
          <p:cNvSpPr>
            <a:spLocks noChangeArrowheads="1"/>
          </p:cNvSpPr>
          <p:nvPr/>
        </p:nvSpPr>
        <p:spPr bwMode="auto">
          <a:xfrm>
            <a:off x="2514600" y="3124200"/>
            <a:ext cx="1600200" cy="12192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Text Box 10"/>
          <p:cNvSpPr txBox="1">
            <a:spLocks noChangeArrowheads="1"/>
          </p:cNvSpPr>
          <p:nvPr/>
        </p:nvSpPr>
        <p:spPr bwMode="auto">
          <a:xfrm>
            <a:off x="2909888" y="3810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≤ </a:t>
            </a:r>
            <a:r>
              <a:rPr lang="en-US" sz="2400" b="0">
                <a:latin typeface="Arial Unicode MS" pitchFamily="34" charset="-128"/>
              </a:rPr>
              <a:t>el</a:t>
            </a:r>
          </a:p>
        </p:txBody>
      </p:sp>
      <p:sp>
        <p:nvSpPr>
          <p:cNvPr id="36874" name="Line 12"/>
          <p:cNvSpPr>
            <a:spLocks noChangeShapeType="1"/>
          </p:cNvSpPr>
          <p:nvPr/>
        </p:nvSpPr>
        <p:spPr bwMode="auto">
          <a:xfrm flipV="1">
            <a:off x="1500188" y="2698750"/>
            <a:ext cx="536575" cy="422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Line 13"/>
          <p:cNvSpPr>
            <a:spLocks noChangeShapeType="1"/>
          </p:cNvSpPr>
          <p:nvPr/>
        </p:nvSpPr>
        <p:spPr bwMode="auto">
          <a:xfrm flipH="1" flipV="1">
            <a:off x="2651125" y="2698750"/>
            <a:ext cx="692150" cy="422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AutoShape 14"/>
          <p:cNvSpPr>
            <a:spLocks noChangeArrowheads="1"/>
          </p:cNvSpPr>
          <p:nvPr/>
        </p:nvSpPr>
        <p:spPr bwMode="auto">
          <a:xfrm>
            <a:off x="5035550" y="3127375"/>
            <a:ext cx="1600200" cy="12192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7" name="Oval 15"/>
          <p:cNvSpPr>
            <a:spLocks noChangeArrowheads="1"/>
          </p:cNvSpPr>
          <p:nvPr/>
        </p:nvSpPr>
        <p:spPr bwMode="auto">
          <a:xfrm>
            <a:off x="6348413" y="2170113"/>
            <a:ext cx="685800" cy="685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8" name="Text Box 16"/>
          <p:cNvSpPr txBox="1">
            <a:spLocks noChangeArrowheads="1"/>
          </p:cNvSpPr>
          <p:nvPr/>
        </p:nvSpPr>
        <p:spPr bwMode="auto">
          <a:xfrm>
            <a:off x="6424613" y="2246313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</a:rPr>
              <a:t>el</a:t>
            </a:r>
          </a:p>
        </p:txBody>
      </p:sp>
      <p:sp>
        <p:nvSpPr>
          <p:cNvPr id="36879" name="Text Box 17"/>
          <p:cNvSpPr txBox="1">
            <a:spLocks noChangeArrowheads="1"/>
          </p:cNvSpPr>
          <p:nvPr/>
        </p:nvSpPr>
        <p:spPr bwMode="auto">
          <a:xfrm>
            <a:off x="5430838" y="3813175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&lt; </a:t>
            </a:r>
            <a:r>
              <a:rPr lang="en-US" sz="2400" b="0">
                <a:latin typeface="Arial Unicode MS" pitchFamily="34" charset="-128"/>
              </a:rPr>
              <a:t>el</a:t>
            </a:r>
          </a:p>
        </p:txBody>
      </p:sp>
      <p:sp>
        <p:nvSpPr>
          <p:cNvPr id="36880" name="AutoShape 18"/>
          <p:cNvSpPr>
            <a:spLocks noChangeArrowheads="1"/>
          </p:cNvSpPr>
          <p:nvPr/>
        </p:nvSpPr>
        <p:spPr bwMode="auto">
          <a:xfrm>
            <a:off x="6864350" y="3127375"/>
            <a:ext cx="1600200" cy="12192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1" name="Text Box 19"/>
          <p:cNvSpPr txBox="1">
            <a:spLocks noChangeArrowheads="1"/>
          </p:cNvSpPr>
          <p:nvPr/>
        </p:nvSpPr>
        <p:spPr bwMode="auto">
          <a:xfrm>
            <a:off x="7259638" y="3813175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≥ </a:t>
            </a:r>
            <a:r>
              <a:rPr lang="en-US" sz="2400" b="0">
                <a:latin typeface="Arial Unicode MS" pitchFamily="34" charset="-128"/>
              </a:rPr>
              <a:t>el</a:t>
            </a:r>
          </a:p>
        </p:txBody>
      </p:sp>
      <p:sp>
        <p:nvSpPr>
          <p:cNvPr id="36882" name="Line 20"/>
          <p:cNvSpPr>
            <a:spLocks noChangeShapeType="1"/>
          </p:cNvSpPr>
          <p:nvPr/>
        </p:nvSpPr>
        <p:spPr bwMode="auto">
          <a:xfrm flipV="1">
            <a:off x="5849938" y="2701925"/>
            <a:ext cx="536575" cy="422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Line 21"/>
          <p:cNvSpPr>
            <a:spLocks noChangeShapeType="1"/>
          </p:cNvSpPr>
          <p:nvPr/>
        </p:nvSpPr>
        <p:spPr bwMode="auto">
          <a:xfrm flipH="1" flipV="1">
            <a:off x="7000875" y="2701925"/>
            <a:ext cx="692150" cy="422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695" name="Group 207"/>
          <p:cNvGraphicFramePr>
            <a:graphicFrameLocks noGrp="1"/>
          </p:cNvGraphicFramePr>
          <p:nvPr/>
        </p:nvGraphicFramePr>
        <p:xfrm>
          <a:off x="1295400" y="4953000"/>
          <a:ext cx="6248400" cy="533400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559" name="Freeform 71"/>
          <p:cNvSpPr>
            <a:spLocks/>
          </p:cNvSpPr>
          <p:nvPr/>
        </p:nvSpPr>
        <p:spPr bwMode="auto">
          <a:xfrm>
            <a:off x="1600200" y="5486400"/>
            <a:ext cx="685800" cy="304800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192">
                <a:moveTo>
                  <a:pt x="0" y="0"/>
                </a:moveTo>
                <a:cubicBezTo>
                  <a:pt x="60" y="96"/>
                  <a:pt x="120" y="192"/>
                  <a:pt x="192" y="192"/>
                </a:cubicBezTo>
                <a:cubicBezTo>
                  <a:pt x="264" y="192"/>
                  <a:pt x="348" y="96"/>
                  <a:pt x="43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0" name="Freeform 72"/>
          <p:cNvSpPr>
            <a:spLocks/>
          </p:cNvSpPr>
          <p:nvPr/>
        </p:nvSpPr>
        <p:spPr bwMode="auto">
          <a:xfrm>
            <a:off x="1600200" y="5486400"/>
            <a:ext cx="1295400" cy="609600"/>
          </a:xfrm>
          <a:custGeom>
            <a:avLst/>
            <a:gdLst>
              <a:gd name="T0" fmla="*/ 0 w 816"/>
              <a:gd name="T1" fmla="*/ 0 h 384"/>
              <a:gd name="T2" fmla="*/ 2147483647 w 816"/>
              <a:gd name="T3" fmla="*/ 2147483647 h 384"/>
              <a:gd name="T4" fmla="*/ 2147483647 w 816"/>
              <a:gd name="T5" fmla="*/ 0 h 3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16" h="384">
                <a:moveTo>
                  <a:pt x="0" y="0"/>
                </a:moveTo>
                <a:cubicBezTo>
                  <a:pt x="148" y="192"/>
                  <a:pt x="296" y="384"/>
                  <a:pt x="432" y="384"/>
                </a:cubicBezTo>
                <a:cubicBezTo>
                  <a:pt x="568" y="384"/>
                  <a:pt x="692" y="192"/>
                  <a:pt x="816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1" name="Freeform 73"/>
          <p:cNvSpPr>
            <a:spLocks/>
          </p:cNvSpPr>
          <p:nvPr/>
        </p:nvSpPr>
        <p:spPr bwMode="auto">
          <a:xfrm>
            <a:off x="2286000" y="5486400"/>
            <a:ext cx="1219200" cy="609600"/>
          </a:xfrm>
          <a:custGeom>
            <a:avLst/>
            <a:gdLst>
              <a:gd name="T0" fmla="*/ 0 w 768"/>
              <a:gd name="T1" fmla="*/ 0 h 384"/>
              <a:gd name="T2" fmla="*/ 2147483647 w 768"/>
              <a:gd name="T3" fmla="*/ 2147483647 h 384"/>
              <a:gd name="T4" fmla="*/ 2147483647 w 768"/>
              <a:gd name="T5" fmla="*/ 0 h 3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8" h="384">
                <a:moveTo>
                  <a:pt x="0" y="0"/>
                </a:moveTo>
                <a:cubicBezTo>
                  <a:pt x="128" y="192"/>
                  <a:pt x="256" y="384"/>
                  <a:pt x="384" y="384"/>
                </a:cubicBezTo>
                <a:cubicBezTo>
                  <a:pt x="512" y="384"/>
                  <a:pt x="640" y="192"/>
                  <a:pt x="768" y="0"/>
                </a:cubicBezTo>
              </a:path>
            </a:pathLst>
          </a:custGeom>
          <a:noFill/>
          <a:ln w="19050" cap="flat" cmpd="sng">
            <a:solidFill>
              <a:srgbClr val="3366FF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2" name="Freeform 74"/>
          <p:cNvSpPr>
            <a:spLocks/>
          </p:cNvSpPr>
          <p:nvPr/>
        </p:nvSpPr>
        <p:spPr bwMode="auto">
          <a:xfrm>
            <a:off x="2286000" y="5486400"/>
            <a:ext cx="1828800" cy="609600"/>
          </a:xfrm>
          <a:custGeom>
            <a:avLst/>
            <a:gdLst>
              <a:gd name="T0" fmla="*/ 0 w 1152"/>
              <a:gd name="T1" fmla="*/ 0 h 384"/>
              <a:gd name="T2" fmla="*/ 2147483647 w 1152"/>
              <a:gd name="T3" fmla="*/ 2147483647 h 384"/>
              <a:gd name="T4" fmla="*/ 2147483647 w 1152"/>
              <a:gd name="T5" fmla="*/ 0 h 3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52" h="384">
                <a:moveTo>
                  <a:pt x="0" y="0"/>
                </a:moveTo>
                <a:cubicBezTo>
                  <a:pt x="168" y="192"/>
                  <a:pt x="336" y="384"/>
                  <a:pt x="528" y="384"/>
                </a:cubicBezTo>
                <a:cubicBezTo>
                  <a:pt x="720" y="384"/>
                  <a:pt x="936" y="192"/>
                  <a:pt x="1152" y="0"/>
                </a:cubicBezTo>
              </a:path>
            </a:pathLst>
          </a:custGeom>
          <a:noFill/>
          <a:ln w="19050" cap="flat" cmpd="sng">
            <a:solidFill>
              <a:srgbClr val="3366FF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3" name="Freeform 75"/>
          <p:cNvSpPr>
            <a:spLocks/>
          </p:cNvSpPr>
          <p:nvPr/>
        </p:nvSpPr>
        <p:spPr bwMode="auto">
          <a:xfrm>
            <a:off x="2895600" y="5486400"/>
            <a:ext cx="1828800" cy="609600"/>
          </a:xfrm>
          <a:custGeom>
            <a:avLst/>
            <a:gdLst>
              <a:gd name="T0" fmla="*/ 0 w 1152"/>
              <a:gd name="T1" fmla="*/ 0 h 384"/>
              <a:gd name="T2" fmla="*/ 2147483647 w 1152"/>
              <a:gd name="T3" fmla="*/ 2147483647 h 384"/>
              <a:gd name="T4" fmla="*/ 2147483647 w 1152"/>
              <a:gd name="T5" fmla="*/ 0 h 3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52" h="384">
                <a:moveTo>
                  <a:pt x="0" y="0"/>
                </a:moveTo>
                <a:cubicBezTo>
                  <a:pt x="192" y="192"/>
                  <a:pt x="384" y="384"/>
                  <a:pt x="576" y="384"/>
                </a:cubicBezTo>
                <a:cubicBezTo>
                  <a:pt x="768" y="384"/>
                  <a:pt x="960" y="192"/>
                  <a:pt x="1152" y="0"/>
                </a:cubicBezTo>
              </a:path>
            </a:pathLst>
          </a:custGeom>
          <a:noFill/>
          <a:ln w="19050" cap="flat" cmpd="sng">
            <a:solidFill>
              <a:srgbClr val="00FF00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4" name="Freeform 76"/>
          <p:cNvSpPr>
            <a:spLocks/>
          </p:cNvSpPr>
          <p:nvPr/>
        </p:nvSpPr>
        <p:spPr bwMode="auto">
          <a:xfrm>
            <a:off x="2895600" y="5486400"/>
            <a:ext cx="2438400" cy="685800"/>
          </a:xfrm>
          <a:custGeom>
            <a:avLst/>
            <a:gdLst>
              <a:gd name="T0" fmla="*/ 0 w 1536"/>
              <a:gd name="T1" fmla="*/ 0 h 432"/>
              <a:gd name="T2" fmla="*/ 2147483647 w 1536"/>
              <a:gd name="T3" fmla="*/ 2147483647 h 432"/>
              <a:gd name="T4" fmla="*/ 2147483647 w 1536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36" h="432">
                <a:moveTo>
                  <a:pt x="0" y="0"/>
                </a:moveTo>
                <a:cubicBezTo>
                  <a:pt x="352" y="216"/>
                  <a:pt x="704" y="432"/>
                  <a:pt x="960" y="432"/>
                </a:cubicBezTo>
                <a:cubicBezTo>
                  <a:pt x="1216" y="432"/>
                  <a:pt x="1376" y="216"/>
                  <a:pt x="1536" y="0"/>
                </a:cubicBezTo>
              </a:path>
            </a:pathLst>
          </a:custGeom>
          <a:noFill/>
          <a:ln w="19050" cap="flat" cmpd="sng">
            <a:solidFill>
              <a:srgbClr val="00FF00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5" name="Freeform 77"/>
          <p:cNvSpPr>
            <a:spLocks/>
          </p:cNvSpPr>
          <p:nvPr/>
        </p:nvSpPr>
        <p:spPr bwMode="auto">
          <a:xfrm>
            <a:off x="3505200" y="5486400"/>
            <a:ext cx="2438400" cy="685800"/>
          </a:xfrm>
          <a:custGeom>
            <a:avLst/>
            <a:gdLst>
              <a:gd name="T0" fmla="*/ 0 w 1536"/>
              <a:gd name="T1" fmla="*/ 0 h 432"/>
              <a:gd name="T2" fmla="*/ 2147483647 w 1536"/>
              <a:gd name="T3" fmla="*/ 2147483647 h 432"/>
              <a:gd name="T4" fmla="*/ 2147483647 w 1536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36" h="432">
                <a:moveTo>
                  <a:pt x="0" y="0"/>
                </a:moveTo>
                <a:cubicBezTo>
                  <a:pt x="280" y="216"/>
                  <a:pt x="560" y="432"/>
                  <a:pt x="816" y="432"/>
                </a:cubicBezTo>
                <a:cubicBezTo>
                  <a:pt x="1072" y="432"/>
                  <a:pt x="1304" y="216"/>
                  <a:pt x="1536" y="0"/>
                </a:cubicBez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6" name="Freeform 78"/>
          <p:cNvSpPr>
            <a:spLocks/>
          </p:cNvSpPr>
          <p:nvPr/>
        </p:nvSpPr>
        <p:spPr bwMode="auto">
          <a:xfrm>
            <a:off x="3505200" y="5486400"/>
            <a:ext cx="3048000" cy="685800"/>
          </a:xfrm>
          <a:custGeom>
            <a:avLst/>
            <a:gdLst>
              <a:gd name="T0" fmla="*/ 0 w 1920"/>
              <a:gd name="T1" fmla="*/ 0 h 432"/>
              <a:gd name="T2" fmla="*/ 2147483647 w 1920"/>
              <a:gd name="T3" fmla="*/ 2147483647 h 432"/>
              <a:gd name="T4" fmla="*/ 2147483647 w 1920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0" h="432">
                <a:moveTo>
                  <a:pt x="0" y="0"/>
                </a:moveTo>
                <a:cubicBezTo>
                  <a:pt x="320" y="216"/>
                  <a:pt x="640" y="432"/>
                  <a:pt x="960" y="432"/>
                </a:cubicBezTo>
                <a:cubicBezTo>
                  <a:pt x="1280" y="432"/>
                  <a:pt x="1600" y="216"/>
                  <a:pt x="1920" y="0"/>
                </a:cubicBezTo>
              </a:path>
            </a:pathLst>
          </a:cu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3567" name="Group 79"/>
          <p:cNvGraphicFramePr>
            <a:graphicFrameLocks noGrp="1"/>
          </p:cNvGraphicFramePr>
          <p:nvPr/>
        </p:nvGraphicFramePr>
        <p:xfrm>
          <a:off x="1295400" y="4419600"/>
          <a:ext cx="6248400" cy="533400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32" name="Text Box 114"/>
          <p:cNvSpPr txBox="1">
            <a:spLocks noChangeArrowheads="1"/>
          </p:cNvSpPr>
          <p:nvPr/>
        </p:nvSpPr>
        <p:spPr bwMode="auto">
          <a:xfrm>
            <a:off x="762000" y="914400"/>
            <a:ext cx="38862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    </a:t>
            </a:r>
            <a:r>
              <a:rPr lang="en-US">
                <a:latin typeface="Courier New" pitchFamily="49" charset="0"/>
              </a:rPr>
              <a:t>20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>
                <a:latin typeface="Courier New" pitchFamily="49" charset="0"/>
              </a:rPr>
              <a:t>   10     15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>
                <a:latin typeface="Courier New" pitchFamily="49" charset="0"/>
              </a:rPr>
              <a:t>  7  3   7  10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>
                <a:latin typeface="Courier New" pitchFamily="49" charset="0"/>
              </a:rPr>
              <a:t> 6 5</a:t>
            </a:r>
          </a:p>
        </p:txBody>
      </p:sp>
      <p:sp>
        <p:nvSpPr>
          <p:cNvPr id="37933" name="Line 115"/>
          <p:cNvSpPr>
            <a:spLocks noChangeShapeType="1"/>
          </p:cNvSpPr>
          <p:nvPr/>
        </p:nvSpPr>
        <p:spPr bwMode="auto">
          <a:xfrm flipH="1">
            <a:off x="1905000" y="1295400"/>
            <a:ext cx="446088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4" name="Line 116"/>
          <p:cNvSpPr>
            <a:spLocks noChangeShapeType="1"/>
          </p:cNvSpPr>
          <p:nvPr/>
        </p:nvSpPr>
        <p:spPr bwMode="auto">
          <a:xfrm>
            <a:off x="2667000" y="1295400"/>
            <a:ext cx="4572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5" name="Line 117"/>
          <p:cNvSpPr>
            <a:spLocks noChangeShapeType="1"/>
          </p:cNvSpPr>
          <p:nvPr/>
        </p:nvSpPr>
        <p:spPr bwMode="auto">
          <a:xfrm flipH="1">
            <a:off x="1447800" y="1981200"/>
            <a:ext cx="152400" cy="3063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6" name="Line 118"/>
          <p:cNvSpPr>
            <a:spLocks noChangeShapeType="1"/>
          </p:cNvSpPr>
          <p:nvPr/>
        </p:nvSpPr>
        <p:spPr bwMode="auto">
          <a:xfrm flipH="1">
            <a:off x="2971800" y="1979613"/>
            <a:ext cx="152400" cy="306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7" name="Line 119"/>
          <p:cNvSpPr>
            <a:spLocks noChangeShapeType="1"/>
          </p:cNvSpPr>
          <p:nvPr/>
        </p:nvSpPr>
        <p:spPr bwMode="auto">
          <a:xfrm>
            <a:off x="1828800" y="1981200"/>
            <a:ext cx="185738" cy="3063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8" name="Line 120"/>
          <p:cNvSpPr>
            <a:spLocks noChangeShapeType="1"/>
          </p:cNvSpPr>
          <p:nvPr/>
        </p:nvSpPr>
        <p:spPr bwMode="auto">
          <a:xfrm>
            <a:off x="3379788" y="1979613"/>
            <a:ext cx="125412" cy="306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9" name="Line 121"/>
          <p:cNvSpPr>
            <a:spLocks noChangeShapeType="1"/>
          </p:cNvSpPr>
          <p:nvPr/>
        </p:nvSpPr>
        <p:spPr bwMode="auto">
          <a:xfrm flipH="1">
            <a:off x="1219200" y="2590800"/>
            <a:ext cx="109538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0" name="Line 122"/>
          <p:cNvSpPr>
            <a:spLocks noChangeShapeType="1"/>
          </p:cNvSpPr>
          <p:nvPr/>
        </p:nvSpPr>
        <p:spPr bwMode="auto">
          <a:xfrm>
            <a:off x="1474788" y="2590800"/>
            <a:ext cx="125412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3631" name="Group 143"/>
          <p:cNvGraphicFramePr>
            <a:graphicFrameLocks noGrp="1"/>
          </p:cNvGraphicFramePr>
          <p:nvPr/>
        </p:nvGraphicFramePr>
        <p:xfrm>
          <a:off x="4800600" y="304800"/>
          <a:ext cx="3810000" cy="129540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parent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left child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right child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645" name="Group 157"/>
          <p:cNvGraphicFramePr>
            <a:graphicFrameLocks noGrp="1"/>
          </p:cNvGraphicFramePr>
          <p:nvPr/>
        </p:nvGraphicFramePr>
        <p:xfrm>
          <a:off x="4800600" y="1600200"/>
          <a:ext cx="3810000" cy="53340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655" name="Group 167"/>
          <p:cNvGraphicFramePr>
            <a:graphicFrameLocks noGrp="1"/>
          </p:cNvGraphicFramePr>
          <p:nvPr/>
        </p:nvGraphicFramePr>
        <p:xfrm>
          <a:off x="4800600" y="2133600"/>
          <a:ext cx="3810000" cy="52705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665" name="Group 177"/>
          <p:cNvGraphicFramePr>
            <a:graphicFrameLocks noGrp="1"/>
          </p:cNvGraphicFramePr>
          <p:nvPr/>
        </p:nvGraphicFramePr>
        <p:xfrm>
          <a:off x="4800600" y="2667000"/>
          <a:ext cx="3810000" cy="528638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675" name="Group 187"/>
          <p:cNvGraphicFramePr>
            <a:graphicFrameLocks noGrp="1"/>
          </p:cNvGraphicFramePr>
          <p:nvPr/>
        </p:nvGraphicFramePr>
        <p:xfrm>
          <a:off x="4800600" y="3200400"/>
          <a:ext cx="3810000" cy="52705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….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685" name="Group 197"/>
          <p:cNvGraphicFramePr>
            <a:graphicFrameLocks noGrp="1"/>
          </p:cNvGraphicFramePr>
          <p:nvPr/>
        </p:nvGraphicFramePr>
        <p:xfrm>
          <a:off x="4800600" y="3733800"/>
          <a:ext cx="3810000" cy="52705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696" name="Text Box 208"/>
          <p:cNvSpPr txBox="1">
            <a:spLocks noChangeArrowheads="1"/>
          </p:cNvSpPr>
          <p:nvPr/>
        </p:nvSpPr>
        <p:spPr bwMode="auto">
          <a:xfrm>
            <a:off x="6261100" y="3775075"/>
            <a:ext cx="1114425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0">
                <a:latin typeface="Arial Unicode MS" pitchFamily="34" charset="-128"/>
              </a:rPr>
              <a:t>2</a:t>
            </a:r>
            <a:r>
              <a:rPr lang="en-US" sz="2400" b="0">
                <a:cs typeface="Times New Roman" pitchFamily="18" charset="0"/>
              </a:rPr>
              <a:t>∙</a:t>
            </a:r>
            <a:r>
              <a:rPr lang="en-US" sz="2400" b="0" i="1">
                <a:latin typeface="Arial Unicode MS" pitchFamily="34" charset="-128"/>
              </a:rPr>
              <a:t>i </a:t>
            </a:r>
            <a:r>
              <a:rPr lang="en-US" sz="2400" b="0">
                <a:latin typeface="Arial Unicode MS" pitchFamily="34" charset="-128"/>
              </a:rPr>
              <a:t>+1</a:t>
            </a:r>
          </a:p>
        </p:txBody>
      </p:sp>
      <p:sp>
        <p:nvSpPr>
          <p:cNvPr id="63697" name="Text Box 209"/>
          <p:cNvSpPr txBox="1">
            <a:spLocks noChangeArrowheads="1"/>
          </p:cNvSpPr>
          <p:nvPr/>
        </p:nvSpPr>
        <p:spPr bwMode="auto">
          <a:xfrm>
            <a:off x="7527925" y="3775075"/>
            <a:ext cx="1114425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0">
                <a:latin typeface="Arial Unicode MS" pitchFamily="34" charset="-128"/>
              </a:rPr>
              <a:t>2</a:t>
            </a:r>
            <a:r>
              <a:rPr lang="en-US" sz="2400" b="0">
                <a:cs typeface="Times New Roman" pitchFamily="18" charset="0"/>
              </a:rPr>
              <a:t>∙</a:t>
            </a:r>
            <a:r>
              <a:rPr lang="en-US" sz="2400" b="0" i="1">
                <a:latin typeface="Arial Unicode MS" pitchFamily="34" charset="-128"/>
              </a:rPr>
              <a:t>i </a:t>
            </a:r>
            <a:r>
              <a:rPr lang="en-US" sz="2400" b="0">
                <a:latin typeface="Arial Unicode MS" pitchFamily="34" charset="-128"/>
              </a:rPr>
              <a:t>+2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59" grpId="0" animBg="1"/>
      <p:bldP spid="63560" grpId="0" animBg="1"/>
      <p:bldP spid="63561" grpId="0" animBg="1"/>
      <p:bldP spid="63562" grpId="0" animBg="1"/>
      <p:bldP spid="63563" grpId="0" animBg="1"/>
      <p:bldP spid="63564" grpId="0" animBg="1"/>
      <p:bldP spid="63565" grpId="0" animBg="1"/>
      <p:bldP spid="63566" grpId="0" animBg="1"/>
      <p:bldP spid="63696" grpId="0"/>
      <p:bldP spid="6369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77850" y="381000"/>
            <a:ext cx="7912100" cy="70485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1" hangingPunct="1"/>
            <a:r>
              <a:rPr lang="en-US" sz="3600"/>
              <a:t>Heap as a priority queue: enqueuing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1650" y="1930400"/>
            <a:ext cx="8001000" cy="20701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>
                <a:latin typeface="Courier New" pitchFamily="49" charset="0"/>
              </a:rPr>
              <a:t>heapEnqueue(el)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 </a:t>
            </a:r>
            <a:r>
              <a:rPr lang="en-US" sz="2800" i="1"/>
              <a:t>put</a:t>
            </a:r>
            <a:r>
              <a:rPr lang="en-US" sz="2800"/>
              <a:t> </a:t>
            </a:r>
            <a:r>
              <a:rPr lang="en-US" sz="2800">
                <a:latin typeface="Courier New" pitchFamily="49" charset="0"/>
              </a:rPr>
              <a:t>el</a:t>
            </a:r>
            <a:r>
              <a:rPr lang="en-US" sz="2800"/>
              <a:t> </a:t>
            </a:r>
            <a:r>
              <a:rPr lang="en-US" sz="2800" i="1"/>
              <a:t>at the end of heap</a:t>
            </a:r>
            <a:r>
              <a:rPr lang="en-US" sz="280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 </a:t>
            </a:r>
            <a:r>
              <a:rPr lang="en-US" sz="2800">
                <a:latin typeface="Courier New" pitchFamily="49" charset="0"/>
              </a:rPr>
              <a:t>while</a:t>
            </a:r>
            <a:r>
              <a:rPr lang="en-US" sz="2800"/>
              <a:t> </a:t>
            </a:r>
            <a:r>
              <a:rPr lang="en-US" sz="2800">
                <a:latin typeface="Courier New" pitchFamily="49" charset="0"/>
              </a:rPr>
              <a:t>el</a:t>
            </a:r>
            <a:r>
              <a:rPr lang="en-US" sz="2800"/>
              <a:t> </a:t>
            </a:r>
            <a:r>
              <a:rPr lang="en-US" sz="2800" i="1"/>
              <a:t> is not in the root and</a:t>
            </a:r>
            <a:r>
              <a:rPr lang="en-US" sz="2800"/>
              <a:t> </a:t>
            </a:r>
            <a:r>
              <a:rPr lang="en-US" sz="2800">
                <a:latin typeface="Courier New" pitchFamily="49" charset="0"/>
              </a:rPr>
              <a:t>el</a:t>
            </a:r>
            <a:r>
              <a:rPr lang="en-US" sz="2800"/>
              <a:t> &gt; </a:t>
            </a:r>
            <a:r>
              <a:rPr lang="en-US" sz="2800" i="1"/>
              <a:t>parent</a:t>
            </a:r>
            <a:r>
              <a:rPr lang="en-US" sz="2800"/>
              <a:t>(</a:t>
            </a:r>
            <a:r>
              <a:rPr lang="en-US" sz="2800">
                <a:latin typeface="Courier New" pitchFamily="49" charset="0"/>
              </a:rPr>
              <a:t>el</a:t>
            </a:r>
            <a:r>
              <a:rPr lang="en-US" sz="280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     </a:t>
            </a:r>
            <a:r>
              <a:rPr lang="en-US" sz="2800" i="1"/>
              <a:t>swap</a:t>
            </a:r>
            <a:r>
              <a:rPr lang="en-US" sz="2800"/>
              <a:t> </a:t>
            </a:r>
            <a:r>
              <a:rPr lang="en-US" sz="2800">
                <a:latin typeface="Courier New" pitchFamily="49" charset="0"/>
              </a:rPr>
              <a:t>el</a:t>
            </a:r>
            <a:r>
              <a:rPr lang="en-US" sz="2800"/>
              <a:t> </a:t>
            </a:r>
            <a:r>
              <a:rPr lang="en-US" sz="2800" i="1"/>
              <a:t>with its parent</a:t>
            </a:r>
            <a:r>
              <a:rPr lang="en-US" sz="2800">
                <a:latin typeface="Courier New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ChangeArrowheads="1"/>
          </p:cNvSpPr>
          <p:nvPr/>
        </p:nvSpPr>
        <p:spPr bwMode="auto">
          <a:xfrm>
            <a:off x="838200" y="125413"/>
            <a:ext cx="7543800" cy="654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3600" b="0">
                <a:solidFill>
                  <a:schemeClr val="accent2"/>
                </a:solidFill>
              </a:rPr>
              <a:t>Series of enqueuings</a:t>
            </a:r>
          </a:p>
        </p:txBody>
      </p:sp>
      <p:sp>
        <p:nvSpPr>
          <p:cNvPr id="8220" name="Text Box 28"/>
          <p:cNvSpPr txBox="1">
            <a:spLocks noChangeArrowheads="1"/>
          </p:cNvSpPr>
          <p:nvPr/>
        </p:nvSpPr>
        <p:spPr bwMode="auto">
          <a:xfrm>
            <a:off x="1905000" y="1690688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4</a:t>
            </a:r>
          </a:p>
        </p:txBody>
      </p:sp>
      <p:sp>
        <p:nvSpPr>
          <p:cNvPr id="8396" name="Text Box 204"/>
          <p:cNvSpPr txBox="1">
            <a:spLocks noChangeArrowheads="1"/>
          </p:cNvSpPr>
          <p:nvPr/>
        </p:nvSpPr>
        <p:spPr bwMode="auto">
          <a:xfrm>
            <a:off x="2667000" y="1690688"/>
            <a:ext cx="6858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6</a:t>
            </a:r>
          </a:p>
        </p:txBody>
      </p:sp>
      <p:sp>
        <p:nvSpPr>
          <p:cNvPr id="8397" name="Line 205"/>
          <p:cNvSpPr>
            <a:spLocks noChangeShapeType="1"/>
          </p:cNvSpPr>
          <p:nvPr/>
        </p:nvSpPr>
        <p:spPr bwMode="auto">
          <a:xfrm flipH="1">
            <a:off x="2895600" y="20716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8" name="Freeform 206"/>
          <p:cNvSpPr>
            <a:spLocks/>
          </p:cNvSpPr>
          <p:nvPr/>
        </p:nvSpPr>
        <p:spPr bwMode="auto">
          <a:xfrm>
            <a:off x="3048000" y="1919288"/>
            <a:ext cx="254000" cy="533400"/>
          </a:xfrm>
          <a:custGeom>
            <a:avLst/>
            <a:gdLst>
              <a:gd name="T0" fmla="*/ 2147483647 w 160"/>
              <a:gd name="T1" fmla="*/ 0 h 336"/>
              <a:gd name="T2" fmla="*/ 2147483647 w 160"/>
              <a:gd name="T3" fmla="*/ 2147483647 h 336"/>
              <a:gd name="T4" fmla="*/ 0 w 160"/>
              <a:gd name="T5" fmla="*/ 2147483647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0" h="336">
                <a:moveTo>
                  <a:pt x="96" y="0"/>
                </a:moveTo>
                <a:cubicBezTo>
                  <a:pt x="128" y="68"/>
                  <a:pt x="160" y="136"/>
                  <a:pt x="144" y="192"/>
                </a:cubicBezTo>
                <a:cubicBezTo>
                  <a:pt x="128" y="248"/>
                  <a:pt x="64" y="292"/>
                  <a:pt x="0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9" name="Text Box 207"/>
          <p:cNvSpPr txBox="1">
            <a:spLocks noChangeArrowheads="1"/>
          </p:cNvSpPr>
          <p:nvPr/>
        </p:nvSpPr>
        <p:spPr bwMode="auto">
          <a:xfrm>
            <a:off x="3962400" y="1690688"/>
            <a:ext cx="6858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4</a:t>
            </a:r>
          </a:p>
        </p:txBody>
      </p:sp>
      <p:sp>
        <p:nvSpPr>
          <p:cNvPr id="8400" name="Line 208"/>
          <p:cNvSpPr>
            <a:spLocks noChangeShapeType="1"/>
          </p:cNvSpPr>
          <p:nvPr/>
        </p:nvSpPr>
        <p:spPr bwMode="auto">
          <a:xfrm flipH="1">
            <a:off x="4191000" y="20716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5" name="Text Box 210"/>
          <p:cNvSpPr txBox="1">
            <a:spLocks noChangeArrowheads="1"/>
          </p:cNvSpPr>
          <p:nvPr/>
        </p:nvSpPr>
        <p:spPr bwMode="auto">
          <a:xfrm>
            <a:off x="609600" y="1614488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 b="0"/>
              <a:t>empty</a:t>
            </a:r>
          </a:p>
        </p:txBody>
      </p:sp>
      <p:sp>
        <p:nvSpPr>
          <p:cNvPr id="8409" name="Text Box 217"/>
          <p:cNvSpPr txBox="1">
            <a:spLocks noChangeArrowheads="1"/>
          </p:cNvSpPr>
          <p:nvPr/>
        </p:nvSpPr>
        <p:spPr bwMode="auto">
          <a:xfrm>
            <a:off x="5181600" y="1676400"/>
            <a:ext cx="8382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3</a:t>
            </a:r>
          </a:p>
        </p:txBody>
      </p:sp>
      <p:sp>
        <p:nvSpPr>
          <p:cNvPr id="8410" name="Line 218"/>
          <p:cNvSpPr>
            <a:spLocks noChangeShapeType="1"/>
          </p:cNvSpPr>
          <p:nvPr/>
        </p:nvSpPr>
        <p:spPr bwMode="auto">
          <a:xfrm flipH="1">
            <a:off x="5410200" y="2057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3" name="Line 221"/>
          <p:cNvSpPr>
            <a:spLocks noChangeShapeType="1"/>
          </p:cNvSpPr>
          <p:nvPr/>
        </p:nvSpPr>
        <p:spPr bwMode="auto">
          <a:xfrm>
            <a:off x="5638800" y="2057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4" name="Text Box 222"/>
          <p:cNvSpPr txBox="1">
            <a:spLocks noChangeArrowheads="1"/>
          </p:cNvSpPr>
          <p:nvPr/>
        </p:nvSpPr>
        <p:spPr bwMode="auto">
          <a:xfrm>
            <a:off x="6477000" y="1662113"/>
            <a:ext cx="10668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4</a:t>
            </a:r>
            <a:r>
              <a:rPr lang="en-US" sz="2400">
                <a:latin typeface="Courier New" pitchFamily="49" charset="0"/>
              </a:rPr>
              <a:t>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7</a:t>
            </a:r>
          </a:p>
        </p:txBody>
      </p:sp>
      <p:sp>
        <p:nvSpPr>
          <p:cNvPr id="8415" name="Line 223"/>
          <p:cNvSpPr>
            <a:spLocks noChangeShapeType="1"/>
          </p:cNvSpPr>
          <p:nvPr/>
        </p:nvSpPr>
        <p:spPr bwMode="auto">
          <a:xfrm flipH="1">
            <a:off x="6858000" y="204311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6" name="Line 224"/>
          <p:cNvSpPr>
            <a:spLocks noChangeShapeType="1"/>
          </p:cNvSpPr>
          <p:nvPr/>
        </p:nvSpPr>
        <p:spPr bwMode="auto">
          <a:xfrm>
            <a:off x="7086600" y="204311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7" name="Line 225"/>
          <p:cNvSpPr>
            <a:spLocks noChangeShapeType="1"/>
          </p:cNvSpPr>
          <p:nvPr/>
        </p:nvSpPr>
        <p:spPr bwMode="auto">
          <a:xfrm flipH="1">
            <a:off x="6705600" y="257651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9" name="Freeform 227"/>
          <p:cNvSpPr>
            <a:spLocks/>
          </p:cNvSpPr>
          <p:nvPr/>
        </p:nvSpPr>
        <p:spPr bwMode="auto">
          <a:xfrm>
            <a:off x="6451600" y="2424113"/>
            <a:ext cx="254000" cy="457200"/>
          </a:xfrm>
          <a:custGeom>
            <a:avLst/>
            <a:gdLst>
              <a:gd name="T0" fmla="*/ 2147483647 w 160"/>
              <a:gd name="T1" fmla="*/ 0 h 288"/>
              <a:gd name="T2" fmla="*/ 2147483647 w 160"/>
              <a:gd name="T3" fmla="*/ 2147483647 h 288"/>
              <a:gd name="T4" fmla="*/ 2147483647 w 160"/>
              <a:gd name="T5" fmla="*/ 2147483647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0" h="288">
                <a:moveTo>
                  <a:pt x="160" y="0"/>
                </a:moveTo>
                <a:cubicBezTo>
                  <a:pt x="96" y="48"/>
                  <a:pt x="32" y="96"/>
                  <a:pt x="16" y="144"/>
                </a:cubicBezTo>
                <a:cubicBezTo>
                  <a:pt x="0" y="192"/>
                  <a:pt x="32" y="240"/>
                  <a:pt x="64" y="28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0" name="Text Box 228"/>
          <p:cNvSpPr txBox="1">
            <a:spLocks noChangeArrowheads="1"/>
          </p:cNvSpPr>
          <p:nvPr/>
        </p:nvSpPr>
        <p:spPr bwMode="auto">
          <a:xfrm>
            <a:off x="7620000" y="1662113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7</a:t>
            </a:r>
            <a:r>
              <a:rPr lang="en-US" sz="2400">
                <a:latin typeface="Courier New" pitchFamily="49" charset="0"/>
              </a:rPr>
              <a:t>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</a:t>
            </a:r>
          </a:p>
        </p:txBody>
      </p:sp>
      <p:sp>
        <p:nvSpPr>
          <p:cNvPr id="8421" name="Line 229"/>
          <p:cNvSpPr>
            <a:spLocks noChangeShapeType="1"/>
          </p:cNvSpPr>
          <p:nvPr/>
        </p:nvSpPr>
        <p:spPr bwMode="auto">
          <a:xfrm flipH="1">
            <a:off x="8001000" y="20462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2" name="Line 230"/>
          <p:cNvSpPr>
            <a:spLocks noChangeShapeType="1"/>
          </p:cNvSpPr>
          <p:nvPr/>
        </p:nvSpPr>
        <p:spPr bwMode="auto">
          <a:xfrm>
            <a:off x="8229600" y="20462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3" name="Line 231"/>
          <p:cNvSpPr>
            <a:spLocks noChangeShapeType="1"/>
          </p:cNvSpPr>
          <p:nvPr/>
        </p:nvSpPr>
        <p:spPr bwMode="auto">
          <a:xfrm flipH="1">
            <a:off x="7848600" y="262413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4" name="Freeform 232"/>
          <p:cNvSpPr>
            <a:spLocks/>
          </p:cNvSpPr>
          <p:nvPr/>
        </p:nvSpPr>
        <p:spPr bwMode="auto">
          <a:xfrm>
            <a:off x="7696200" y="1938338"/>
            <a:ext cx="254000" cy="457200"/>
          </a:xfrm>
          <a:custGeom>
            <a:avLst/>
            <a:gdLst>
              <a:gd name="T0" fmla="*/ 2147483647 w 160"/>
              <a:gd name="T1" fmla="*/ 0 h 288"/>
              <a:gd name="T2" fmla="*/ 2147483647 w 160"/>
              <a:gd name="T3" fmla="*/ 2147483647 h 288"/>
              <a:gd name="T4" fmla="*/ 2147483647 w 160"/>
              <a:gd name="T5" fmla="*/ 2147483647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0" h="288">
                <a:moveTo>
                  <a:pt x="160" y="0"/>
                </a:moveTo>
                <a:cubicBezTo>
                  <a:pt x="96" y="48"/>
                  <a:pt x="32" y="96"/>
                  <a:pt x="16" y="144"/>
                </a:cubicBezTo>
                <a:cubicBezTo>
                  <a:pt x="0" y="192"/>
                  <a:pt x="32" y="240"/>
                  <a:pt x="64" y="28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5" name="Text Box 233"/>
          <p:cNvSpPr txBox="1">
            <a:spLocks noChangeArrowheads="1"/>
          </p:cNvSpPr>
          <p:nvPr/>
        </p:nvSpPr>
        <p:spPr bwMode="auto">
          <a:xfrm>
            <a:off x="609600" y="45720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6</a:t>
            </a:r>
            <a:r>
              <a:rPr lang="en-US" sz="2400">
                <a:latin typeface="Courier New" pitchFamily="49" charset="0"/>
              </a:rPr>
              <a:t>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</a:t>
            </a:r>
          </a:p>
        </p:txBody>
      </p:sp>
      <p:sp>
        <p:nvSpPr>
          <p:cNvPr id="8426" name="Line 234"/>
          <p:cNvSpPr>
            <a:spLocks noChangeShapeType="1"/>
          </p:cNvSpPr>
          <p:nvPr/>
        </p:nvSpPr>
        <p:spPr bwMode="auto">
          <a:xfrm flipH="1">
            <a:off x="990600" y="49530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7" name="Line 235"/>
          <p:cNvSpPr>
            <a:spLocks noChangeShapeType="1"/>
          </p:cNvSpPr>
          <p:nvPr/>
        </p:nvSpPr>
        <p:spPr bwMode="auto">
          <a:xfrm>
            <a:off x="1219200" y="49530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8" name="Line 236"/>
          <p:cNvSpPr>
            <a:spLocks noChangeShapeType="1"/>
          </p:cNvSpPr>
          <p:nvPr/>
        </p:nvSpPr>
        <p:spPr bwMode="auto">
          <a:xfrm flipH="1">
            <a:off x="838200" y="5486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30" name="Text Box 238"/>
          <p:cNvSpPr txBox="1">
            <a:spLocks noChangeArrowheads="1"/>
          </p:cNvSpPr>
          <p:nvPr/>
        </p:nvSpPr>
        <p:spPr bwMode="auto">
          <a:xfrm>
            <a:off x="1295400" y="3733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5</a:t>
            </a:r>
          </a:p>
        </p:txBody>
      </p:sp>
      <p:sp>
        <p:nvSpPr>
          <p:cNvPr id="8431" name="Freeform 239"/>
          <p:cNvSpPr>
            <a:spLocks/>
          </p:cNvSpPr>
          <p:nvPr/>
        </p:nvSpPr>
        <p:spPr bwMode="auto">
          <a:xfrm>
            <a:off x="1219200" y="4114800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33" name="Text Box 241"/>
          <p:cNvSpPr txBox="1">
            <a:spLocks noChangeArrowheads="1"/>
          </p:cNvSpPr>
          <p:nvPr/>
        </p:nvSpPr>
        <p:spPr bwMode="auto">
          <a:xfrm>
            <a:off x="2209800" y="852488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6</a:t>
            </a:r>
          </a:p>
        </p:txBody>
      </p:sp>
      <p:sp>
        <p:nvSpPr>
          <p:cNvPr id="8434" name="Freeform 242"/>
          <p:cNvSpPr>
            <a:spLocks/>
          </p:cNvSpPr>
          <p:nvPr/>
        </p:nvSpPr>
        <p:spPr bwMode="auto">
          <a:xfrm>
            <a:off x="2133600" y="1233488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7" name="Text Box 243"/>
          <p:cNvSpPr txBox="1">
            <a:spLocks noChangeArrowheads="1"/>
          </p:cNvSpPr>
          <p:nvPr/>
        </p:nvSpPr>
        <p:spPr bwMode="auto">
          <a:xfrm>
            <a:off x="1143000" y="852488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</a:t>
            </a:r>
          </a:p>
        </p:txBody>
      </p:sp>
      <p:sp>
        <p:nvSpPr>
          <p:cNvPr id="39968" name="Freeform 244"/>
          <p:cNvSpPr>
            <a:spLocks/>
          </p:cNvSpPr>
          <p:nvPr/>
        </p:nvSpPr>
        <p:spPr bwMode="auto">
          <a:xfrm>
            <a:off x="1066800" y="1233488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37" name="Text Box 245"/>
          <p:cNvSpPr txBox="1">
            <a:spLocks noChangeArrowheads="1"/>
          </p:cNvSpPr>
          <p:nvPr/>
        </p:nvSpPr>
        <p:spPr bwMode="auto">
          <a:xfrm>
            <a:off x="4419600" y="852488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3</a:t>
            </a:r>
          </a:p>
        </p:txBody>
      </p:sp>
      <p:sp>
        <p:nvSpPr>
          <p:cNvPr id="8438" name="Freeform 246"/>
          <p:cNvSpPr>
            <a:spLocks/>
          </p:cNvSpPr>
          <p:nvPr/>
        </p:nvSpPr>
        <p:spPr bwMode="auto">
          <a:xfrm>
            <a:off x="4343400" y="1233488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39" name="Text Box 247"/>
          <p:cNvSpPr txBox="1">
            <a:spLocks noChangeArrowheads="1"/>
          </p:cNvSpPr>
          <p:nvPr/>
        </p:nvSpPr>
        <p:spPr bwMode="auto">
          <a:xfrm>
            <a:off x="5638800" y="838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7</a:t>
            </a:r>
          </a:p>
        </p:txBody>
      </p:sp>
      <p:sp>
        <p:nvSpPr>
          <p:cNvPr id="8440" name="Freeform 248"/>
          <p:cNvSpPr>
            <a:spLocks/>
          </p:cNvSpPr>
          <p:nvPr/>
        </p:nvSpPr>
        <p:spPr bwMode="auto">
          <a:xfrm>
            <a:off x="5562600" y="1219200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47" name="Text Box 255"/>
          <p:cNvSpPr txBox="1">
            <a:spLocks noChangeArrowheads="1"/>
          </p:cNvSpPr>
          <p:nvPr/>
        </p:nvSpPr>
        <p:spPr bwMode="auto">
          <a:xfrm>
            <a:off x="2514600" y="45720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6</a:t>
            </a:r>
            <a:r>
              <a:rPr lang="en-US" sz="2400">
                <a:latin typeface="Courier New" pitchFamily="49" charset="0"/>
              </a:rPr>
              <a:t>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5</a:t>
            </a:r>
          </a:p>
        </p:txBody>
      </p:sp>
      <p:sp>
        <p:nvSpPr>
          <p:cNvPr id="8448" name="Line 256"/>
          <p:cNvSpPr>
            <a:spLocks noChangeShapeType="1"/>
          </p:cNvSpPr>
          <p:nvPr/>
        </p:nvSpPr>
        <p:spPr bwMode="auto">
          <a:xfrm flipH="1">
            <a:off x="2895600" y="49530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49" name="Line 257"/>
          <p:cNvSpPr>
            <a:spLocks noChangeShapeType="1"/>
          </p:cNvSpPr>
          <p:nvPr/>
        </p:nvSpPr>
        <p:spPr bwMode="auto">
          <a:xfrm>
            <a:off x="3124200" y="49530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50" name="Line 258"/>
          <p:cNvSpPr>
            <a:spLocks noChangeShapeType="1"/>
          </p:cNvSpPr>
          <p:nvPr/>
        </p:nvSpPr>
        <p:spPr bwMode="auto">
          <a:xfrm flipH="1">
            <a:off x="2743200" y="5486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51" name="Text Box 259"/>
          <p:cNvSpPr txBox="1">
            <a:spLocks noChangeArrowheads="1"/>
          </p:cNvSpPr>
          <p:nvPr/>
        </p:nvSpPr>
        <p:spPr bwMode="auto">
          <a:xfrm>
            <a:off x="3200400" y="3733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</a:t>
            </a:r>
          </a:p>
        </p:txBody>
      </p:sp>
      <p:sp>
        <p:nvSpPr>
          <p:cNvPr id="8452" name="Freeform 260"/>
          <p:cNvSpPr>
            <a:spLocks/>
          </p:cNvSpPr>
          <p:nvPr/>
        </p:nvSpPr>
        <p:spPr bwMode="auto">
          <a:xfrm>
            <a:off x="3124200" y="4114800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53" name="Line 261"/>
          <p:cNvSpPr>
            <a:spLocks noChangeShapeType="1"/>
          </p:cNvSpPr>
          <p:nvPr/>
        </p:nvSpPr>
        <p:spPr bwMode="auto">
          <a:xfrm>
            <a:off x="2971800" y="5486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54" name="Text Box 262"/>
          <p:cNvSpPr txBox="1">
            <a:spLocks noChangeArrowheads="1"/>
          </p:cNvSpPr>
          <p:nvPr/>
        </p:nvSpPr>
        <p:spPr bwMode="auto">
          <a:xfrm>
            <a:off x="4699000" y="46482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6  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4 5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4</a:t>
            </a:r>
          </a:p>
        </p:txBody>
      </p:sp>
      <p:sp>
        <p:nvSpPr>
          <p:cNvPr id="8455" name="Line 263"/>
          <p:cNvSpPr>
            <a:spLocks noChangeShapeType="1"/>
          </p:cNvSpPr>
          <p:nvPr/>
        </p:nvSpPr>
        <p:spPr bwMode="auto">
          <a:xfrm flipH="1">
            <a:off x="5156200" y="50292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56" name="Line 264"/>
          <p:cNvSpPr>
            <a:spLocks noChangeShapeType="1"/>
          </p:cNvSpPr>
          <p:nvPr/>
        </p:nvSpPr>
        <p:spPr bwMode="auto">
          <a:xfrm>
            <a:off x="5537200" y="50292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57" name="Line 265"/>
          <p:cNvSpPr>
            <a:spLocks noChangeShapeType="1"/>
          </p:cNvSpPr>
          <p:nvPr/>
        </p:nvSpPr>
        <p:spPr bwMode="auto">
          <a:xfrm flipH="1">
            <a:off x="4927600" y="55626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58" name="Line 266"/>
          <p:cNvSpPr>
            <a:spLocks noChangeShapeType="1"/>
          </p:cNvSpPr>
          <p:nvPr/>
        </p:nvSpPr>
        <p:spPr bwMode="auto">
          <a:xfrm>
            <a:off x="5156200" y="55626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59" name="Line 267"/>
          <p:cNvSpPr>
            <a:spLocks noChangeShapeType="1"/>
          </p:cNvSpPr>
          <p:nvPr/>
        </p:nvSpPr>
        <p:spPr bwMode="auto">
          <a:xfrm flipH="1">
            <a:off x="5689600" y="55626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60" name="Freeform 268"/>
          <p:cNvSpPr>
            <a:spLocks/>
          </p:cNvSpPr>
          <p:nvPr/>
        </p:nvSpPr>
        <p:spPr bwMode="auto">
          <a:xfrm>
            <a:off x="5765800" y="5410200"/>
            <a:ext cx="254000" cy="533400"/>
          </a:xfrm>
          <a:custGeom>
            <a:avLst/>
            <a:gdLst>
              <a:gd name="T0" fmla="*/ 2147483647 w 160"/>
              <a:gd name="T1" fmla="*/ 0 h 336"/>
              <a:gd name="T2" fmla="*/ 2147483647 w 160"/>
              <a:gd name="T3" fmla="*/ 2147483647 h 336"/>
              <a:gd name="T4" fmla="*/ 0 w 160"/>
              <a:gd name="T5" fmla="*/ 2147483647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0" h="336">
                <a:moveTo>
                  <a:pt x="96" y="0"/>
                </a:moveTo>
                <a:cubicBezTo>
                  <a:pt x="128" y="68"/>
                  <a:pt x="160" y="136"/>
                  <a:pt x="144" y="192"/>
                </a:cubicBezTo>
                <a:cubicBezTo>
                  <a:pt x="128" y="248"/>
                  <a:pt x="64" y="292"/>
                  <a:pt x="0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61" name="Text Box 269"/>
          <p:cNvSpPr txBox="1">
            <a:spLocks noChangeArrowheads="1"/>
          </p:cNvSpPr>
          <p:nvPr/>
        </p:nvSpPr>
        <p:spPr bwMode="auto">
          <a:xfrm>
            <a:off x="6934200" y="45720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6  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4 5 3</a:t>
            </a:r>
          </a:p>
        </p:txBody>
      </p:sp>
      <p:sp>
        <p:nvSpPr>
          <p:cNvPr id="8462" name="Line 270"/>
          <p:cNvSpPr>
            <a:spLocks noChangeShapeType="1"/>
          </p:cNvSpPr>
          <p:nvPr/>
        </p:nvSpPr>
        <p:spPr bwMode="auto">
          <a:xfrm flipH="1">
            <a:off x="7391400" y="4953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63" name="Line 271"/>
          <p:cNvSpPr>
            <a:spLocks noChangeShapeType="1"/>
          </p:cNvSpPr>
          <p:nvPr/>
        </p:nvSpPr>
        <p:spPr bwMode="auto">
          <a:xfrm>
            <a:off x="7772400" y="4953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64" name="Line 272"/>
          <p:cNvSpPr>
            <a:spLocks noChangeShapeType="1"/>
          </p:cNvSpPr>
          <p:nvPr/>
        </p:nvSpPr>
        <p:spPr bwMode="auto">
          <a:xfrm flipH="1">
            <a:off x="7162800" y="5486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65" name="Line 273"/>
          <p:cNvSpPr>
            <a:spLocks noChangeShapeType="1"/>
          </p:cNvSpPr>
          <p:nvPr/>
        </p:nvSpPr>
        <p:spPr bwMode="auto">
          <a:xfrm>
            <a:off x="7391400" y="5486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66" name="Line 274"/>
          <p:cNvSpPr>
            <a:spLocks noChangeShapeType="1"/>
          </p:cNvSpPr>
          <p:nvPr/>
        </p:nvSpPr>
        <p:spPr bwMode="auto">
          <a:xfrm flipH="1">
            <a:off x="7924800" y="5486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578" name="Group 386"/>
          <p:cNvGraphicFramePr>
            <a:graphicFrameLocks noGrp="1"/>
          </p:cNvGraphicFramePr>
          <p:nvPr/>
        </p:nvGraphicFramePr>
        <p:xfrm>
          <a:off x="6858000" y="6248400"/>
          <a:ext cx="1524000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35" name="Group 343"/>
          <p:cNvGraphicFramePr>
            <a:graphicFrameLocks noGrp="1"/>
          </p:cNvGraphicFramePr>
          <p:nvPr/>
        </p:nvGraphicFramePr>
        <p:xfrm>
          <a:off x="4419600" y="6291263"/>
          <a:ext cx="1752600" cy="262080"/>
        </p:xfrm>
        <a:graphic>
          <a:graphicData uri="http://schemas.openxmlformats.org/drawingml/2006/table">
            <a:tbl>
              <a:tblPr/>
              <a:tblGrid>
                <a:gridCol w="2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4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9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77" name="Group 385"/>
          <p:cNvGraphicFramePr>
            <a:graphicFrameLocks noGrp="1"/>
          </p:cNvGraphicFramePr>
          <p:nvPr/>
        </p:nvGraphicFramePr>
        <p:xfrm>
          <a:off x="2362200" y="6248400"/>
          <a:ext cx="1447800" cy="262080"/>
        </p:xfrm>
        <a:graphic>
          <a:graphicData uri="http://schemas.openxmlformats.org/drawingml/2006/table">
            <a:tbl>
              <a:tblPr/>
              <a:tblGrid>
                <a:gridCol w="2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97" name="Group 405"/>
          <p:cNvGraphicFramePr>
            <a:graphicFrameLocks noGrp="1"/>
          </p:cNvGraphicFramePr>
          <p:nvPr/>
        </p:nvGraphicFramePr>
        <p:xfrm>
          <a:off x="546100" y="6248400"/>
          <a:ext cx="1206500" cy="262080"/>
        </p:xfrm>
        <a:graphic>
          <a:graphicData uri="http://schemas.openxmlformats.org/drawingml/2006/table">
            <a:tbl>
              <a:tblPr/>
              <a:tblGrid>
                <a:gridCol w="2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98" name="Group 406"/>
          <p:cNvGraphicFramePr>
            <a:graphicFrameLocks noGrp="1"/>
          </p:cNvGraphicFramePr>
          <p:nvPr/>
        </p:nvGraphicFramePr>
        <p:xfrm>
          <a:off x="7543800" y="3276600"/>
          <a:ext cx="1206500" cy="262080"/>
        </p:xfrm>
        <a:graphic>
          <a:graphicData uri="http://schemas.openxmlformats.org/drawingml/2006/table">
            <a:tbl>
              <a:tblPr/>
              <a:tblGrid>
                <a:gridCol w="2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14" name="Freeform 422"/>
          <p:cNvSpPr>
            <a:spLocks/>
          </p:cNvSpPr>
          <p:nvPr/>
        </p:nvSpPr>
        <p:spPr bwMode="auto">
          <a:xfrm>
            <a:off x="7620000" y="3581400"/>
            <a:ext cx="304800" cy="76200"/>
          </a:xfrm>
          <a:custGeom>
            <a:avLst/>
            <a:gdLst>
              <a:gd name="T0" fmla="*/ 0 w 192"/>
              <a:gd name="T1" fmla="*/ 0 h 48"/>
              <a:gd name="T2" fmla="*/ 2147483647 w 192"/>
              <a:gd name="T3" fmla="*/ 2147483647 h 48"/>
              <a:gd name="T4" fmla="*/ 2147483647 w 192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48">
                <a:moveTo>
                  <a:pt x="0" y="0"/>
                </a:moveTo>
                <a:cubicBezTo>
                  <a:pt x="32" y="24"/>
                  <a:pt x="64" y="48"/>
                  <a:pt x="96" y="48"/>
                </a:cubicBezTo>
                <a:cubicBezTo>
                  <a:pt x="128" y="48"/>
                  <a:pt x="160" y="24"/>
                  <a:pt x="19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615" name="Group 423"/>
          <p:cNvGraphicFramePr>
            <a:graphicFrameLocks noGrp="1"/>
          </p:cNvGraphicFramePr>
          <p:nvPr/>
        </p:nvGraphicFramePr>
        <p:xfrm>
          <a:off x="6172200" y="3276600"/>
          <a:ext cx="1206500" cy="262080"/>
        </p:xfrm>
        <a:graphic>
          <a:graphicData uri="http://schemas.openxmlformats.org/drawingml/2006/table">
            <a:tbl>
              <a:tblPr/>
              <a:tblGrid>
                <a:gridCol w="2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57" name="Group 465"/>
          <p:cNvGraphicFramePr>
            <a:graphicFrameLocks noGrp="1"/>
          </p:cNvGraphicFramePr>
          <p:nvPr/>
        </p:nvGraphicFramePr>
        <p:xfrm>
          <a:off x="5029200" y="3276600"/>
          <a:ext cx="965200" cy="262080"/>
        </p:xfrm>
        <a:graphic>
          <a:graphicData uri="http://schemas.openxmlformats.org/drawingml/2006/table">
            <a:tbl>
              <a:tblPr/>
              <a:tblGrid>
                <a:gridCol w="2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95" name="Group 503"/>
          <p:cNvGraphicFramePr>
            <a:graphicFrameLocks noGrp="1"/>
          </p:cNvGraphicFramePr>
          <p:nvPr/>
        </p:nvGraphicFramePr>
        <p:xfrm>
          <a:off x="3886200" y="3276600"/>
          <a:ext cx="723900" cy="262080"/>
        </p:xfrm>
        <a:graphic>
          <a:graphicData uri="http://schemas.openxmlformats.org/drawingml/2006/table">
            <a:tbl>
              <a:tblPr/>
              <a:tblGrid>
                <a:gridCol w="2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70" name="Group 478"/>
          <p:cNvGraphicFramePr>
            <a:graphicFrameLocks noGrp="1"/>
          </p:cNvGraphicFramePr>
          <p:nvPr/>
        </p:nvGraphicFramePr>
        <p:xfrm>
          <a:off x="2667000" y="3276600"/>
          <a:ext cx="723900" cy="262080"/>
        </p:xfrm>
        <a:graphic>
          <a:graphicData uri="http://schemas.openxmlformats.org/drawingml/2006/table">
            <a:tbl>
              <a:tblPr/>
              <a:tblGrid>
                <a:gridCol w="2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94" name="Group 502"/>
          <p:cNvGraphicFramePr>
            <a:graphicFrameLocks noGrp="1"/>
          </p:cNvGraphicFramePr>
          <p:nvPr/>
        </p:nvGraphicFramePr>
        <p:xfrm>
          <a:off x="1752600" y="3276600"/>
          <a:ext cx="482600" cy="262080"/>
        </p:xfrm>
        <a:graphic>
          <a:graphicData uri="http://schemas.openxmlformats.org/drawingml/2006/table">
            <a:tbl>
              <a:tblPr/>
              <a:tblGrid>
                <a:gridCol w="2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91" name="Freeform 499"/>
          <p:cNvSpPr>
            <a:spLocks/>
          </p:cNvSpPr>
          <p:nvPr/>
        </p:nvSpPr>
        <p:spPr bwMode="auto">
          <a:xfrm>
            <a:off x="2743200" y="3581400"/>
            <a:ext cx="304800" cy="76200"/>
          </a:xfrm>
          <a:custGeom>
            <a:avLst/>
            <a:gdLst>
              <a:gd name="T0" fmla="*/ 0 w 192"/>
              <a:gd name="T1" fmla="*/ 0 h 48"/>
              <a:gd name="T2" fmla="*/ 2147483647 w 192"/>
              <a:gd name="T3" fmla="*/ 2147483647 h 48"/>
              <a:gd name="T4" fmla="*/ 2147483647 w 192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48">
                <a:moveTo>
                  <a:pt x="0" y="0"/>
                </a:moveTo>
                <a:cubicBezTo>
                  <a:pt x="32" y="24"/>
                  <a:pt x="64" y="48"/>
                  <a:pt x="96" y="48"/>
                </a:cubicBezTo>
                <a:cubicBezTo>
                  <a:pt x="128" y="48"/>
                  <a:pt x="160" y="24"/>
                  <a:pt x="19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92" name="Freeform 500"/>
          <p:cNvSpPr>
            <a:spLocks/>
          </p:cNvSpPr>
          <p:nvPr/>
        </p:nvSpPr>
        <p:spPr bwMode="auto">
          <a:xfrm>
            <a:off x="6553200" y="3581400"/>
            <a:ext cx="457200" cy="152400"/>
          </a:xfrm>
          <a:custGeom>
            <a:avLst/>
            <a:gdLst>
              <a:gd name="T0" fmla="*/ 0 w 288"/>
              <a:gd name="T1" fmla="*/ 0 h 96"/>
              <a:gd name="T2" fmla="*/ 2147483647 w 288"/>
              <a:gd name="T3" fmla="*/ 2147483647 h 96"/>
              <a:gd name="T4" fmla="*/ 2147483647 w 288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96">
                <a:moveTo>
                  <a:pt x="0" y="0"/>
                </a:moveTo>
                <a:cubicBezTo>
                  <a:pt x="48" y="48"/>
                  <a:pt x="96" y="96"/>
                  <a:pt x="144" y="96"/>
                </a:cubicBezTo>
                <a:cubicBezTo>
                  <a:pt x="192" y="96"/>
                  <a:pt x="240" y="48"/>
                  <a:pt x="288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93" name="Freeform 501"/>
          <p:cNvSpPr>
            <a:spLocks/>
          </p:cNvSpPr>
          <p:nvPr/>
        </p:nvSpPr>
        <p:spPr bwMode="auto">
          <a:xfrm>
            <a:off x="5029200" y="6616700"/>
            <a:ext cx="762000" cy="152400"/>
          </a:xfrm>
          <a:custGeom>
            <a:avLst/>
            <a:gdLst>
              <a:gd name="T0" fmla="*/ 0 w 480"/>
              <a:gd name="T1" fmla="*/ 0 h 96"/>
              <a:gd name="T2" fmla="*/ 2147483647 w 480"/>
              <a:gd name="T3" fmla="*/ 2147483647 h 96"/>
              <a:gd name="T4" fmla="*/ 2147483647 w 480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0" h="96">
                <a:moveTo>
                  <a:pt x="0" y="0"/>
                </a:moveTo>
                <a:cubicBezTo>
                  <a:pt x="80" y="48"/>
                  <a:pt x="160" y="96"/>
                  <a:pt x="240" y="96"/>
                </a:cubicBezTo>
                <a:cubicBezTo>
                  <a:pt x="320" y="96"/>
                  <a:pt x="400" y="48"/>
                  <a:pt x="48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7" name="Freeform 525"/>
          <p:cNvSpPr>
            <a:spLocks/>
          </p:cNvSpPr>
          <p:nvPr/>
        </p:nvSpPr>
        <p:spPr bwMode="auto">
          <a:xfrm>
            <a:off x="5186363" y="3582988"/>
            <a:ext cx="457200" cy="152400"/>
          </a:xfrm>
          <a:custGeom>
            <a:avLst/>
            <a:gdLst>
              <a:gd name="T0" fmla="*/ 0 w 288"/>
              <a:gd name="T1" fmla="*/ 0 h 96"/>
              <a:gd name="T2" fmla="*/ 2147483647 w 288"/>
              <a:gd name="T3" fmla="*/ 2147483647 h 96"/>
              <a:gd name="T4" fmla="*/ 2147483647 w 288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96">
                <a:moveTo>
                  <a:pt x="0" y="0"/>
                </a:moveTo>
                <a:cubicBezTo>
                  <a:pt x="48" y="48"/>
                  <a:pt x="96" y="96"/>
                  <a:pt x="144" y="96"/>
                </a:cubicBezTo>
                <a:cubicBezTo>
                  <a:pt x="192" y="96"/>
                  <a:pt x="240" y="48"/>
                  <a:pt x="288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20" name="Freeform 528"/>
          <p:cNvSpPr>
            <a:spLocks/>
          </p:cNvSpPr>
          <p:nvPr/>
        </p:nvSpPr>
        <p:spPr bwMode="auto">
          <a:xfrm>
            <a:off x="5646738" y="1854200"/>
            <a:ext cx="339725" cy="538163"/>
          </a:xfrm>
          <a:custGeom>
            <a:avLst/>
            <a:gdLst>
              <a:gd name="T0" fmla="*/ 0 w 214"/>
              <a:gd name="T1" fmla="*/ 0 h 339"/>
              <a:gd name="T2" fmla="*/ 2147483647 w 214"/>
              <a:gd name="T3" fmla="*/ 2147483647 h 339"/>
              <a:gd name="T4" fmla="*/ 2147483647 w 214"/>
              <a:gd name="T5" fmla="*/ 2147483647 h 3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" h="339">
                <a:moveTo>
                  <a:pt x="0" y="0"/>
                </a:moveTo>
                <a:cubicBezTo>
                  <a:pt x="87" y="32"/>
                  <a:pt x="174" y="65"/>
                  <a:pt x="194" y="121"/>
                </a:cubicBezTo>
                <a:cubicBezTo>
                  <a:pt x="214" y="177"/>
                  <a:pt x="167" y="258"/>
                  <a:pt x="121" y="33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21" name="Freeform 529"/>
          <p:cNvSpPr>
            <a:spLocks/>
          </p:cNvSpPr>
          <p:nvPr/>
        </p:nvSpPr>
        <p:spPr bwMode="auto">
          <a:xfrm>
            <a:off x="2997200" y="5387975"/>
            <a:ext cx="339725" cy="538163"/>
          </a:xfrm>
          <a:custGeom>
            <a:avLst/>
            <a:gdLst>
              <a:gd name="T0" fmla="*/ 0 w 214"/>
              <a:gd name="T1" fmla="*/ 0 h 339"/>
              <a:gd name="T2" fmla="*/ 2147483647 w 214"/>
              <a:gd name="T3" fmla="*/ 2147483647 h 339"/>
              <a:gd name="T4" fmla="*/ 2147483647 w 214"/>
              <a:gd name="T5" fmla="*/ 2147483647 h 3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4" h="339">
                <a:moveTo>
                  <a:pt x="0" y="0"/>
                </a:moveTo>
                <a:cubicBezTo>
                  <a:pt x="87" y="32"/>
                  <a:pt x="174" y="65"/>
                  <a:pt x="194" y="121"/>
                </a:cubicBezTo>
                <a:cubicBezTo>
                  <a:pt x="214" y="177"/>
                  <a:pt x="167" y="258"/>
                  <a:pt x="121" y="33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22" name="Freeform 530"/>
          <p:cNvSpPr>
            <a:spLocks/>
          </p:cNvSpPr>
          <p:nvPr/>
        </p:nvSpPr>
        <p:spPr bwMode="auto">
          <a:xfrm>
            <a:off x="2690813" y="6540500"/>
            <a:ext cx="762000" cy="152400"/>
          </a:xfrm>
          <a:custGeom>
            <a:avLst/>
            <a:gdLst>
              <a:gd name="T0" fmla="*/ 0 w 480"/>
              <a:gd name="T1" fmla="*/ 0 h 96"/>
              <a:gd name="T2" fmla="*/ 2147483647 w 480"/>
              <a:gd name="T3" fmla="*/ 2147483647 h 96"/>
              <a:gd name="T4" fmla="*/ 2147483647 w 480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0" h="96">
                <a:moveTo>
                  <a:pt x="0" y="0"/>
                </a:moveTo>
                <a:cubicBezTo>
                  <a:pt x="80" y="48"/>
                  <a:pt x="160" y="96"/>
                  <a:pt x="240" y="96"/>
                </a:cubicBezTo>
                <a:cubicBezTo>
                  <a:pt x="320" y="96"/>
                  <a:pt x="400" y="48"/>
                  <a:pt x="48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30" name="Freeform 538"/>
          <p:cNvSpPr>
            <a:spLocks/>
          </p:cNvSpPr>
          <p:nvPr/>
        </p:nvSpPr>
        <p:spPr bwMode="auto">
          <a:xfrm>
            <a:off x="7797800" y="4695825"/>
            <a:ext cx="403225" cy="538163"/>
          </a:xfrm>
          <a:custGeom>
            <a:avLst/>
            <a:gdLst>
              <a:gd name="T0" fmla="*/ 0 w 254"/>
              <a:gd name="T1" fmla="*/ 0 h 339"/>
              <a:gd name="T2" fmla="*/ 2147483647 w 254"/>
              <a:gd name="T3" fmla="*/ 2147483647 h 339"/>
              <a:gd name="T4" fmla="*/ 2147483647 w 254"/>
              <a:gd name="T5" fmla="*/ 2147483647 h 3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4" h="339">
                <a:moveTo>
                  <a:pt x="0" y="0"/>
                </a:moveTo>
                <a:cubicBezTo>
                  <a:pt x="91" y="20"/>
                  <a:pt x="182" y="40"/>
                  <a:pt x="218" y="97"/>
                </a:cubicBezTo>
                <a:cubicBezTo>
                  <a:pt x="254" y="154"/>
                  <a:pt x="236" y="246"/>
                  <a:pt x="218" y="33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31" name="Freeform 539"/>
          <p:cNvSpPr>
            <a:spLocks/>
          </p:cNvSpPr>
          <p:nvPr/>
        </p:nvSpPr>
        <p:spPr bwMode="auto">
          <a:xfrm>
            <a:off x="6953250" y="6540500"/>
            <a:ext cx="457200" cy="152400"/>
          </a:xfrm>
          <a:custGeom>
            <a:avLst/>
            <a:gdLst>
              <a:gd name="T0" fmla="*/ 0 w 288"/>
              <a:gd name="T1" fmla="*/ 0 h 96"/>
              <a:gd name="T2" fmla="*/ 2147483647 w 288"/>
              <a:gd name="T3" fmla="*/ 2147483647 h 96"/>
              <a:gd name="T4" fmla="*/ 2147483647 w 288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96">
                <a:moveTo>
                  <a:pt x="0" y="0"/>
                </a:moveTo>
                <a:cubicBezTo>
                  <a:pt x="48" y="48"/>
                  <a:pt x="96" y="96"/>
                  <a:pt x="144" y="96"/>
                </a:cubicBezTo>
                <a:cubicBezTo>
                  <a:pt x="192" y="96"/>
                  <a:pt x="240" y="48"/>
                  <a:pt x="288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0" grpId="0"/>
      <p:bldP spid="8396" grpId="0"/>
      <p:bldP spid="8397" grpId="0" animBg="1"/>
      <p:bldP spid="8398" grpId="0" animBg="1"/>
      <p:bldP spid="8399" grpId="0"/>
      <p:bldP spid="8400" grpId="0" animBg="1"/>
      <p:bldP spid="8409" grpId="0"/>
      <p:bldP spid="8410" grpId="0" animBg="1"/>
      <p:bldP spid="8413" grpId="0" animBg="1"/>
      <p:bldP spid="8414" grpId="0"/>
      <p:bldP spid="8415" grpId="0" animBg="1"/>
      <p:bldP spid="8416" grpId="0" animBg="1"/>
      <p:bldP spid="8417" grpId="0" animBg="1"/>
      <p:bldP spid="8419" grpId="0" animBg="1"/>
      <p:bldP spid="8420" grpId="0"/>
      <p:bldP spid="8421" grpId="0" animBg="1"/>
      <p:bldP spid="8422" grpId="0" animBg="1"/>
      <p:bldP spid="8423" grpId="0" animBg="1"/>
      <p:bldP spid="8424" grpId="0" animBg="1"/>
      <p:bldP spid="8425" grpId="0"/>
      <p:bldP spid="8426" grpId="0" animBg="1"/>
      <p:bldP spid="8427" grpId="0" animBg="1"/>
      <p:bldP spid="8428" grpId="0" animBg="1"/>
      <p:bldP spid="8430" grpId="0"/>
      <p:bldP spid="8431" grpId="0" animBg="1"/>
      <p:bldP spid="8433" grpId="0"/>
      <p:bldP spid="8434" grpId="0" animBg="1"/>
      <p:bldP spid="8437" grpId="0"/>
      <p:bldP spid="8438" grpId="0" animBg="1"/>
      <p:bldP spid="8439" grpId="0"/>
      <p:bldP spid="8440" grpId="0" animBg="1"/>
      <p:bldP spid="8447" grpId="0"/>
      <p:bldP spid="8448" grpId="0" animBg="1"/>
      <p:bldP spid="8449" grpId="0" animBg="1"/>
      <p:bldP spid="8450" grpId="0" animBg="1"/>
      <p:bldP spid="8451" grpId="0"/>
      <p:bldP spid="8452" grpId="0" animBg="1"/>
      <p:bldP spid="8453" grpId="0" animBg="1"/>
      <p:bldP spid="8454" grpId="0"/>
      <p:bldP spid="8455" grpId="0" animBg="1"/>
      <p:bldP spid="8456" grpId="0" animBg="1"/>
      <p:bldP spid="8457" grpId="0" animBg="1"/>
      <p:bldP spid="8458" grpId="0" animBg="1"/>
      <p:bldP spid="8459" grpId="0" animBg="1"/>
      <p:bldP spid="8460" grpId="0" animBg="1"/>
      <p:bldP spid="8461" grpId="0"/>
      <p:bldP spid="8462" grpId="0" animBg="1"/>
      <p:bldP spid="8463" grpId="0" animBg="1"/>
      <p:bldP spid="8464" grpId="0" animBg="1"/>
      <p:bldP spid="8465" grpId="0" animBg="1"/>
      <p:bldP spid="8466" grpId="0" animBg="1"/>
      <p:bldP spid="8614" grpId="0" animBg="1"/>
      <p:bldP spid="8691" grpId="0" animBg="1"/>
      <p:bldP spid="8692" grpId="0" animBg="1"/>
      <p:bldP spid="8693" grpId="0" animBg="1"/>
      <p:bldP spid="8717" grpId="0" animBg="1"/>
      <p:bldP spid="8720" grpId="0" animBg="1"/>
      <p:bldP spid="8721" grpId="0" animBg="1"/>
      <p:bldP spid="8722" grpId="0" animBg="1"/>
      <p:bldP spid="8730" grpId="0" animBg="1"/>
      <p:bldP spid="87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55713"/>
            <a:ext cx="7772400" cy="412115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>
                <a:latin typeface="Courier New" pitchFamily="49" charset="0"/>
              </a:rPr>
              <a:t>heapDequeue()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</a:t>
            </a:r>
            <a:r>
              <a:rPr lang="en-US" sz="2800" i="1"/>
              <a:t>extract the element from the root</a:t>
            </a:r>
            <a:r>
              <a:rPr lang="en-US" sz="280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 </a:t>
            </a:r>
            <a:r>
              <a:rPr lang="en-US" sz="2800" i="1"/>
              <a:t>put the element from the last leaf in its place</a:t>
            </a:r>
            <a:r>
              <a:rPr lang="en-US" sz="280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 </a:t>
            </a:r>
            <a:r>
              <a:rPr lang="en-US" sz="2800" i="1"/>
              <a:t>remove the last leaf</a:t>
            </a:r>
            <a:r>
              <a:rPr lang="en-US" sz="280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 // both subtrees of the root are heaps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 </a:t>
            </a:r>
            <a:r>
              <a:rPr lang="en-US" sz="2800">
                <a:latin typeface="Courier New" pitchFamily="49" charset="0"/>
              </a:rPr>
              <a:t>p</a:t>
            </a:r>
            <a:r>
              <a:rPr lang="en-US" sz="2800"/>
              <a:t> = </a:t>
            </a:r>
            <a:r>
              <a:rPr lang="en-US" sz="2800" i="1"/>
              <a:t>the root</a:t>
            </a:r>
            <a:r>
              <a:rPr lang="en-US" sz="280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 </a:t>
            </a:r>
            <a:r>
              <a:rPr lang="en-US" sz="2800">
                <a:latin typeface="Courier New" pitchFamily="49" charset="0"/>
              </a:rPr>
              <a:t>while</a:t>
            </a:r>
            <a:r>
              <a:rPr lang="en-US" sz="2800"/>
              <a:t> </a:t>
            </a:r>
            <a:r>
              <a:rPr lang="en-US" sz="2800">
                <a:latin typeface="Courier New" pitchFamily="49" charset="0"/>
              </a:rPr>
              <a:t>p</a:t>
            </a:r>
            <a:r>
              <a:rPr lang="en-US" sz="2800"/>
              <a:t> </a:t>
            </a:r>
            <a:r>
              <a:rPr lang="en-US" sz="2800" i="1"/>
              <a:t>is not a leaf and</a:t>
            </a:r>
            <a:r>
              <a:rPr lang="en-US" sz="2800"/>
              <a:t> </a:t>
            </a:r>
            <a:r>
              <a:rPr lang="en-US" sz="2800">
                <a:latin typeface="Courier New" pitchFamily="49" charset="0"/>
              </a:rPr>
              <a:t>p</a:t>
            </a:r>
            <a:r>
              <a:rPr lang="en-US" sz="2800"/>
              <a:t> &lt; </a:t>
            </a:r>
            <a:r>
              <a:rPr lang="en-US" sz="2800" i="1"/>
              <a:t>any of its children</a:t>
            </a:r>
            <a:endParaRPr lang="en-US" sz="2800"/>
          </a:p>
          <a:p>
            <a:pPr eaLnBrk="1" hangingPunct="1">
              <a:buFont typeface="Wingdings" pitchFamily="2" charset="2"/>
              <a:buNone/>
            </a:pPr>
            <a:r>
              <a:rPr lang="en-US" sz="2800"/>
              <a:t>        </a:t>
            </a:r>
            <a:r>
              <a:rPr lang="en-US" sz="2800" i="1"/>
              <a:t>swap</a:t>
            </a:r>
            <a:r>
              <a:rPr lang="en-US" sz="2800"/>
              <a:t> </a:t>
            </a:r>
            <a:r>
              <a:rPr lang="en-US" sz="2800">
                <a:latin typeface="Courier New" pitchFamily="49" charset="0"/>
              </a:rPr>
              <a:t>p</a:t>
            </a:r>
            <a:r>
              <a:rPr lang="en-US" sz="2800"/>
              <a:t> </a:t>
            </a:r>
            <a:r>
              <a:rPr lang="en-US" sz="2800" i="1"/>
              <a:t>with the larger child</a:t>
            </a:r>
            <a:r>
              <a:rPr lang="en-US" sz="2800">
                <a:latin typeface="Courier New" pitchFamily="49" charset="0"/>
              </a:rPr>
              <a:t>;</a:t>
            </a:r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41300"/>
            <a:ext cx="7772400" cy="860425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4000"/>
              <a:t>Heap as a priority queue: dequeuing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03263"/>
          </a:xfr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 sz="3600"/>
              <a:t>Series of dequeuings</a:t>
            </a:r>
          </a:p>
        </p:txBody>
      </p:sp>
      <p:sp>
        <p:nvSpPr>
          <p:cNvPr id="41987" name="Text Box 5"/>
          <p:cNvSpPr txBox="1">
            <a:spLocks noChangeArrowheads="1"/>
          </p:cNvSpPr>
          <p:nvPr/>
        </p:nvSpPr>
        <p:spPr bwMode="auto">
          <a:xfrm>
            <a:off x="533400" y="15240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6   4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4 5 3</a:t>
            </a:r>
          </a:p>
        </p:txBody>
      </p:sp>
      <p:sp>
        <p:nvSpPr>
          <p:cNvPr id="41988" name="Line 6"/>
          <p:cNvSpPr>
            <a:spLocks noChangeShapeType="1"/>
          </p:cNvSpPr>
          <p:nvPr/>
        </p:nvSpPr>
        <p:spPr bwMode="auto">
          <a:xfrm flipH="1">
            <a:off x="990600" y="1905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9" name="Line 7"/>
          <p:cNvSpPr>
            <a:spLocks noChangeShapeType="1"/>
          </p:cNvSpPr>
          <p:nvPr/>
        </p:nvSpPr>
        <p:spPr bwMode="auto">
          <a:xfrm>
            <a:off x="1371600" y="1905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0" name="Line 8"/>
          <p:cNvSpPr>
            <a:spLocks noChangeShapeType="1"/>
          </p:cNvSpPr>
          <p:nvPr/>
        </p:nvSpPr>
        <p:spPr bwMode="auto">
          <a:xfrm flipH="1">
            <a:off x="762000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1" name="Line 9"/>
          <p:cNvSpPr>
            <a:spLocks noChangeShapeType="1"/>
          </p:cNvSpPr>
          <p:nvPr/>
        </p:nvSpPr>
        <p:spPr bwMode="auto">
          <a:xfrm>
            <a:off x="990600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2" name="Line 10"/>
          <p:cNvSpPr>
            <a:spLocks noChangeShapeType="1"/>
          </p:cNvSpPr>
          <p:nvPr/>
        </p:nvSpPr>
        <p:spPr bwMode="auto">
          <a:xfrm flipH="1">
            <a:off x="1524000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3979" name="Group 11"/>
          <p:cNvGraphicFramePr>
            <a:graphicFrameLocks noGrp="1"/>
          </p:cNvGraphicFramePr>
          <p:nvPr/>
        </p:nvGraphicFramePr>
        <p:xfrm>
          <a:off x="457200" y="3200400"/>
          <a:ext cx="1524000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998" name="Freeform 30"/>
          <p:cNvSpPr>
            <a:spLocks/>
          </p:cNvSpPr>
          <p:nvPr/>
        </p:nvSpPr>
        <p:spPr bwMode="auto">
          <a:xfrm>
            <a:off x="1371600" y="1143000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99" name="Text Box 31"/>
          <p:cNvSpPr txBox="1">
            <a:spLocks noChangeArrowheads="1"/>
          </p:cNvSpPr>
          <p:nvPr/>
        </p:nvSpPr>
        <p:spPr bwMode="auto">
          <a:xfrm>
            <a:off x="2362200" y="15240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6   4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4 5 3</a:t>
            </a:r>
          </a:p>
        </p:txBody>
      </p:sp>
      <p:sp>
        <p:nvSpPr>
          <p:cNvPr id="84002" name="Line 34"/>
          <p:cNvSpPr>
            <a:spLocks noChangeShapeType="1"/>
          </p:cNvSpPr>
          <p:nvPr/>
        </p:nvSpPr>
        <p:spPr bwMode="auto">
          <a:xfrm flipH="1">
            <a:off x="2590800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03" name="Line 35"/>
          <p:cNvSpPr>
            <a:spLocks noChangeShapeType="1"/>
          </p:cNvSpPr>
          <p:nvPr/>
        </p:nvSpPr>
        <p:spPr bwMode="auto">
          <a:xfrm>
            <a:off x="2819400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04" name="Line 36"/>
          <p:cNvSpPr>
            <a:spLocks noChangeShapeType="1"/>
          </p:cNvSpPr>
          <p:nvPr/>
        </p:nvSpPr>
        <p:spPr bwMode="auto">
          <a:xfrm flipH="1">
            <a:off x="3352800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4005" name="Group 37"/>
          <p:cNvGraphicFramePr>
            <a:graphicFrameLocks noGrp="1"/>
          </p:cNvGraphicFramePr>
          <p:nvPr/>
        </p:nvGraphicFramePr>
        <p:xfrm>
          <a:off x="2286000" y="3200400"/>
          <a:ext cx="1524000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023" name="Text Box 55"/>
          <p:cNvSpPr txBox="1">
            <a:spLocks noChangeArrowheads="1"/>
          </p:cNvSpPr>
          <p:nvPr/>
        </p:nvSpPr>
        <p:spPr bwMode="auto">
          <a:xfrm>
            <a:off x="4114800" y="15240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6   4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4 5</a:t>
            </a:r>
          </a:p>
        </p:txBody>
      </p:sp>
      <p:sp>
        <p:nvSpPr>
          <p:cNvPr id="84024" name="Line 56"/>
          <p:cNvSpPr>
            <a:spLocks noChangeShapeType="1"/>
          </p:cNvSpPr>
          <p:nvPr/>
        </p:nvSpPr>
        <p:spPr bwMode="auto">
          <a:xfrm flipH="1">
            <a:off x="4572000" y="1905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25" name="Line 57"/>
          <p:cNvSpPr>
            <a:spLocks noChangeShapeType="1"/>
          </p:cNvSpPr>
          <p:nvPr/>
        </p:nvSpPr>
        <p:spPr bwMode="auto">
          <a:xfrm>
            <a:off x="4953000" y="1905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26" name="Line 58"/>
          <p:cNvSpPr>
            <a:spLocks noChangeShapeType="1"/>
          </p:cNvSpPr>
          <p:nvPr/>
        </p:nvSpPr>
        <p:spPr bwMode="auto">
          <a:xfrm flipH="1">
            <a:off x="4343400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27" name="Line 59"/>
          <p:cNvSpPr>
            <a:spLocks noChangeShapeType="1"/>
          </p:cNvSpPr>
          <p:nvPr/>
        </p:nvSpPr>
        <p:spPr bwMode="auto">
          <a:xfrm>
            <a:off x="4572000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4047" name="Group 79"/>
          <p:cNvGraphicFramePr>
            <a:graphicFrameLocks noGrp="1"/>
          </p:cNvGraphicFramePr>
          <p:nvPr/>
        </p:nvGraphicFramePr>
        <p:xfrm>
          <a:off x="4181475" y="3200400"/>
          <a:ext cx="1304925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048" name="Freeform 80"/>
          <p:cNvSpPr>
            <a:spLocks/>
          </p:cNvSpPr>
          <p:nvPr/>
        </p:nvSpPr>
        <p:spPr bwMode="auto">
          <a:xfrm>
            <a:off x="4368800" y="1676400"/>
            <a:ext cx="355600" cy="457200"/>
          </a:xfrm>
          <a:custGeom>
            <a:avLst/>
            <a:gdLst>
              <a:gd name="T0" fmla="*/ 2147483647 w 224"/>
              <a:gd name="T1" fmla="*/ 0 h 288"/>
              <a:gd name="T2" fmla="*/ 2147483647 w 224"/>
              <a:gd name="T3" fmla="*/ 2147483647 h 288"/>
              <a:gd name="T4" fmla="*/ 2147483647 w 224"/>
              <a:gd name="T5" fmla="*/ 2147483647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4" h="288">
                <a:moveTo>
                  <a:pt x="224" y="0"/>
                </a:moveTo>
                <a:cubicBezTo>
                  <a:pt x="144" y="24"/>
                  <a:pt x="64" y="48"/>
                  <a:pt x="32" y="96"/>
                </a:cubicBezTo>
                <a:cubicBezTo>
                  <a:pt x="0" y="144"/>
                  <a:pt x="16" y="216"/>
                  <a:pt x="32" y="28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49" name="Text Box 81"/>
          <p:cNvSpPr txBox="1">
            <a:spLocks noChangeArrowheads="1"/>
          </p:cNvSpPr>
          <p:nvPr/>
        </p:nvSpPr>
        <p:spPr bwMode="auto">
          <a:xfrm>
            <a:off x="5816600" y="15240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3   4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4 5</a:t>
            </a:r>
          </a:p>
        </p:txBody>
      </p:sp>
      <p:sp>
        <p:nvSpPr>
          <p:cNvPr id="84050" name="Line 82"/>
          <p:cNvSpPr>
            <a:spLocks noChangeShapeType="1"/>
          </p:cNvSpPr>
          <p:nvPr/>
        </p:nvSpPr>
        <p:spPr bwMode="auto">
          <a:xfrm flipH="1">
            <a:off x="6273800" y="1905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51" name="Line 83"/>
          <p:cNvSpPr>
            <a:spLocks noChangeShapeType="1"/>
          </p:cNvSpPr>
          <p:nvPr/>
        </p:nvSpPr>
        <p:spPr bwMode="auto">
          <a:xfrm>
            <a:off x="6654800" y="1905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52" name="Line 84"/>
          <p:cNvSpPr>
            <a:spLocks noChangeShapeType="1"/>
          </p:cNvSpPr>
          <p:nvPr/>
        </p:nvSpPr>
        <p:spPr bwMode="auto">
          <a:xfrm flipH="1">
            <a:off x="6045200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53" name="Line 85"/>
          <p:cNvSpPr>
            <a:spLocks noChangeShapeType="1"/>
          </p:cNvSpPr>
          <p:nvPr/>
        </p:nvSpPr>
        <p:spPr bwMode="auto">
          <a:xfrm>
            <a:off x="6273800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4149" name="Group 181"/>
          <p:cNvGraphicFramePr>
            <a:graphicFrameLocks noGrp="1"/>
          </p:cNvGraphicFramePr>
          <p:nvPr/>
        </p:nvGraphicFramePr>
        <p:xfrm>
          <a:off x="5883275" y="3200400"/>
          <a:ext cx="1304925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072" name="Freeform 104"/>
          <p:cNvSpPr>
            <a:spLocks/>
          </p:cNvSpPr>
          <p:nvPr/>
        </p:nvSpPr>
        <p:spPr bwMode="auto">
          <a:xfrm>
            <a:off x="4267200" y="3505200"/>
            <a:ext cx="2286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73" name="Freeform 105"/>
          <p:cNvSpPr>
            <a:spLocks/>
          </p:cNvSpPr>
          <p:nvPr/>
        </p:nvSpPr>
        <p:spPr bwMode="auto">
          <a:xfrm>
            <a:off x="3352800" y="1828800"/>
            <a:ext cx="698500" cy="990600"/>
          </a:xfrm>
          <a:custGeom>
            <a:avLst/>
            <a:gdLst>
              <a:gd name="T0" fmla="*/ 2147483647 w 440"/>
              <a:gd name="T1" fmla="*/ 2147483647 h 624"/>
              <a:gd name="T2" fmla="*/ 2147483647 w 440"/>
              <a:gd name="T3" fmla="*/ 2147483647 h 624"/>
              <a:gd name="T4" fmla="*/ 0 w 440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40" h="624">
                <a:moveTo>
                  <a:pt x="48" y="624"/>
                </a:moveTo>
                <a:cubicBezTo>
                  <a:pt x="244" y="484"/>
                  <a:pt x="440" y="344"/>
                  <a:pt x="432" y="240"/>
                </a:cubicBezTo>
                <a:cubicBezTo>
                  <a:pt x="424" y="136"/>
                  <a:pt x="72" y="40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74" name="Freeform 106"/>
          <p:cNvSpPr>
            <a:spLocks/>
          </p:cNvSpPr>
          <p:nvPr/>
        </p:nvSpPr>
        <p:spPr bwMode="auto">
          <a:xfrm>
            <a:off x="6197600" y="3505200"/>
            <a:ext cx="660400" cy="228600"/>
          </a:xfrm>
          <a:custGeom>
            <a:avLst/>
            <a:gdLst>
              <a:gd name="T0" fmla="*/ 0 w 240"/>
              <a:gd name="T1" fmla="*/ 0 h 144"/>
              <a:gd name="T2" fmla="*/ 2147483647 w 240"/>
              <a:gd name="T3" fmla="*/ 2147483647 h 144"/>
              <a:gd name="T4" fmla="*/ 2147483647 w 240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0" h="144">
                <a:moveTo>
                  <a:pt x="0" y="0"/>
                </a:moveTo>
                <a:cubicBezTo>
                  <a:pt x="52" y="72"/>
                  <a:pt x="104" y="144"/>
                  <a:pt x="144" y="144"/>
                </a:cubicBezTo>
                <a:cubicBezTo>
                  <a:pt x="184" y="144"/>
                  <a:pt x="212" y="72"/>
                  <a:pt x="24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75" name="Text Box 107"/>
          <p:cNvSpPr txBox="1">
            <a:spLocks noChangeArrowheads="1"/>
          </p:cNvSpPr>
          <p:nvPr/>
        </p:nvSpPr>
        <p:spPr bwMode="auto">
          <a:xfrm>
            <a:off x="7350125" y="15240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5   4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4 3</a:t>
            </a:r>
          </a:p>
        </p:txBody>
      </p:sp>
      <p:sp>
        <p:nvSpPr>
          <p:cNvPr id="84076" name="Line 108"/>
          <p:cNvSpPr>
            <a:spLocks noChangeShapeType="1"/>
          </p:cNvSpPr>
          <p:nvPr/>
        </p:nvSpPr>
        <p:spPr bwMode="auto">
          <a:xfrm flipH="1">
            <a:off x="7807325" y="1905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77" name="Line 109"/>
          <p:cNvSpPr>
            <a:spLocks noChangeShapeType="1"/>
          </p:cNvSpPr>
          <p:nvPr/>
        </p:nvSpPr>
        <p:spPr bwMode="auto">
          <a:xfrm>
            <a:off x="8188325" y="1905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78" name="Line 110"/>
          <p:cNvSpPr>
            <a:spLocks noChangeShapeType="1"/>
          </p:cNvSpPr>
          <p:nvPr/>
        </p:nvSpPr>
        <p:spPr bwMode="auto">
          <a:xfrm flipH="1">
            <a:off x="7578725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79" name="Line 111"/>
          <p:cNvSpPr>
            <a:spLocks noChangeShapeType="1"/>
          </p:cNvSpPr>
          <p:nvPr/>
        </p:nvSpPr>
        <p:spPr bwMode="auto">
          <a:xfrm>
            <a:off x="7807325" y="2438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4080" name="Group 112"/>
          <p:cNvGraphicFramePr>
            <a:graphicFrameLocks noGrp="1"/>
          </p:cNvGraphicFramePr>
          <p:nvPr/>
        </p:nvGraphicFramePr>
        <p:xfrm>
          <a:off x="7416800" y="3200400"/>
          <a:ext cx="1304925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098" name="Freeform 130"/>
          <p:cNvSpPr>
            <a:spLocks/>
          </p:cNvSpPr>
          <p:nvPr/>
        </p:nvSpPr>
        <p:spPr bwMode="auto">
          <a:xfrm>
            <a:off x="8102600" y="1143000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099" name="Text Box 131"/>
          <p:cNvSpPr txBox="1">
            <a:spLocks noChangeArrowheads="1"/>
          </p:cNvSpPr>
          <p:nvPr/>
        </p:nvSpPr>
        <p:spPr bwMode="auto">
          <a:xfrm>
            <a:off x="390525" y="44196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5   4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4 3</a:t>
            </a:r>
          </a:p>
        </p:txBody>
      </p:sp>
      <p:sp>
        <p:nvSpPr>
          <p:cNvPr id="84102" name="Line 134"/>
          <p:cNvSpPr>
            <a:spLocks noChangeShapeType="1"/>
          </p:cNvSpPr>
          <p:nvPr/>
        </p:nvSpPr>
        <p:spPr bwMode="auto">
          <a:xfrm flipH="1">
            <a:off x="619125" y="53340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03" name="Line 135"/>
          <p:cNvSpPr>
            <a:spLocks noChangeShapeType="1"/>
          </p:cNvSpPr>
          <p:nvPr/>
        </p:nvSpPr>
        <p:spPr bwMode="auto">
          <a:xfrm>
            <a:off x="847725" y="53340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4208" name="Group 240"/>
          <p:cNvGraphicFramePr>
            <a:graphicFrameLocks noGrp="1"/>
          </p:cNvGraphicFramePr>
          <p:nvPr/>
        </p:nvGraphicFramePr>
        <p:xfrm>
          <a:off x="457200" y="6019800"/>
          <a:ext cx="1304925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121" name="Freeform 153"/>
          <p:cNvSpPr>
            <a:spLocks/>
          </p:cNvSpPr>
          <p:nvPr/>
        </p:nvSpPr>
        <p:spPr bwMode="auto">
          <a:xfrm>
            <a:off x="1066800" y="4724400"/>
            <a:ext cx="876300" cy="990600"/>
          </a:xfrm>
          <a:custGeom>
            <a:avLst/>
            <a:gdLst>
              <a:gd name="T0" fmla="*/ 0 w 552"/>
              <a:gd name="T1" fmla="*/ 2147483647 h 624"/>
              <a:gd name="T2" fmla="*/ 2147483647 w 552"/>
              <a:gd name="T3" fmla="*/ 2147483647 h 624"/>
              <a:gd name="T4" fmla="*/ 2147483647 w 552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52" h="624">
                <a:moveTo>
                  <a:pt x="0" y="624"/>
                </a:moveTo>
                <a:cubicBezTo>
                  <a:pt x="252" y="484"/>
                  <a:pt x="504" y="344"/>
                  <a:pt x="528" y="240"/>
                </a:cubicBezTo>
                <a:cubicBezTo>
                  <a:pt x="552" y="136"/>
                  <a:pt x="348" y="6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22" name="Text Box 154"/>
          <p:cNvSpPr txBox="1">
            <a:spLocks noChangeArrowheads="1"/>
          </p:cNvSpPr>
          <p:nvPr/>
        </p:nvSpPr>
        <p:spPr bwMode="auto">
          <a:xfrm>
            <a:off x="2209800" y="4386263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5   4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</a:t>
            </a:r>
          </a:p>
        </p:txBody>
      </p:sp>
      <p:sp>
        <p:nvSpPr>
          <p:cNvPr id="84123" name="Line 155"/>
          <p:cNvSpPr>
            <a:spLocks noChangeShapeType="1"/>
          </p:cNvSpPr>
          <p:nvPr/>
        </p:nvSpPr>
        <p:spPr bwMode="auto">
          <a:xfrm flipH="1">
            <a:off x="2667000" y="4767263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24" name="Line 156"/>
          <p:cNvSpPr>
            <a:spLocks noChangeShapeType="1"/>
          </p:cNvSpPr>
          <p:nvPr/>
        </p:nvSpPr>
        <p:spPr bwMode="auto">
          <a:xfrm>
            <a:off x="3048000" y="4767263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25" name="Line 157"/>
          <p:cNvSpPr>
            <a:spLocks noChangeShapeType="1"/>
          </p:cNvSpPr>
          <p:nvPr/>
        </p:nvSpPr>
        <p:spPr bwMode="auto">
          <a:xfrm flipH="1">
            <a:off x="2438400" y="530066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4144" name="Group 176"/>
          <p:cNvGraphicFramePr>
            <a:graphicFrameLocks noGrp="1"/>
          </p:cNvGraphicFramePr>
          <p:nvPr/>
        </p:nvGraphicFramePr>
        <p:xfrm>
          <a:off x="2341563" y="6019800"/>
          <a:ext cx="1087437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145" name="Freeform 177"/>
          <p:cNvSpPr>
            <a:spLocks/>
          </p:cNvSpPr>
          <p:nvPr/>
        </p:nvSpPr>
        <p:spPr bwMode="auto">
          <a:xfrm>
            <a:off x="6324600" y="2286000"/>
            <a:ext cx="177800" cy="533400"/>
          </a:xfrm>
          <a:custGeom>
            <a:avLst/>
            <a:gdLst>
              <a:gd name="T0" fmla="*/ 0 w 112"/>
              <a:gd name="T1" fmla="*/ 0 h 336"/>
              <a:gd name="T2" fmla="*/ 2147483647 w 112"/>
              <a:gd name="T3" fmla="*/ 2147483647 h 336"/>
              <a:gd name="T4" fmla="*/ 2147483647 w 112"/>
              <a:gd name="T5" fmla="*/ 2147483647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2" h="336">
                <a:moveTo>
                  <a:pt x="0" y="0"/>
                </a:moveTo>
                <a:cubicBezTo>
                  <a:pt x="40" y="44"/>
                  <a:pt x="80" y="88"/>
                  <a:pt x="96" y="144"/>
                </a:cubicBezTo>
                <a:cubicBezTo>
                  <a:pt x="112" y="200"/>
                  <a:pt x="104" y="268"/>
                  <a:pt x="96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50" name="Freeform 182"/>
          <p:cNvSpPr>
            <a:spLocks/>
          </p:cNvSpPr>
          <p:nvPr/>
        </p:nvSpPr>
        <p:spPr bwMode="auto">
          <a:xfrm>
            <a:off x="2438400" y="6281738"/>
            <a:ext cx="2286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53" name="Freeform 185"/>
          <p:cNvSpPr>
            <a:spLocks/>
          </p:cNvSpPr>
          <p:nvPr/>
        </p:nvSpPr>
        <p:spPr bwMode="auto">
          <a:xfrm>
            <a:off x="2438400" y="4572000"/>
            <a:ext cx="355600" cy="457200"/>
          </a:xfrm>
          <a:custGeom>
            <a:avLst/>
            <a:gdLst>
              <a:gd name="T0" fmla="*/ 2147483647 w 224"/>
              <a:gd name="T1" fmla="*/ 0 h 288"/>
              <a:gd name="T2" fmla="*/ 2147483647 w 224"/>
              <a:gd name="T3" fmla="*/ 2147483647 h 288"/>
              <a:gd name="T4" fmla="*/ 2147483647 w 224"/>
              <a:gd name="T5" fmla="*/ 2147483647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4" h="288">
                <a:moveTo>
                  <a:pt x="224" y="0"/>
                </a:moveTo>
                <a:cubicBezTo>
                  <a:pt x="144" y="24"/>
                  <a:pt x="64" y="48"/>
                  <a:pt x="32" y="96"/>
                </a:cubicBezTo>
                <a:cubicBezTo>
                  <a:pt x="0" y="144"/>
                  <a:pt x="16" y="216"/>
                  <a:pt x="32" y="28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54" name="Text Box 186"/>
          <p:cNvSpPr txBox="1">
            <a:spLocks noChangeArrowheads="1"/>
          </p:cNvSpPr>
          <p:nvPr/>
        </p:nvSpPr>
        <p:spPr bwMode="auto">
          <a:xfrm>
            <a:off x="3886200" y="4391025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5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en-US" sz="2400">
                <a:latin typeface="Courier New" pitchFamily="49" charset="0"/>
              </a:rPr>
              <a:t>3   4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</a:t>
            </a:r>
          </a:p>
        </p:txBody>
      </p:sp>
      <p:sp>
        <p:nvSpPr>
          <p:cNvPr id="84155" name="Line 187"/>
          <p:cNvSpPr>
            <a:spLocks noChangeShapeType="1"/>
          </p:cNvSpPr>
          <p:nvPr/>
        </p:nvSpPr>
        <p:spPr bwMode="auto">
          <a:xfrm flipH="1">
            <a:off x="4343400" y="4772025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56" name="Line 188"/>
          <p:cNvSpPr>
            <a:spLocks noChangeShapeType="1"/>
          </p:cNvSpPr>
          <p:nvPr/>
        </p:nvSpPr>
        <p:spPr bwMode="auto">
          <a:xfrm>
            <a:off x="4724400" y="4772025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57" name="Line 189"/>
          <p:cNvSpPr>
            <a:spLocks noChangeShapeType="1"/>
          </p:cNvSpPr>
          <p:nvPr/>
        </p:nvSpPr>
        <p:spPr bwMode="auto">
          <a:xfrm flipH="1">
            <a:off x="4114800" y="5305425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4158" name="Group 190"/>
          <p:cNvGraphicFramePr>
            <a:graphicFrameLocks noGrp="1"/>
          </p:cNvGraphicFramePr>
          <p:nvPr/>
        </p:nvGraphicFramePr>
        <p:xfrm>
          <a:off x="4017963" y="6019800"/>
          <a:ext cx="1087437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172" name="Freeform 204"/>
          <p:cNvSpPr>
            <a:spLocks/>
          </p:cNvSpPr>
          <p:nvPr/>
        </p:nvSpPr>
        <p:spPr bwMode="auto">
          <a:xfrm>
            <a:off x="4341813" y="6348413"/>
            <a:ext cx="382587" cy="128587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73" name="Freeform 205"/>
          <p:cNvSpPr>
            <a:spLocks/>
          </p:cNvSpPr>
          <p:nvPr/>
        </p:nvSpPr>
        <p:spPr bwMode="auto">
          <a:xfrm>
            <a:off x="3962400" y="5153025"/>
            <a:ext cx="152400" cy="381000"/>
          </a:xfrm>
          <a:custGeom>
            <a:avLst/>
            <a:gdLst>
              <a:gd name="T0" fmla="*/ 2147483647 w 224"/>
              <a:gd name="T1" fmla="*/ 0 h 288"/>
              <a:gd name="T2" fmla="*/ 2147483647 w 224"/>
              <a:gd name="T3" fmla="*/ 2147483647 h 288"/>
              <a:gd name="T4" fmla="*/ 2147483647 w 224"/>
              <a:gd name="T5" fmla="*/ 2147483647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4" h="288">
                <a:moveTo>
                  <a:pt x="224" y="0"/>
                </a:moveTo>
                <a:cubicBezTo>
                  <a:pt x="144" y="24"/>
                  <a:pt x="64" y="48"/>
                  <a:pt x="32" y="96"/>
                </a:cubicBezTo>
                <a:cubicBezTo>
                  <a:pt x="0" y="144"/>
                  <a:pt x="16" y="216"/>
                  <a:pt x="32" y="28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74" name="Text Box 206"/>
          <p:cNvSpPr txBox="1">
            <a:spLocks noChangeArrowheads="1"/>
          </p:cNvSpPr>
          <p:nvPr/>
        </p:nvSpPr>
        <p:spPr bwMode="auto">
          <a:xfrm>
            <a:off x="5486400" y="4391025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5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4   4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3</a:t>
            </a:r>
          </a:p>
        </p:txBody>
      </p:sp>
      <p:sp>
        <p:nvSpPr>
          <p:cNvPr id="84175" name="Line 207"/>
          <p:cNvSpPr>
            <a:spLocks noChangeShapeType="1"/>
          </p:cNvSpPr>
          <p:nvPr/>
        </p:nvSpPr>
        <p:spPr bwMode="auto">
          <a:xfrm flipH="1">
            <a:off x="5943600" y="4772025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76" name="Line 208"/>
          <p:cNvSpPr>
            <a:spLocks noChangeShapeType="1"/>
          </p:cNvSpPr>
          <p:nvPr/>
        </p:nvSpPr>
        <p:spPr bwMode="auto">
          <a:xfrm>
            <a:off x="6324600" y="4772025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177" name="Line 209"/>
          <p:cNvSpPr>
            <a:spLocks noChangeShapeType="1"/>
          </p:cNvSpPr>
          <p:nvPr/>
        </p:nvSpPr>
        <p:spPr bwMode="auto">
          <a:xfrm flipH="1">
            <a:off x="5715000" y="5305425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4178" name="Group 210"/>
          <p:cNvGraphicFramePr>
            <a:graphicFrameLocks noGrp="1"/>
          </p:cNvGraphicFramePr>
          <p:nvPr/>
        </p:nvGraphicFramePr>
        <p:xfrm>
          <a:off x="5618163" y="6019800"/>
          <a:ext cx="1087437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194" name="Freeform 226"/>
          <p:cNvSpPr>
            <a:spLocks/>
          </p:cNvSpPr>
          <p:nvPr/>
        </p:nvSpPr>
        <p:spPr bwMode="auto">
          <a:xfrm>
            <a:off x="6248400" y="4010025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01" name="Line 233"/>
          <p:cNvSpPr>
            <a:spLocks noChangeShapeType="1"/>
          </p:cNvSpPr>
          <p:nvPr/>
        </p:nvSpPr>
        <p:spPr bwMode="auto">
          <a:xfrm>
            <a:off x="2743200" y="518160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02" name="Line 234"/>
          <p:cNvSpPr>
            <a:spLocks noChangeShapeType="1"/>
          </p:cNvSpPr>
          <p:nvPr/>
        </p:nvSpPr>
        <p:spPr bwMode="auto">
          <a:xfrm>
            <a:off x="4648200" y="228600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03" name="Freeform 235"/>
          <p:cNvSpPr>
            <a:spLocks/>
          </p:cNvSpPr>
          <p:nvPr/>
        </p:nvSpPr>
        <p:spPr bwMode="auto">
          <a:xfrm>
            <a:off x="6030913" y="2971800"/>
            <a:ext cx="3048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04" name="Freeform 236"/>
          <p:cNvSpPr>
            <a:spLocks/>
          </p:cNvSpPr>
          <p:nvPr/>
        </p:nvSpPr>
        <p:spPr bwMode="auto">
          <a:xfrm>
            <a:off x="4497388" y="3506788"/>
            <a:ext cx="2286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05" name="Freeform 237"/>
          <p:cNvSpPr>
            <a:spLocks/>
          </p:cNvSpPr>
          <p:nvPr/>
        </p:nvSpPr>
        <p:spPr bwMode="auto">
          <a:xfrm>
            <a:off x="6648450" y="3505200"/>
            <a:ext cx="2286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206" name="Freeform 238"/>
          <p:cNvSpPr>
            <a:spLocks/>
          </p:cNvSpPr>
          <p:nvPr/>
        </p:nvSpPr>
        <p:spPr bwMode="auto">
          <a:xfrm>
            <a:off x="2654300" y="6308725"/>
            <a:ext cx="2286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98" grpId="0" animBg="1"/>
      <p:bldP spid="83999" grpId="0"/>
      <p:bldP spid="84002" grpId="0" animBg="1"/>
      <p:bldP spid="84003" grpId="0" animBg="1"/>
      <p:bldP spid="84004" grpId="0" animBg="1"/>
      <p:bldP spid="84023" grpId="0"/>
      <p:bldP spid="84024" grpId="0" animBg="1"/>
      <p:bldP spid="84025" grpId="0" animBg="1"/>
      <p:bldP spid="84026" grpId="0" animBg="1"/>
      <p:bldP spid="84027" grpId="0" animBg="1"/>
      <p:bldP spid="84048" grpId="0" animBg="1"/>
      <p:bldP spid="84049" grpId="0"/>
      <p:bldP spid="84050" grpId="0" animBg="1"/>
      <p:bldP spid="84051" grpId="0" animBg="1"/>
      <p:bldP spid="84052" grpId="0" animBg="1"/>
      <p:bldP spid="84053" grpId="0" animBg="1"/>
      <p:bldP spid="84072" grpId="0" animBg="1"/>
      <p:bldP spid="84073" grpId="0" animBg="1"/>
      <p:bldP spid="84074" grpId="0" animBg="1"/>
      <p:bldP spid="84075" grpId="0"/>
      <p:bldP spid="84076" grpId="0" animBg="1"/>
      <p:bldP spid="84077" grpId="0" animBg="1"/>
      <p:bldP spid="84078" grpId="0" animBg="1"/>
      <p:bldP spid="84079" grpId="0" animBg="1"/>
      <p:bldP spid="84098" grpId="0" animBg="1"/>
      <p:bldP spid="84099" grpId="0"/>
      <p:bldP spid="84102" grpId="0" animBg="1"/>
      <p:bldP spid="84103" grpId="0" animBg="1"/>
      <p:bldP spid="84121" grpId="0" animBg="1"/>
      <p:bldP spid="84122" grpId="0"/>
      <p:bldP spid="84123" grpId="0" animBg="1"/>
      <p:bldP spid="84124" grpId="0" animBg="1"/>
      <p:bldP spid="84125" grpId="0" animBg="1"/>
      <p:bldP spid="84145" grpId="0" animBg="1"/>
      <p:bldP spid="84150" grpId="0" animBg="1"/>
      <p:bldP spid="84153" grpId="0" animBg="1"/>
      <p:bldP spid="84154" grpId="0"/>
      <p:bldP spid="84155" grpId="0" animBg="1"/>
      <p:bldP spid="84156" grpId="0" animBg="1"/>
      <p:bldP spid="84157" grpId="0" animBg="1"/>
      <p:bldP spid="84172" grpId="0" animBg="1"/>
      <p:bldP spid="84173" grpId="0" animBg="1"/>
      <p:bldP spid="84174" grpId="0"/>
      <p:bldP spid="84175" grpId="0" animBg="1"/>
      <p:bldP spid="84176" grpId="0" animBg="1"/>
      <p:bldP spid="84177" grpId="0" animBg="1"/>
      <p:bldP spid="84194" grpId="0" animBg="1"/>
      <p:bldP spid="84201" grpId="0" animBg="1"/>
      <p:bldP spid="84201" grpId="1" animBg="1"/>
      <p:bldP spid="84202" grpId="0" animBg="1"/>
      <p:bldP spid="84202" grpId="1" animBg="1"/>
      <p:bldP spid="84203" grpId="0" animBg="1"/>
      <p:bldP spid="84203" grpId="1" animBg="1"/>
      <p:bldP spid="84204" grpId="0" animBg="1"/>
      <p:bldP spid="84204" grpId="1" animBg="1"/>
      <p:bldP spid="84205" grpId="0" animBg="1"/>
      <p:bldP spid="84205" grpId="1" animBg="1"/>
      <p:bldP spid="84206" grpId="0" animBg="1"/>
      <p:bldP spid="8420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1"/>
          <p:cNvSpPr txBox="1">
            <a:spLocks noChangeArrowheads="1"/>
          </p:cNvSpPr>
          <p:nvPr/>
        </p:nvSpPr>
        <p:spPr bwMode="auto">
          <a:xfrm>
            <a:off x="609600" y="1795463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5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4   4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3</a:t>
            </a:r>
          </a:p>
        </p:txBody>
      </p:sp>
      <p:sp>
        <p:nvSpPr>
          <p:cNvPr id="43011" name="Line 22"/>
          <p:cNvSpPr>
            <a:spLocks noChangeShapeType="1"/>
          </p:cNvSpPr>
          <p:nvPr/>
        </p:nvSpPr>
        <p:spPr bwMode="auto">
          <a:xfrm flipH="1">
            <a:off x="1066800" y="2176463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2" name="Line 23"/>
          <p:cNvSpPr>
            <a:spLocks noChangeShapeType="1"/>
          </p:cNvSpPr>
          <p:nvPr/>
        </p:nvSpPr>
        <p:spPr bwMode="auto">
          <a:xfrm>
            <a:off x="1447800" y="2176463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3" name="Line 24"/>
          <p:cNvSpPr>
            <a:spLocks noChangeShapeType="1"/>
          </p:cNvSpPr>
          <p:nvPr/>
        </p:nvSpPr>
        <p:spPr bwMode="auto">
          <a:xfrm flipH="1">
            <a:off x="838200" y="270986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5178" name="Group 186"/>
          <p:cNvGraphicFramePr>
            <a:graphicFrameLocks noGrp="1"/>
          </p:cNvGraphicFramePr>
          <p:nvPr/>
        </p:nvGraphicFramePr>
        <p:xfrm>
          <a:off x="741363" y="3429000"/>
          <a:ext cx="1027112" cy="262080"/>
        </p:xfrm>
        <a:graphic>
          <a:graphicData uri="http://schemas.openxmlformats.org/drawingml/2006/table">
            <a:tbl>
              <a:tblPr/>
              <a:tblGrid>
                <a:gridCol w="2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027" name="Freeform 39"/>
          <p:cNvSpPr>
            <a:spLocks/>
          </p:cNvSpPr>
          <p:nvPr/>
        </p:nvSpPr>
        <p:spPr bwMode="auto">
          <a:xfrm>
            <a:off x="1371600" y="1414463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32" name="Text Box 40"/>
          <p:cNvSpPr txBox="1">
            <a:spLocks noChangeArrowheads="1"/>
          </p:cNvSpPr>
          <p:nvPr/>
        </p:nvSpPr>
        <p:spPr bwMode="auto">
          <a:xfrm>
            <a:off x="2286000" y="1795463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4   4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3</a:t>
            </a:r>
          </a:p>
        </p:txBody>
      </p:sp>
      <p:sp>
        <p:nvSpPr>
          <p:cNvPr id="85035" name="Line 43"/>
          <p:cNvSpPr>
            <a:spLocks noChangeShapeType="1"/>
          </p:cNvSpPr>
          <p:nvPr/>
        </p:nvSpPr>
        <p:spPr bwMode="auto">
          <a:xfrm flipH="1">
            <a:off x="2514600" y="270986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5171" name="Group 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900715"/>
              </p:ext>
            </p:extLst>
          </p:nvPr>
        </p:nvGraphicFramePr>
        <p:xfrm>
          <a:off x="2417763" y="3429000"/>
          <a:ext cx="1087437" cy="262080"/>
        </p:xfrm>
        <a:graphic>
          <a:graphicData uri="http://schemas.openxmlformats.org/drawingml/2006/table">
            <a:tbl>
              <a:tblPr/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51" name="Freeform 59"/>
          <p:cNvSpPr>
            <a:spLocks/>
          </p:cNvSpPr>
          <p:nvPr/>
        </p:nvSpPr>
        <p:spPr bwMode="auto">
          <a:xfrm>
            <a:off x="2667000" y="2024063"/>
            <a:ext cx="1308100" cy="1066800"/>
          </a:xfrm>
          <a:custGeom>
            <a:avLst/>
            <a:gdLst>
              <a:gd name="T0" fmla="*/ 0 w 824"/>
              <a:gd name="T1" fmla="*/ 2147483647 h 672"/>
              <a:gd name="T2" fmla="*/ 2147483647 w 824"/>
              <a:gd name="T3" fmla="*/ 2147483647 h 672"/>
              <a:gd name="T4" fmla="*/ 2147483647 w 824"/>
              <a:gd name="T5" fmla="*/ 0 h 67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24" h="672">
                <a:moveTo>
                  <a:pt x="0" y="672"/>
                </a:moveTo>
                <a:cubicBezTo>
                  <a:pt x="356" y="560"/>
                  <a:pt x="712" y="448"/>
                  <a:pt x="768" y="336"/>
                </a:cubicBezTo>
                <a:cubicBezTo>
                  <a:pt x="824" y="224"/>
                  <a:pt x="580" y="112"/>
                  <a:pt x="336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52" name="Text Box 60"/>
          <p:cNvSpPr txBox="1">
            <a:spLocks noChangeArrowheads="1"/>
          </p:cNvSpPr>
          <p:nvPr/>
        </p:nvSpPr>
        <p:spPr bwMode="auto">
          <a:xfrm>
            <a:off x="4211638" y="1814513"/>
            <a:ext cx="12954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4   4</a:t>
            </a:r>
          </a:p>
        </p:txBody>
      </p:sp>
      <p:sp>
        <p:nvSpPr>
          <p:cNvPr id="85053" name="Line 61"/>
          <p:cNvSpPr>
            <a:spLocks noChangeShapeType="1"/>
          </p:cNvSpPr>
          <p:nvPr/>
        </p:nvSpPr>
        <p:spPr bwMode="auto">
          <a:xfrm flipH="1">
            <a:off x="4668838" y="2195513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54" name="Line 62"/>
          <p:cNvSpPr>
            <a:spLocks noChangeShapeType="1"/>
          </p:cNvSpPr>
          <p:nvPr/>
        </p:nvSpPr>
        <p:spPr bwMode="auto">
          <a:xfrm>
            <a:off x="5049838" y="2195513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5073" name="Group 81"/>
          <p:cNvGraphicFramePr>
            <a:graphicFrameLocks noGrp="1"/>
          </p:cNvGraphicFramePr>
          <p:nvPr/>
        </p:nvGraphicFramePr>
        <p:xfrm>
          <a:off x="4541838" y="3438525"/>
          <a:ext cx="868362" cy="262080"/>
        </p:xfrm>
        <a:graphic>
          <a:graphicData uri="http://schemas.openxmlformats.org/drawingml/2006/table">
            <a:tbl>
              <a:tblPr/>
              <a:tblGrid>
                <a:gridCol w="21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71" name="Freeform 79"/>
          <p:cNvSpPr>
            <a:spLocks/>
          </p:cNvSpPr>
          <p:nvPr/>
        </p:nvSpPr>
        <p:spPr bwMode="auto">
          <a:xfrm>
            <a:off x="4445000" y="2043113"/>
            <a:ext cx="355600" cy="457200"/>
          </a:xfrm>
          <a:custGeom>
            <a:avLst/>
            <a:gdLst>
              <a:gd name="T0" fmla="*/ 2147483647 w 224"/>
              <a:gd name="T1" fmla="*/ 0 h 288"/>
              <a:gd name="T2" fmla="*/ 2147483647 w 224"/>
              <a:gd name="T3" fmla="*/ 2147483647 h 288"/>
              <a:gd name="T4" fmla="*/ 2147483647 w 224"/>
              <a:gd name="T5" fmla="*/ 2147483647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4" h="288">
                <a:moveTo>
                  <a:pt x="224" y="0"/>
                </a:moveTo>
                <a:cubicBezTo>
                  <a:pt x="144" y="24"/>
                  <a:pt x="64" y="48"/>
                  <a:pt x="32" y="96"/>
                </a:cubicBezTo>
                <a:cubicBezTo>
                  <a:pt x="0" y="144"/>
                  <a:pt x="16" y="216"/>
                  <a:pt x="32" y="28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74" name="Text Box 82"/>
          <p:cNvSpPr txBox="1">
            <a:spLocks noChangeArrowheads="1"/>
          </p:cNvSpPr>
          <p:nvPr/>
        </p:nvSpPr>
        <p:spPr bwMode="auto">
          <a:xfrm>
            <a:off x="5689600" y="1785938"/>
            <a:ext cx="12954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3   4</a:t>
            </a:r>
          </a:p>
        </p:txBody>
      </p:sp>
      <p:sp>
        <p:nvSpPr>
          <p:cNvPr id="85075" name="Line 83"/>
          <p:cNvSpPr>
            <a:spLocks noChangeShapeType="1"/>
          </p:cNvSpPr>
          <p:nvPr/>
        </p:nvSpPr>
        <p:spPr bwMode="auto">
          <a:xfrm flipH="1">
            <a:off x="6146800" y="2166938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76" name="Line 84"/>
          <p:cNvSpPr>
            <a:spLocks noChangeShapeType="1"/>
          </p:cNvSpPr>
          <p:nvPr/>
        </p:nvSpPr>
        <p:spPr bwMode="auto">
          <a:xfrm>
            <a:off x="6527800" y="2166938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5180" name="Group 188"/>
          <p:cNvGraphicFramePr>
            <a:graphicFrameLocks noGrp="1"/>
          </p:cNvGraphicFramePr>
          <p:nvPr/>
        </p:nvGraphicFramePr>
        <p:xfrm>
          <a:off x="6019800" y="3429000"/>
          <a:ext cx="868363" cy="262080"/>
        </p:xfrm>
        <a:graphic>
          <a:graphicData uri="http://schemas.openxmlformats.org/drawingml/2006/table">
            <a:tbl>
              <a:tblPr/>
              <a:tblGrid>
                <a:gridCol w="21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90" name="Freeform 98"/>
          <p:cNvSpPr>
            <a:spLocks/>
          </p:cNvSpPr>
          <p:nvPr/>
        </p:nvSpPr>
        <p:spPr bwMode="auto">
          <a:xfrm>
            <a:off x="6477000" y="1371600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91" name="Text Box 99"/>
          <p:cNvSpPr txBox="1">
            <a:spLocks noChangeArrowheads="1"/>
          </p:cNvSpPr>
          <p:nvPr/>
        </p:nvSpPr>
        <p:spPr bwMode="auto">
          <a:xfrm>
            <a:off x="7162800" y="1828800"/>
            <a:ext cx="12954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3   4</a:t>
            </a:r>
          </a:p>
        </p:txBody>
      </p:sp>
      <p:graphicFrame>
        <p:nvGraphicFramePr>
          <p:cNvPr id="85179" name="Group 187"/>
          <p:cNvGraphicFramePr>
            <a:graphicFrameLocks noGrp="1"/>
          </p:cNvGraphicFramePr>
          <p:nvPr/>
        </p:nvGraphicFramePr>
        <p:xfrm>
          <a:off x="7493000" y="3429000"/>
          <a:ext cx="868363" cy="262080"/>
        </p:xfrm>
        <a:graphic>
          <a:graphicData uri="http://schemas.openxmlformats.org/drawingml/2006/table">
            <a:tbl>
              <a:tblPr/>
              <a:tblGrid>
                <a:gridCol w="21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106" name="Freeform 114"/>
          <p:cNvSpPr>
            <a:spLocks/>
          </p:cNvSpPr>
          <p:nvPr/>
        </p:nvSpPr>
        <p:spPr bwMode="auto">
          <a:xfrm>
            <a:off x="8001000" y="2057400"/>
            <a:ext cx="622300" cy="533400"/>
          </a:xfrm>
          <a:custGeom>
            <a:avLst/>
            <a:gdLst>
              <a:gd name="T0" fmla="*/ 2147483647 w 392"/>
              <a:gd name="T1" fmla="*/ 2147483647 h 336"/>
              <a:gd name="T2" fmla="*/ 2147483647 w 392"/>
              <a:gd name="T3" fmla="*/ 2147483647 h 336"/>
              <a:gd name="T4" fmla="*/ 2147483647 w 392"/>
              <a:gd name="T5" fmla="*/ 2147483647 h 336"/>
              <a:gd name="T6" fmla="*/ 0 w 392"/>
              <a:gd name="T7" fmla="*/ 0 h 33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92" h="336">
                <a:moveTo>
                  <a:pt x="240" y="336"/>
                </a:moveTo>
                <a:cubicBezTo>
                  <a:pt x="308" y="336"/>
                  <a:pt x="376" y="336"/>
                  <a:pt x="384" y="288"/>
                </a:cubicBezTo>
                <a:cubicBezTo>
                  <a:pt x="392" y="240"/>
                  <a:pt x="352" y="96"/>
                  <a:pt x="288" y="48"/>
                </a:cubicBezTo>
                <a:cubicBezTo>
                  <a:pt x="224" y="0"/>
                  <a:pt x="112" y="0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122" name="Text Box 130"/>
          <p:cNvSpPr txBox="1">
            <a:spLocks noChangeArrowheads="1"/>
          </p:cNvSpPr>
          <p:nvPr/>
        </p:nvSpPr>
        <p:spPr bwMode="auto">
          <a:xfrm>
            <a:off x="660400" y="4681538"/>
            <a:ext cx="12954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3</a:t>
            </a:r>
          </a:p>
        </p:txBody>
      </p:sp>
      <p:sp>
        <p:nvSpPr>
          <p:cNvPr id="85123" name="Line 131"/>
          <p:cNvSpPr>
            <a:spLocks noChangeShapeType="1"/>
          </p:cNvSpPr>
          <p:nvPr/>
        </p:nvSpPr>
        <p:spPr bwMode="auto">
          <a:xfrm flipH="1">
            <a:off x="1117600" y="5062538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5138" name="Group 146"/>
          <p:cNvGraphicFramePr>
            <a:graphicFrameLocks noGrp="1"/>
          </p:cNvGraphicFramePr>
          <p:nvPr/>
        </p:nvGraphicFramePr>
        <p:xfrm>
          <a:off x="990600" y="6124575"/>
          <a:ext cx="650875" cy="262080"/>
        </p:xfrm>
        <a:graphic>
          <a:graphicData uri="http://schemas.openxmlformats.org/drawingml/2006/table">
            <a:tbl>
              <a:tblPr/>
              <a:tblGrid>
                <a:gridCol w="21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098" name="Rectangle 147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7772400" cy="666750"/>
          </a:xfr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 sz="3600"/>
              <a:t>Series of dequeuings (2)</a:t>
            </a:r>
          </a:p>
        </p:txBody>
      </p:sp>
      <p:sp>
        <p:nvSpPr>
          <p:cNvPr id="85140" name="Freeform 148"/>
          <p:cNvSpPr>
            <a:spLocks/>
          </p:cNvSpPr>
          <p:nvPr/>
        </p:nvSpPr>
        <p:spPr bwMode="auto">
          <a:xfrm>
            <a:off x="1447800" y="4267200"/>
            <a:ext cx="228600" cy="457200"/>
          </a:xfrm>
          <a:custGeom>
            <a:avLst/>
            <a:gdLst>
              <a:gd name="T0" fmla="*/ 2147483647 w 144"/>
              <a:gd name="T1" fmla="*/ 0 h 432"/>
              <a:gd name="T2" fmla="*/ 2147483647 w 144"/>
              <a:gd name="T3" fmla="*/ 2147483647 h 432"/>
              <a:gd name="T4" fmla="*/ 0 w 144"/>
              <a:gd name="T5" fmla="*/ 2147483647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32">
                <a:moveTo>
                  <a:pt x="144" y="0"/>
                </a:moveTo>
                <a:cubicBezTo>
                  <a:pt x="108" y="60"/>
                  <a:pt x="72" y="120"/>
                  <a:pt x="48" y="192"/>
                </a:cubicBezTo>
                <a:cubicBezTo>
                  <a:pt x="24" y="264"/>
                  <a:pt x="8" y="392"/>
                  <a:pt x="0" y="432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141" name="Text Box 149"/>
          <p:cNvSpPr txBox="1">
            <a:spLocks noChangeArrowheads="1"/>
          </p:cNvSpPr>
          <p:nvPr/>
        </p:nvSpPr>
        <p:spPr bwMode="auto">
          <a:xfrm>
            <a:off x="2362200" y="4710113"/>
            <a:ext cx="12954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3</a:t>
            </a:r>
          </a:p>
        </p:txBody>
      </p:sp>
      <p:graphicFrame>
        <p:nvGraphicFramePr>
          <p:cNvPr id="85143" name="Group 151"/>
          <p:cNvGraphicFramePr>
            <a:graphicFrameLocks noGrp="1"/>
          </p:cNvGraphicFramePr>
          <p:nvPr/>
        </p:nvGraphicFramePr>
        <p:xfrm>
          <a:off x="2692400" y="6138863"/>
          <a:ext cx="650875" cy="262080"/>
        </p:xfrm>
        <a:graphic>
          <a:graphicData uri="http://schemas.openxmlformats.org/drawingml/2006/table">
            <a:tbl>
              <a:tblPr/>
              <a:tblGrid>
                <a:gridCol w="21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153" name="Freeform 161"/>
          <p:cNvSpPr>
            <a:spLocks/>
          </p:cNvSpPr>
          <p:nvPr/>
        </p:nvSpPr>
        <p:spPr bwMode="auto">
          <a:xfrm>
            <a:off x="2895600" y="5014913"/>
            <a:ext cx="495300" cy="457200"/>
          </a:xfrm>
          <a:custGeom>
            <a:avLst/>
            <a:gdLst>
              <a:gd name="T0" fmla="*/ 0 w 312"/>
              <a:gd name="T1" fmla="*/ 2147483647 h 288"/>
              <a:gd name="T2" fmla="*/ 2147483647 w 312"/>
              <a:gd name="T3" fmla="*/ 2147483647 h 288"/>
              <a:gd name="T4" fmla="*/ 2147483647 w 312"/>
              <a:gd name="T5" fmla="*/ 0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2" h="288">
                <a:moveTo>
                  <a:pt x="0" y="288"/>
                </a:moveTo>
                <a:cubicBezTo>
                  <a:pt x="132" y="240"/>
                  <a:pt x="264" y="192"/>
                  <a:pt x="288" y="144"/>
                </a:cubicBezTo>
                <a:cubicBezTo>
                  <a:pt x="312" y="96"/>
                  <a:pt x="228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154" name="Text Box 162"/>
          <p:cNvSpPr txBox="1">
            <a:spLocks noChangeArrowheads="1"/>
          </p:cNvSpPr>
          <p:nvPr/>
        </p:nvSpPr>
        <p:spPr bwMode="auto">
          <a:xfrm>
            <a:off x="4343400" y="46482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3</a:t>
            </a:r>
          </a:p>
        </p:txBody>
      </p:sp>
      <p:graphicFrame>
        <p:nvGraphicFramePr>
          <p:cNvPr id="85167" name="Group 175"/>
          <p:cNvGraphicFramePr>
            <a:graphicFrameLocks noGrp="1"/>
          </p:cNvGraphicFramePr>
          <p:nvPr/>
        </p:nvGraphicFramePr>
        <p:xfrm>
          <a:off x="4673600" y="6138863"/>
          <a:ext cx="434975" cy="262080"/>
        </p:xfrm>
        <a:graphic>
          <a:graphicData uri="http://schemas.openxmlformats.org/drawingml/2006/table">
            <a:tbl>
              <a:tblPr/>
              <a:tblGrid>
                <a:gridCol w="21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20" marB="91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L="9144" marR="9144" marT="9120" marB="91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173" name="Freeform 181"/>
          <p:cNvSpPr>
            <a:spLocks/>
          </p:cNvSpPr>
          <p:nvPr/>
        </p:nvSpPr>
        <p:spPr bwMode="auto">
          <a:xfrm>
            <a:off x="4648200" y="3733800"/>
            <a:ext cx="228600" cy="76200"/>
          </a:xfrm>
          <a:custGeom>
            <a:avLst/>
            <a:gdLst>
              <a:gd name="T0" fmla="*/ 0 w 144"/>
              <a:gd name="T1" fmla="*/ 0 h 48"/>
              <a:gd name="T2" fmla="*/ 2147483647 w 144"/>
              <a:gd name="T3" fmla="*/ 2147483647 h 48"/>
              <a:gd name="T4" fmla="*/ 2147483647 w 144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48">
                <a:moveTo>
                  <a:pt x="0" y="0"/>
                </a:moveTo>
                <a:cubicBezTo>
                  <a:pt x="12" y="24"/>
                  <a:pt x="24" y="48"/>
                  <a:pt x="48" y="48"/>
                </a:cubicBezTo>
                <a:cubicBezTo>
                  <a:pt x="72" y="48"/>
                  <a:pt x="108" y="24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175" name="Line 183"/>
          <p:cNvSpPr>
            <a:spLocks noChangeShapeType="1"/>
          </p:cNvSpPr>
          <p:nvPr/>
        </p:nvSpPr>
        <p:spPr bwMode="auto">
          <a:xfrm>
            <a:off x="4724400" y="259080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177" name="Freeform 185"/>
          <p:cNvSpPr>
            <a:spLocks/>
          </p:cNvSpPr>
          <p:nvPr/>
        </p:nvSpPr>
        <p:spPr bwMode="auto">
          <a:xfrm>
            <a:off x="4843463" y="3698875"/>
            <a:ext cx="2286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32" grpId="0"/>
      <p:bldP spid="85035" grpId="0" animBg="1"/>
      <p:bldP spid="85051" grpId="0" animBg="1"/>
      <p:bldP spid="85052" grpId="0"/>
      <p:bldP spid="85053" grpId="0" animBg="1"/>
      <p:bldP spid="85054" grpId="0" animBg="1"/>
      <p:bldP spid="85071" grpId="0" animBg="1"/>
      <p:bldP spid="85074" grpId="0"/>
      <p:bldP spid="85075" grpId="0" animBg="1"/>
      <p:bldP spid="85076" grpId="0" animBg="1"/>
      <p:bldP spid="85090" grpId="0" animBg="1"/>
      <p:bldP spid="85091" grpId="0"/>
      <p:bldP spid="85106" grpId="0" animBg="1"/>
      <p:bldP spid="85122" grpId="0"/>
      <p:bldP spid="85123" grpId="0" animBg="1"/>
      <p:bldP spid="85140" grpId="0" animBg="1"/>
      <p:bldP spid="85141" grpId="0"/>
      <p:bldP spid="85153" grpId="0" animBg="1"/>
      <p:bldP spid="85154" grpId="0"/>
      <p:bldP spid="85173" grpId="0" animBg="1"/>
      <p:bldP spid="85175" grpId="0" animBg="1"/>
      <p:bldP spid="85175" grpId="1" animBg="1"/>
      <p:bldP spid="85177" grpId="0" animBg="1"/>
      <p:bldP spid="8517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615950" y="609600"/>
            <a:ext cx="7988300" cy="706438"/>
          </a:xfr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 sz="3600"/>
              <a:t>Organizing arrays as heaps</a:t>
            </a:r>
          </a:p>
        </p:txBody>
      </p:sp>
      <p:sp>
        <p:nvSpPr>
          <p:cNvPr id="44035" name="Rectangle 32"/>
          <p:cNvSpPr>
            <a:spLocks noChangeArrowheads="1"/>
          </p:cNvSpPr>
          <p:nvPr/>
        </p:nvSpPr>
        <p:spPr bwMode="auto">
          <a:xfrm>
            <a:off x="615950" y="2276475"/>
            <a:ext cx="7904163" cy="2239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b="0">
                <a:latin typeface="Courier New" pitchFamily="49" charset="0"/>
              </a:rPr>
              <a:t>FloydAlgorithm(data[])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b="0"/>
              <a:t>    </a:t>
            </a:r>
            <a:r>
              <a:rPr lang="en-US" b="0">
                <a:latin typeface="Courier New" pitchFamily="49" charset="0"/>
              </a:rPr>
              <a:t>for</a:t>
            </a:r>
            <a:r>
              <a:rPr lang="en-US" b="0"/>
              <a:t> </a:t>
            </a:r>
            <a:r>
              <a:rPr lang="en-US" b="0">
                <a:latin typeface="Courier New" pitchFamily="49" charset="0"/>
              </a:rPr>
              <a:t>i</a:t>
            </a:r>
            <a:r>
              <a:rPr lang="en-US" b="0"/>
              <a:t> = </a:t>
            </a:r>
            <a:r>
              <a:rPr lang="en-US" b="0" i="1"/>
              <a:t>index of the last nonleaf</a:t>
            </a:r>
            <a:r>
              <a:rPr lang="en-US" b="0"/>
              <a:t>, </a:t>
            </a:r>
            <a:r>
              <a:rPr lang="en-US" b="0" i="1"/>
              <a:t>down to</a:t>
            </a:r>
            <a:r>
              <a:rPr lang="en-US" b="0"/>
              <a:t> 0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b="0"/>
              <a:t>        </a:t>
            </a:r>
            <a:r>
              <a:rPr lang="en-US" b="0">
                <a:latin typeface="Courier New" pitchFamily="49" charset="0"/>
              </a:rPr>
              <a:t>p</a:t>
            </a:r>
            <a:r>
              <a:rPr lang="en-US" b="0"/>
              <a:t> = </a:t>
            </a:r>
            <a:r>
              <a:rPr lang="en-US" b="0">
                <a:latin typeface="Courier New" pitchFamily="49" charset="0"/>
              </a:rPr>
              <a:t>data[i];</a:t>
            </a:r>
            <a:r>
              <a:rPr lang="en-US" b="0" i="1">
                <a:latin typeface="Courier New" pitchFamily="49" charset="0"/>
              </a:rPr>
              <a:t> </a:t>
            </a:r>
            <a:endParaRPr lang="en-US" b="0">
              <a:latin typeface="Courier New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b="0"/>
              <a:t>        </a:t>
            </a:r>
            <a:r>
              <a:rPr lang="en-US" b="0">
                <a:latin typeface="Courier New" pitchFamily="49" charset="0"/>
              </a:rPr>
              <a:t>while</a:t>
            </a:r>
            <a:r>
              <a:rPr lang="en-US" b="0"/>
              <a:t> </a:t>
            </a:r>
            <a:r>
              <a:rPr lang="en-US" b="0">
                <a:latin typeface="Courier New" pitchFamily="49" charset="0"/>
              </a:rPr>
              <a:t>p</a:t>
            </a:r>
            <a:r>
              <a:rPr lang="en-US" b="0"/>
              <a:t> </a:t>
            </a:r>
            <a:r>
              <a:rPr lang="en-US" b="0" i="1"/>
              <a:t>is not a leaf and</a:t>
            </a:r>
            <a:r>
              <a:rPr lang="en-US" b="0"/>
              <a:t> </a:t>
            </a:r>
            <a:r>
              <a:rPr lang="en-US" b="0">
                <a:latin typeface="Courier New" pitchFamily="49" charset="0"/>
              </a:rPr>
              <a:t>p</a:t>
            </a:r>
            <a:r>
              <a:rPr lang="en-US" b="0"/>
              <a:t> &lt; </a:t>
            </a:r>
            <a:r>
              <a:rPr lang="en-US" b="0" i="1"/>
              <a:t>any of its children</a:t>
            </a:r>
            <a:endParaRPr lang="en-US" b="0"/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b="0"/>
              <a:t>            </a:t>
            </a:r>
            <a:r>
              <a:rPr lang="en-US" b="0" i="1"/>
              <a:t>swap</a:t>
            </a:r>
            <a:r>
              <a:rPr lang="en-US" b="0"/>
              <a:t> </a:t>
            </a:r>
            <a:r>
              <a:rPr lang="en-US" b="0">
                <a:latin typeface="Courier New" pitchFamily="49" charset="0"/>
              </a:rPr>
              <a:t>p</a:t>
            </a:r>
            <a:r>
              <a:rPr lang="en-US" b="0"/>
              <a:t> </a:t>
            </a:r>
            <a:r>
              <a:rPr lang="en-US" b="0" i="1"/>
              <a:t>with the larger child</a:t>
            </a:r>
            <a:r>
              <a:rPr lang="en-US" b="0">
                <a:latin typeface="Courier New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336550"/>
            <a:ext cx="7772400" cy="647700"/>
          </a:xfr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3600"/>
              <a:t>Organizing arrays as heaps: example</a:t>
            </a:r>
          </a:p>
        </p:txBody>
      </p:sp>
      <p:graphicFrame>
        <p:nvGraphicFramePr>
          <p:cNvPr id="86243" name="Group 227"/>
          <p:cNvGraphicFramePr>
            <a:graphicFrameLocks noGrp="1"/>
          </p:cNvGraphicFramePr>
          <p:nvPr/>
        </p:nvGraphicFramePr>
        <p:xfrm>
          <a:off x="1905000" y="297180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075" name="Text Box 23"/>
          <p:cNvSpPr txBox="1">
            <a:spLocks noChangeArrowheads="1"/>
          </p:cNvSpPr>
          <p:nvPr/>
        </p:nvSpPr>
        <p:spPr bwMode="auto">
          <a:xfrm>
            <a:off x="1981200" y="12954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6   3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7 5 4</a:t>
            </a:r>
          </a:p>
        </p:txBody>
      </p:sp>
      <p:sp>
        <p:nvSpPr>
          <p:cNvPr id="45076" name="Line 24"/>
          <p:cNvSpPr>
            <a:spLocks noChangeShapeType="1"/>
          </p:cNvSpPr>
          <p:nvPr/>
        </p:nvSpPr>
        <p:spPr bwMode="auto">
          <a:xfrm flipH="1">
            <a:off x="2438400" y="1676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7" name="Line 25"/>
          <p:cNvSpPr>
            <a:spLocks noChangeShapeType="1"/>
          </p:cNvSpPr>
          <p:nvPr/>
        </p:nvSpPr>
        <p:spPr bwMode="auto">
          <a:xfrm>
            <a:off x="2819400" y="16764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8" name="Line 26"/>
          <p:cNvSpPr>
            <a:spLocks noChangeShapeType="1"/>
          </p:cNvSpPr>
          <p:nvPr/>
        </p:nvSpPr>
        <p:spPr bwMode="auto">
          <a:xfrm flipH="1">
            <a:off x="2209800" y="2209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9" name="Line 27"/>
          <p:cNvSpPr>
            <a:spLocks noChangeShapeType="1"/>
          </p:cNvSpPr>
          <p:nvPr/>
        </p:nvSpPr>
        <p:spPr bwMode="auto">
          <a:xfrm>
            <a:off x="2438400" y="2209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0" name="Line 28"/>
          <p:cNvSpPr>
            <a:spLocks noChangeShapeType="1"/>
          </p:cNvSpPr>
          <p:nvPr/>
        </p:nvSpPr>
        <p:spPr bwMode="auto">
          <a:xfrm flipH="1">
            <a:off x="2971800" y="2209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45" name="Line 29"/>
          <p:cNvSpPr>
            <a:spLocks noChangeShapeType="1"/>
          </p:cNvSpPr>
          <p:nvPr/>
        </p:nvSpPr>
        <p:spPr bwMode="auto">
          <a:xfrm>
            <a:off x="2438400" y="3352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46" name="Text Box 30"/>
          <p:cNvSpPr txBox="1">
            <a:spLocks noChangeArrowheads="1"/>
          </p:cNvSpPr>
          <p:nvPr/>
        </p:nvSpPr>
        <p:spPr bwMode="auto">
          <a:xfrm>
            <a:off x="1614488" y="3492500"/>
            <a:ext cx="1752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000" b="0">
                <a:latin typeface="Arial Unicode MS" pitchFamily="34" charset="-128"/>
              </a:rPr>
              <a:t>last nonleaf</a:t>
            </a:r>
          </a:p>
        </p:txBody>
      </p:sp>
      <p:sp>
        <p:nvSpPr>
          <p:cNvPr id="86049" name="Text Box 33"/>
          <p:cNvSpPr txBox="1">
            <a:spLocks noChangeArrowheads="1"/>
          </p:cNvSpPr>
          <p:nvPr/>
        </p:nvSpPr>
        <p:spPr bwMode="auto">
          <a:xfrm>
            <a:off x="3962400" y="12954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7 5 4</a:t>
            </a:r>
          </a:p>
        </p:txBody>
      </p:sp>
      <p:sp>
        <p:nvSpPr>
          <p:cNvPr id="86054" name="Line 38"/>
          <p:cNvSpPr>
            <a:spLocks noChangeShapeType="1"/>
          </p:cNvSpPr>
          <p:nvPr/>
        </p:nvSpPr>
        <p:spPr bwMode="auto">
          <a:xfrm flipH="1">
            <a:off x="4953000" y="2209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55" name="Freeform 39"/>
          <p:cNvSpPr>
            <a:spLocks/>
          </p:cNvSpPr>
          <p:nvPr/>
        </p:nvSpPr>
        <p:spPr bwMode="auto">
          <a:xfrm>
            <a:off x="5029200" y="2057400"/>
            <a:ext cx="254000" cy="533400"/>
          </a:xfrm>
          <a:custGeom>
            <a:avLst/>
            <a:gdLst>
              <a:gd name="T0" fmla="*/ 2147483647 w 160"/>
              <a:gd name="T1" fmla="*/ 0 h 336"/>
              <a:gd name="T2" fmla="*/ 2147483647 w 160"/>
              <a:gd name="T3" fmla="*/ 2147483647 h 336"/>
              <a:gd name="T4" fmla="*/ 0 w 160"/>
              <a:gd name="T5" fmla="*/ 2147483647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0" h="336">
                <a:moveTo>
                  <a:pt x="96" y="0"/>
                </a:moveTo>
                <a:cubicBezTo>
                  <a:pt x="128" y="92"/>
                  <a:pt x="160" y="184"/>
                  <a:pt x="144" y="240"/>
                </a:cubicBezTo>
                <a:cubicBezTo>
                  <a:pt x="128" y="296"/>
                  <a:pt x="64" y="316"/>
                  <a:pt x="0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6247" name="Group 231"/>
          <p:cNvGraphicFramePr>
            <a:graphicFrameLocks noGrp="1"/>
          </p:cNvGraphicFramePr>
          <p:nvPr/>
        </p:nvGraphicFramePr>
        <p:xfrm>
          <a:off x="4038600" y="297180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074" name="Freeform 58"/>
          <p:cNvSpPr>
            <a:spLocks/>
          </p:cNvSpPr>
          <p:nvPr/>
        </p:nvSpPr>
        <p:spPr bwMode="auto">
          <a:xfrm>
            <a:off x="4572000" y="3352800"/>
            <a:ext cx="609600" cy="76200"/>
          </a:xfrm>
          <a:custGeom>
            <a:avLst/>
            <a:gdLst>
              <a:gd name="T0" fmla="*/ 0 w 384"/>
              <a:gd name="T1" fmla="*/ 0 h 48"/>
              <a:gd name="T2" fmla="*/ 2147483647 w 384"/>
              <a:gd name="T3" fmla="*/ 2147483647 h 48"/>
              <a:gd name="T4" fmla="*/ 2147483647 w 384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4" h="48">
                <a:moveTo>
                  <a:pt x="0" y="0"/>
                </a:moveTo>
                <a:cubicBezTo>
                  <a:pt x="64" y="24"/>
                  <a:pt x="128" y="48"/>
                  <a:pt x="192" y="48"/>
                </a:cubicBezTo>
                <a:cubicBezTo>
                  <a:pt x="256" y="48"/>
                  <a:pt x="320" y="24"/>
                  <a:pt x="38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75" name="Text Box 59"/>
          <p:cNvSpPr txBox="1">
            <a:spLocks noChangeArrowheads="1"/>
          </p:cNvSpPr>
          <p:nvPr/>
        </p:nvSpPr>
        <p:spPr bwMode="auto">
          <a:xfrm>
            <a:off x="6629400" y="1828800"/>
            <a:ext cx="6858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3</a:t>
            </a:r>
          </a:p>
        </p:txBody>
      </p:sp>
      <p:sp>
        <p:nvSpPr>
          <p:cNvPr id="86076" name="Line 60"/>
          <p:cNvSpPr>
            <a:spLocks noChangeShapeType="1"/>
          </p:cNvSpPr>
          <p:nvPr/>
        </p:nvSpPr>
        <p:spPr bwMode="auto">
          <a:xfrm flipH="1">
            <a:off x="6858000" y="2209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6251" name="Group 235"/>
          <p:cNvGraphicFramePr>
            <a:graphicFrameLocks noGrp="1"/>
          </p:cNvGraphicFramePr>
          <p:nvPr/>
        </p:nvGraphicFramePr>
        <p:xfrm>
          <a:off x="5943600" y="297180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098" name="Line 82"/>
          <p:cNvSpPr>
            <a:spLocks noChangeShapeType="1"/>
          </p:cNvSpPr>
          <p:nvPr/>
        </p:nvSpPr>
        <p:spPr bwMode="auto">
          <a:xfrm flipH="1">
            <a:off x="6096000" y="2209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99" name="Line 83"/>
          <p:cNvSpPr>
            <a:spLocks noChangeShapeType="1"/>
          </p:cNvSpPr>
          <p:nvPr/>
        </p:nvSpPr>
        <p:spPr bwMode="auto">
          <a:xfrm>
            <a:off x="6324600" y="2209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00" name="Text Box 84"/>
          <p:cNvSpPr txBox="1">
            <a:spLocks noChangeArrowheads="1"/>
          </p:cNvSpPr>
          <p:nvPr/>
        </p:nvSpPr>
        <p:spPr bwMode="auto">
          <a:xfrm>
            <a:off x="5867400" y="1828800"/>
            <a:ext cx="8382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7 5</a:t>
            </a:r>
          </a:p>
        </p:txBody>
      </p:sp>
      <p:sp>
        <p:nvSpPr>
          <p:cNvPr id="86101" name="Line 85"/>
          <p:cNvSpPr>
            <a:spLocks noChangeShapeType="1"/>
          </p:cNvSpPr>
          <p:nvPr/>
        </p:nvSpPr>
        <p:spPr bwMode="auto">
          <a:xfrm>
            <a:off x="6248400" y="3352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28" name="Freeform 112"/>
          <p:cNvSpPr>
            <a:spLocks/>
          </p:cNvSpPr>
          <p:nvPr/>
        </p:nvSpPr>
        <p:spPr bwMode="auto">
          <a:xfrm>
            <a:off x="5829300" y="2057400"/>
            <a:ext cx="342900" cy="533400"/>
          </a:xfrm>
          <a:custGeom>
            <a:avLst/>
            <a:gdLst>
              <a:gd name="T0" fmla="*/ 2147483647 w 216"/>
              <a:gd name="T1" fmla="*/ 0 h 336"/>
              <a:gd name="T2" fmla="*/ 2147483647 w 216"/>
              <a:gd name="T3" fmla="*/ 2147483647 h 336"/>
              <a:gd name="T4" fmla="*/ 2147483647 w 216"/>
              <a:gd name="T5" fmla="*/ 2147483647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29" name="Text Box 113"/>
          <p:cNvSpPr txBox="1">
            <a:spLocks noChangeArrowheads="1"/>
          </p:cNvSpPr>
          <p:nvPr/>
        </p:nvSpPr>
        <p:spPr bwMode="auto">
          <a:xfrm>
            <a:off x="2362200" y="4724400"/>
            <a:ext cx="6858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3</a:t>
            </a:r>
          </a:p>
        </p:txBody>
      </p:sp>
      <p:sp>
        <p:nvSpPr>
          <p:cNvPr id="86130" name="Line 114"/>
          <p:cNvSpPr>
            <a:spLocks noChangeShapeType="1"/>
          </p:cNvSpPr>
          <p:nvPr/>
        </p:nvSpPr>
        <p:spPr bwMode="auto">
          <a:xfrm flipH="1">
            <a:off x="2590800" y="5105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6255" name="Group 239"/>
          <p:cNvGraphicFramePr>
            <a:graphicFrameLocks noGrp="1"/>
          </p:cNvGraphicFramePr>
          <p:nvPr/>
        </p:nvGraphicFramePr>
        <p:xfrm>
          <a:off x="1676400" y="594360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149" name="Line 133"/>
          <p:cNvSpPr>
            <a:spLocks noChangeShapeType="1"/>
          </p:cNvSpPr>
          <p:nvPr/>
        </p:nvSpPr>
        <p:spPr bwMode="auto">
          <a:xfrm flipH="1">
            <a:off x="1828800" y="5105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50" name="Line 134"/>
          <p:cNvSpPr>
            <a:spLocks noChangeShapeType="1"/>
          </p:cNvSpPr>
          <p:nvPr/>
        </p:nvSpPr>
        <p:spPr bwMode="auto">
          <a:xfrm>
            <a:off x="2057400" y="5105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51" name="Text Box 135"/>
          <p:cNvSpPr txBox="1">
            <a:spLocks noChangeArrowheads="1"/>
          </p:cNvSpPr>
          <p:nvPr/>
        </p:nvSpPr>
        <p:spPr bwMode="auto">
          <a:xfrm>
            <a:off x="1600200" y="4724400"/>
            <a:ext cx="8382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6 5</a:t>
            </a:r>
          </a:p>
        </p:txBody>
      </p:sp>
      <p:sp>
        <p:nvSpPr>
          <p:cNvPr id="86154" name="Freeform 138"/>
          <p:cNvSpPr>
            <a:spLocks/>
          </p:cNvSpPr>
          <p:nvPr/>
        </p:nvSpPr>
        <p:spPr bwMode="auto">
          <a:xfrm>
            <a:off x="6248400" y="3352800"/>
            <a:ext cx="457200" cy="76200"/>
          </a:xfrm>
          <a:custGeom>
            <a:avLst/>
            <a:gdLst>
              <a:gd name="T0" fmla="*/ 0 w 288"/>
              <a:gd name="T1" fmla="*/ 0 h 48"/>
              <a:gd name="T2" fmla="*/ 2147483647 w 288"/>
              <a:gd name="T3" fmla="*/ 2147483647 h 48"/>
              <a:gd name="T4" fmla="*/ 2147483647 w 288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48">
                <a:moveTo>
                  <a:pt x="0" y="0"/>
                </a:moveTo>
                <a:cubicBezTo>
                  <a:pt x="48" y="24"/>
                  <a:pt x="96" y="48"/>
                  <a:pt x="144" y="48"/>
                </a:cubicBezTo>
                <a:cubicBezTo>
                  <a:pt x="192" y="48"/>
                  <a:pt x="240" y="24"/>
                  <a:pt x="288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55" name="Line 139"/>
          <p:cNvSpPr>
            <a:spLocks noChangeShapeType="1"/>
          </p:cNvSpPr>
          <p:nvPr/>
        </p:nvSpPr>
        <p:spPr bwMode="auto">
          <a:xfrm>
            <a:off x="1752600" y="62484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56" name="Text Box 140"/>
          <p:cNvSpPr txBox="1">
            <a:spLocks noChangeArrowheads="1"/>
          </p:cNvSpPr>
          <p:nvPr/>
        </p:nvSpPr>
        <p:spPr bwMode="auto">
          <a:xfrm>
            <a:off x="1600200" y="41910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4</a:t>
            </a:r>
          </a:p>
        </p:txBody>
      </p:sp>
      <p:sp>
        <p:nvSpPr>
          <p:cNvPr id="86157" name="Line 141"/>
          <p:cNvSpPr>
            <a:spLocks noChangeShapeType="1"/>
          </p:cNvSpPr>
          <p:nvPr/>
        </p:nvSpPr>
        <p:spPr bwMode="auto">
          <a:xfrm flipH="1">
            <a:off x="2057400" y="4572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58" name="Line 142"/>
          <p:cNvSpPr>
            <a:spLocks noChangeShapeType="1"/>
          </p:cNvSpPr>
          <p:nvPr/>
        </p:nvSpPr>
        <p:spPr bwMode="auto">
          <a:xfrm>
            <a:off x="2438400" y="4572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62" name="Freeform 146"/>
          <p:cNvSpPr>
            <a:spLocks/>
          </p:cNvSpPr>
          <p:nvPr/>
        </p:nvSpPr>
        <p:spPr bwMode="auto">
          <a:xfrm>
            <a:off x="1752600" y="4343400"/>
            <a:ext cx="457200" cy="457200"/>
          </a:xfrm>
          <a:custGeom>
            <a:avLst/>
            <a:gdLst>
              <a:gd name="T0" fmla="*/ 2147483647 w 216"/>
              <a:gd name="T1" fmla="*/ 0 h 336"/>
              <a:gd name="T2" fmla="*/ 2147483647 w 216"/>
              <a:gd name="T3" fmla="*/ 2147483647 h 336"/>
              <a:gd name="T4" fmla="*/ 2147483647 w 216"/>
              <a:gd name="T5" fmla="*/ 2147483647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63" name="Freeform 147"/>
          <p:cNvSpPr>
            <a:spLocks/>
          </p:cNvSpPr>
          <p:nvPr/>
        </p:nvSpPr>
        <p:spPr bwMode="auto">
          <a:xfrm>
            <a:off x="1752600" y="6248400"/>
            <a:ext cx="2286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64" name="Text Box 148"/>
          <p:cNvSpPr txBox="1">
            <a:spLocks noChangeArrowheads="1"/>
          </p:cNvSpPr>
          <p:nvPr/>
        </p:nvSpPr>
        <p:spPr bwMode="auto">
          <a:xfrm>
            <a:off x="3886200" y="41910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4   4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6 5 3</a:t>
            </a:r>
          </a:p>
        </p:txBody>
      </p:sp>
      <p:sp>
        <p:nvSpPr>
          <p:cNvPr id="86165" name="Line 149"/>
          <p:cNvSpPr>
            <a:spLocks noChangeShapeType="1"/>
          </p:cNvSpPr>
          <p:nvPr/>
        </p:nvSpPr>
        <p:spPr bwMode="auto">
          <a:xfrm flipH="1">
            <a:off x="4343400" y="4572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66" name="Line 150"/>
          <p:cNvSpPr>
            <a:spLocks noChangeShapeType="1"/>
          </p:cNvSpPr>
          <p:nvPr/>
        </p:nvSpPr>
        <p:spPr bwMode="auto">
          <a:xfrm>
            <a:off x="4724400" y="4572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67" name="Line 151"/>
          <p:cNvSpPr>
            <a:spLocks noChangeShapeType="1"/>
          </p:cNvSpPr>
          <p:nvPr/>
        </p:nvSpPr>
        <p:spPr bwMode="auto">
          <a:xfrm flipH="1">
            <a:off x="4114800" y="5105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68" name="Line 152"/>
          <p:cNvSpPr>
            <a:spLocks noChangeShapeType="1"/>
          </p:cNvSpPr>
          <p:nvPr/>
        </p:nvSpPr>
        <p:spPr bwMode="auto">
          <a:xfrm>
            <a:off x="4343400" y="5105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69" name="Line 153"/>
          <p:cNvSpPr>
            <a:spLocks noChangeShapeType="1"/>
          </p:cNvSpPr>
          <p:nvPr/>
        </p:nvSpPr>
        <p:spPr bwMode="auto">
          <a:xfrm flipH="1">
            <a:off x="4876800" y="5105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6259" name="Group 243"/>
          <p:cNvGraphicFramePr>
            <a:graphicFrameLocks noGrp="1"/>
          </p:cNvGraphicFramePr>
          <p:nvPr/>
        </p:nvGraphicFramePr>
        <p:xfrm>
          <a:off x="3810000" y="594360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188" name="Freeform 172"/>
          <p:cNvSpPr>
            <a:spLocks/>
          </p:cNvSpPr>
          <p:nvPr/>
        </p:nvSpPr>
        <p:spPr bwMode="auto">
          <a:xfrm>
            <a:off x="3771900" y="4953000"/>
            <a:ext cx="342900" cy="533400"/>
          </a:xfrm>
          <a:custGeom>
            <a:avLst/>
            <a:gdLst>
              <a:gd name="T0" fmla="*/ 2147483647 w 216"/>
              <a:gd name="T1" fmla="*/ 0 h 336"/>
              <a:gd name="T2" fmla="*/ 2147483647 w 216"/>
              <a:gd name="T3" fmla="*/ 2147483647 h 336"/>
              <a:gd name="T4" fmla="*/ 2147483647 w 216"/>
              <a:gd name="T5" fmla="*/ 2147483647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89" name="Freeform 173"/>
          <p:cNvSpPr>
            <a:spLocks/>
          </p:cNvSpPr>
          <p:nvPr/>
        </p:nvSpPr>
        <p:spPr bwMode="auto">
          <a:xfrm>
            <a:off x="4114800" y="6324600"/>
            <a:ext cx="457200" cy="76200"/>
          </a:xfrm>
          <a:custGeom>
            <a:avLst/>
            <a:gdLst>
              <a:gd name="T0" fmla="*/ 0 w 288"/>
              <a:gd name="T1" fmla="*/ 0 h 48"/>
              <a:gd name="T2" fmla="*/ 2147483647 w 288"/>
              <a:gd name="T3" fmla="*/ 2147483647 h 48"/>
              <a:gd name="T4" fmla="*/ 2147483647 w 288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48">
                <a:moveTo>
                  <a:pt x="0" y="0"/>
                </a:moveTo>
                <a:cubicBezTo>
                  <a:pt x="48" y="24"/>
                  <a:pt x="96" y="48"/>
                  <a:pt x="144" y="48"/>
                </a:cubicBezTo>
                <a:cubicBezTo>
                  <a:pt x="192" y="48"/>
                  <a:pt x="240" y="24"/>
                  <a:pt x="288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90" name="Text Box 174"/>
          <p:cNvSpPr txBox="1">
            <a:spLocks noChangeArrowheads="1"/>
          </p:cNvSpPr>
          <p:nvPr/>
        </p:nvSpPr>
        <p:spPr bwMode="auto">
          <a:xfrm>
            <a:off x="6096000" y="419100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6   4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4 5 3</a:t>
            </a:r>
          </a:p>
        </p:txBody>
      </p:sp>
      <p:sp>
        <p:nvSpPr>
          <p:cNvPr id="86191" name="Line 175"/>
          <p:cNvSpPr>
            <a:spLocks noChangeShapeType="1"/>
          </p:cNvSpPr>
          <p:nvPr/>
        </p:nvSpPr>
        <p:spPr bwMode="auto">
          <a:xfrm flipH="1">
            <a:off x="6553200" y="45720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92" name="Line 176"/>
          <p:cNvSpPr>
            <a:spLocks noChangeShapeType="1"/>
          </p:cNvSpPr>
          <p:nvPr/>
        </p:nvSpPr>
        <p:spPr bwMode="auto">
          <a:xfrm>
            <a:off x="6934200" y="45720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93" name="Line 177"/>
          <p:cNvSpPr>
            <a:spLocks noChangeShapeType="1"/>
          </p:cNvSpPr>
          <p:nvPr/>
        </p:nvSpPr>
        <p:spPr bwMode="auto">
          <a:xfrm flipH="1">
            <a:off x="6324600" y="5105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94" name="Line 178"/>
          <p:cNvSpPr>
            <a:spLocks noChangeShapeType="1"/>
          </p:cNvSpPr>
          <p:nvPr/>
        </p:nvSpPr>
        <p:spPr bwMode="auto">
          <a:xfrm>
            <a:off x="6553200" y="5105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95" name="Line 179"/>
          <p:cNvSpPr>
            <a:spLocks noChangeShapeType="1"/>
          </p:cNvSpPr>
          <p:nvPr/>
        </p:nvSpPr>
        <p:spPr bwMode="auto">
          <a:xfrm flipH="1">
            <a:off x="7086600" y="51054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6263" name="Group 247"/>
          <p:cNvGraphicFramePr>
            <a:graphicFrameLocks noGrp="1"/>
          </p:cNvGraphicFramePr>
          <p:nvPr/>
        </p:nvGraphicFramePr>
        <p:xfrm>
          <a:off x="6019800" y="594360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221" name="Freeform 205"/>
          <p:cNvSpPr>
            <a:spLocks/>
          </p:cNvSpPr>
          <p:nvPr/>
        </p:nvSpPr>
        <p:spPr bwMode="auto">
          <a:xfrm>
            <a:off x="6096000" y="2743200"/>
            <a:ext cx="3048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222" name="Line 206"/>
          <p:cNvSpPr>
            <a:spLocks noChangeShapeType="1"/>
          </p:cNvSpPr>
          <p:nvPr/>
        </p:nvSpPr>
        <p:spPr bwMode="auto">
          <a:xfrm>
            <a:off x="2133600" y="495300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223" name="Freeform 207"/>
          <p:cNvSpPr>
            <a:spLocks/>
          </p:cNvSpPr>
          <p:nvPr/>
        </p:nvSpPr>
        <p:spPr bwMode="auto">
          <a:xfrm>
            <a:off x="4114800" y="5638800"/>
            <a:ext cx="3048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264" name="Freeform 248"/>
          <p:cNvSpPr>
            <a:spLocks/>
          </p:cNvSpPr>
          <p:nvPr/>
        </p:nvSpPr>
        <p:spPr bwMode="auto">
          <a:xfrm>
            <a:off x="6684963" y="3352800"/>
            <a:ext cx="2286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265" name="Freeform 249"/>
          <p:cNvSpPr>
            <a:spLocks/>
          </p:cNvSpPr>
          <p:nvPr/>
        </p:nvSpPr>
        <p:spPr bwMode="auto">
          <a:xfrm>
            <a:off x="1998663" y="6308725"/>
            <a:ext cx="2286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266" name="Freeform 250"/>
          <p:cNvSpPr>
            <a:spLocks/>
          </p:cNvSpPr>
          <p:nvPr/>
        </p:nvSpPr>
        <p:spPr bwMode="auto">
          <a:xfrm>
            <a:off x="4533900" y="6308725"/>
            <a:ext cx="228600" cy="152400"/>
          </a:xfrm>
          <a:custGeom>
            <a:avLst/>
            <a:gdLst>
              <a:gd name="T0" fmla="*/ 0 w 144"/>
              <a:gd name="T1" fmla="*/ 0 h 96"/>
              <a:gd name="T2" fmla="*/ 2147483647 w 144"/>
              <a:gd name="T3" fmla="*/ 2147483647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267" name="Line 251"/>
          <p:cNvSpPr>
            <a:spLocks noChangeShapeType="1"/>
          </p:cNvSpPr>
          <p:nvPr/>
        </p:nvSpPr>
        <p:spPr bwMode="auto">
          <a:xfrm>
            <a:off x="4572000" y="3352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268" name="Text Box 252"/>
          <p:cNvSpPr txBox="1">
            <a:spLocks noChangeArrowheads="1"/>
          </p:cNvSpPr>
          <p:nvPr/>
        </p:nvSpPr>
        <p:spPr bwMode="auto">
          <a:xfrm>
            <a:off x="4878388" y="1857375"/>
            <a:ext cx="461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3</a:t>
            </a:r>
          </a:p>
        </p:txBody>
      </p:sp>
      <p:sp>
        <p:nvSpPr>
          <p:cNvPr id="86269" name="Text Box 253"/>
          <p:cNvSpPr txBox="1">
            <a:spLocks noChangeArrowheads="1"/>
          </p:cNvSpPr>
          <p:nvPr/>
        </p:nvSpPr>
        <p:spPr bwMode="auto">
          <a:xfrm>
            <a:off x="6030913" y="1819275"/>
            <a:ext cx="461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6</a:t>
            </a:r>
          </a:p>
        </p:txBody>
      </p:sp>
      <p:sp>
        <p:nvSpPr>
          <p:cNvPr id="86270" name="Line 254"/>
          <p:cNvSpPr>
            <a:spLocks noChangeShapeType="1"/>
          </p:cNvSpPr>
          <p:nvPr/>
        </p:nvSpPr>
        <p:spPr bwMode="auto">
          <a:xfrm>
            <a:off x="3919538" y="63087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45" grpId="0" animBg="1"/>
      <p:bldP spid="86046" grpId="0" autoUpdateAnimBg="0"/>
      <p:bldP spid="86049" grpId="0" build="allAtOnce" autoUpdateAnimBg="0"/>
      <p:bldP spid="86054" grpId="0" animBg="1"/>
      <p:bldP spid="86055" grpId="0" animBg="1"/>
      <p:bldP spid="86074" grpId="0" animBg="1"/>
      <p:bldP spid="86075" grpId="0" autoUpdateAnimBg="0"/>
      <p:bldP spid="86076" grpId="0" animBg="1"/>
      <p:bldP spid="86098" grpId="0" animBg="1"/>
      <p:bldP spid="86099" grpId="0" animBg="1"/>
      <p:bldP spid="86100" grpId="0" autoUpdateAnimBg="0"/>
      <p:bldP spid="86101" grpId="0" animBg="1"/>
      <p:bldP spid="86128" grpId="0" animBg="1"/>
      <p:bldP spid="86129" grpId="0" autoUpdateAnimBg="0"/>
      <p:bldP spid="86130" grpId="0" animBg="1"/>
      <p:bldP spid="86149" grpId="0" animBg="1"/>
      <p:bldP spid="86150" grpId="0" animBg="1"/>
      <p:bldP spid="86151" grpId="0" autoUpdateAnimBg="0"/>
      <p:bldP spid="86154" grpId="0" animBg="1"/>
      <p:bldP spid="86155" grpId="0" animBg="1"/>
      <p:bldP spid="86156" grpId="0" autoUpdateAnimBg="0"/>
      <p:bldP spid="86157" grpId="0" animBg="1"/>
      <p:bldP spid="86158" grpId="0" animBg="1"/>
      <p:bldP spid="86162" grpId="0" animBg="1"/>
      <p:bldP spid="86163" grpId="0" animBg="1"/>
      <p:bldP spid="86164" grpId="0" autoUpdateAnimBg="0"/>
      <p:bldP spid="86165" grpId="0" animBg="1"/>
      <p:bldP spid="86166" grpId="0" animBg="1"/>
      <p:bldP spid="86167" grpId="0" animBg="1"/>
      <p:bldP spid="86168" grpId="0" animBg="1"/>
      <p:bldP spid="86169" grpId="0" animBg="1"/>
      <p:bldP spid="86188" grpId="0" animBg="1"/>
      <p:bldP spid="86189" grpId="0" animBg="1"/>
      <p:bldP spid="86190" grpId="0" autoUpdateAnimBg="0"/>
      <p:bldP spid="86191" grpId="0" animBg="1"/>
      <p:bldP spid="86192" grpId="0" animBg="1"/>
      <p:bldP spid="86193" grpId="0" animBg="1"/>
      <p:bldP spid="86194" grpId="0" animBg="1"/>
      <p:bldP spid="86195" grpId="0" animBg="1"/>
      <p:bldP spid="86221" grpId="0" animBg="1"/>
      <p:bldP spid="86221" grpId="1" animBg="1"/>
      <p:bldP spid="86222" grpId="0" animBg="1"/>
      <p:bldP spid="86222" grpId="1" animBg="1"/>
      <p:bldP spid="86223" grpId="0" animBg="1"/>
      <p:bldP spid="86223" grpId="1" animBg="1"/>
      <p:bldP spid="86264" grpId="0" animBg="1"/>
      <p:bldP spid="86264" grpId="1" animBg="1"/>
      <p:bldP spid="86265" grpId="0" animBg="1"/>
      <p:bldP spid="86265" grpId="1" animBg="1"/>
      <p:bldP spid="86266" grpId="0" animBg="1"/>
      <p:bldP spid="86266" grpId="1" animBg="1"/>
      <p:bldP spid="86267" grpId="0" animBg="1"/>
      <p:bldP spid="86268" grpId="0" autoUpdateAnimBg="0"/>
      <p:bldP spid="86269" grpId="0" autoUpdateAnimBg="0"/>
      <p:bldP spid="8627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336550"/>
            <a:ext cx="7772400" cy="647700"/>
          </a:xfr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3600"/>
              <a:t>Treaps (1)</a:t>
            </a:r>
          </a:p>
        </p:txBody>
      </p:sp>
      <p:sp>
        <p:nvSpPr>
          <p:cNvPr id="46083" name="Text Box 23"/>
          <p:cNvSpPr txBox="1">
            <a:spLocks noChangeArrowheads="1"/>
          </p:cNvSpPr>
          <p:nvPr/>
        </p:nvSpPr>
        <p:spPr bwMode="auto">
          <a:xfrm>
            <a:off x="962025" y="1295400"/>
            <a:ext cx="12954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K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D   R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M</a:t>
            </a:r>
          </a:p>
        </p:txBody>
      </p:sp>
      <p:sp>
        <p:nvSpPr>
          <p:cNvPr id="46084" name="Line 24"/>
          <p:cNvSpPr>
            <a:spLocks noChangeShapeType="1"/>
          </p:cNvSpPr>
          <p:nvPr/>
        </p:nvSpPr>
        <p:spPr bwMode="auto">
          <a:xfrm flipH="1">
            <a:off x="1419225" y="1676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5" name="Line 25"/>
          <p:cNvSpPr>
            <a:spLocks noChangeShapeType="1"/>
          </p:cNvSpPr>
          <p:nvPr/>
        </p:nvSpPr>
        <p:spPr bwMode="auto">
          <a:xfrm>
            <a:off x="1800225" y="16764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6" name="Line 28"/>
          <p:cNvSpPr>
            <a:spLocks noChangeShapeType="1"/>
          </p:cNvSpPr>
          <p:nvPr/>
        </p:nvSpPr>
        <p:spPr bwMode="auto">
          <a:xfrm flipH="1">
            <a:off x="1952625" y="2209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7" name="Text Box 23"/>
          <p:cNvSpPr txBox="1">
            <a:spLocks noChangeArrowheads="1"/>
          </p:cNvSpPr>
          <p:nvPr/>
        </p:nvSpPr>
        <p:spPr bwMode="auto">
          <a:xfrm>
            <a:off x="3189288" y="1295400"/>
            <a:ext cx="12954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8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2   6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5</a:t>
            </a:r>
          </a:p>
        </p:txBody>
      </p:sp>
      <p:sp>
        <p:nvSpPr>
          <p:cNvPr id="46088" name="Line 24"/>
          <p:cNvSpPr>
            <a:spLocks noChangeShapeType="1"/>
          </p:cNvSpPr>
          <p:nvPr/>
        </p:nvSpPr>
        <p:spPr bwMode="auto">
          <a:xfrm flipH="1">
            <a:off x="3646488" y="16764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9" name="Line 25"/>
          <p:cNvSpPr>
            <a:spLocks noChangeShapeType="1"/>
          </p:cNvSpPr>
          <p:nvPr/>
        </p:nvSpPr>
        <p:spPr bwMode="auto">
          <a:xfrm>
            <a:off x="4027488" y="16764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0" name="Line 28"/>
          <p:cNvSpPr>
            <a:spLocks noChangeShapeType="1"/>
          </p:cNvSpPr>
          <p:nvPr/>
        </p:nvSpPr>
        <p:spPr bwMode="auto">
          <a:xfrm flipH="1">
            <a:off x="4179888" y="22098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1462088" y="4011613"/>
            <a:ext cx="2611437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K/8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D/2  R/6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 M/5  </a:t>
            </a:r>
          </a:p>
        </p:txBody>
      </p:sp>
      <p:sp>
        <p:nvSpPr>
          <p:cNvPr id="21" name="Line 24"/>
          <p:cNvSpPr>
            <a:spLocks noChangeShapeType="1"/>
          </p:cNvSpPr>
          <p:nvPr/>
        </p:nvSpPr>
        <p:spPr bwMode="auto">
          <a:xfrm flipH="1">
            <a:off x="2076450" y="4392613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5"/>
          <p:cNvSpPr>
            <a:spLocks noChangeShapeType="1"/>
          </p:cNvSpPr>
          <p:nvPr/>
        </p:nvSpPr>
        <p:spPr bwMode="auto">
          <a:xfrm>
            <a:off x="2652713" y="4392613"/>
            <a:ext cx="142875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8"/>
          <p:cNvSpPr>
            <a:spLocks noChangeShapeType="1"/>
          </p:cNvSpPr>
          <p:nvPr/>
        </p:nvSpPr>
        <p:spPr bwMode="auto">
          <a:xfrm flipH="1">
            <a:off x="2843213" y="492601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5" name="Straight Arrow Connector 24"/>
          <p:cNvCxnSpPr>
            <a:cxnSpLocks noChangeShapeType="1"/>
          </p:cNvCxnSpPr>
          <p:nvPr/>
        </p:nvCxnSpPr>
        <p:spPr bwMode="auto">
          <a:xfrm flipH="1">
            <a:off x="2536825" y="3517900"/>
            <a:ext cx="382588" cy="4873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2651125" y="3116263"/>
            <a:ext cx="8445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T/7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3035300" y="5118100"/>
            <a:ext cx="846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T/7</a:t>
            </a:r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>
            <a:off x="3189288" y="4926013"/>
            <a:ext cx="1143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5224463" y="3992563"/>
            <a:ext cx="2611437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K/8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D/2  T/7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 R/6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M/5  </a:t>
            </a:r>
          </a:p>
        </p:txBody>
      </p:sp>
      <p:sp>
        <p:nvSpPr>
          <p:cNvPr id="30" name="Line 24"/>
          <p:cNvSpPr>
            <a:spLocks noChangeShapeType="1"/>
          </p:cNvSpPr>
          <p:nvPr/>
        </p:nvSpPr>
        <p:spPr bwMode="auto">
          <a:xfrm flipH="1">
            <a:off x="5840413" y="4373563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>
            <a:off x="6416675" y="4373563"/>
            <a:ext cx="141288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 flipH="1">
            <a:off x="6607175" y="490696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8"/>
          <p:cNvSpPr>
            <a:spLocks noChangeShapeType="1"/>
          </p:cNvSpPr>
          <p:nvPr/>
        </p:nvSpPr>
        <p:spPr bwMode="auto">
          <a:xfrm flipH="1">
            <a:off x="6408738" y="546576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Text Box 23"/>
          <p:cNvSpPr txBox="1">
            <a:spLocks noChangeArrowheads="1"/>
          </p:cNvSpPr>
          <p:nvPr/>
        </p:nvSpPr>
        <p:spPr bwMode="auto">
          <a:xfrm>
            <a:off x="5494338" y="1277938"/>
            <a:ext cx="26114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K/8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D/2  R/6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 M/5  </a:t>
            </a:r>
          </a:p>
        </p:txBody>
      </p:sp>
      <p:sp>
        <p:nvSpPr>
          <p:cNvPr id="41" name="Line 24"/>
          <p:cNvSpPr>
            <a:spLocks noChangeShapeType="1"/>
          </p:cNvSpPr>
          <p:nvPr/>
        </p:nvSpPr>
        <p:spPr bwMode="auto">
          <a:xfrm flipH="1">
            <a:off x="6108700" y="1658938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5"/>
          <p:cNvSpPr>
            <a:spLocks noChangeShapeType="1"/>
          </p:cNvSpPr>
          <p:nvPr/>
        </p:nvSpPr>
        <p:spPr bwMode="auto">
          <a:xfrm>
            <a:off x="6684963" y="1658938"/>
            <a:ext cx="142875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28"/>
          <p:cNvSpPr>
            <a:spLocks noChangeShapeType="1"/>
          </p:cNvSpPr>
          <p:nvPr/>
        </p:nvSpPr>
        <p:spPr bwMode="auto">
          <a:xfrm flipH="1">
            <a:off x="6877050" y="219233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auto">
          <a:xfrm>
            <a:off x="811213" y="2782888"/>
            <a:ext cx="1725612" cy="3381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lang="en-US" sz="1600" b="0" dirty="0">
                <a:latin typeface="+mn-lt"/>
              </a:rPr>
              <a:t>binary search </a:t>
            </a:r>
            <a:r>
              <a:rPr lang="en-US" sz="1600" b="0" u="sng" dirty="0">
                <a:latin typeface="+mn-lt"/>
              </a:rPr>
              <a:t>tr</a:t>
            </a:r>
            <a:r>
              <a:rPr lang="en-US" sz="1600" b="0" dirty="0">
                <a:latin typeface="+mn-lt"/>
              </a:rPr>
              <a:t>ee</a:t>
            </a:r>
          </a:p>
        </p:txBody>
      </p:sp>
      <p:sp>
        <p:nvSpPr>
          <p:cNvPr id="47" name="Text Box 23"/>
          <p:cNvSpPr txBox="1">
            <a:spLocks noChangeArrowheads="1"/>
          </p:cNvSpPr>
          <p:nvPr/>
        </p:nvSpPr>
        <p:spPr bwMode="auto">
          <a:xfrm>
            <a:off x="3646488" y="2782888"/>
            <a:ext cx="582612" cy="3381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lang="en-US" sz="1600" b="0" dirty="0">
                <a:latin typeface="+mn-lt"/>
              </a:rPr>
              <a:t>h</a:t>
            </a:r>
            <a:r>
              <a:rPr lang="en-US" sz="1600" b="0" u="sng" dirty="0">
                <a:latin typeface="+mn-lt"/>
              </a:rPr>
              <a:t>eap</a:t>
            </a:r>
          </a:p>
        </p:txBody>
      </p:sp>
      <p:sp>
        <p:nvSpPr>
          <p:cNvPr id="48" name="Text Box 23"/>
          <p:cNvSpPr txBox="1">
            <a:spLocks noChangeArrowheads="1"/>
          </p:cNvSpPr>
          <p:nvPr/>
        </p:nvSpPr>
        <p:spPr bwMode="auto">
          <a:xfrm>
            <a:off x="6261100" y="2782888"/>
            <a:ext cx="636588" cy="3381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lang="en-US" sz="1600" b="0" dirty="0" err="1">
                <a:latin typeface="+mn-lt"/>
              </a:rPr>
              <a:t>treap</a:t>
            </a:r>
            <a:endParaRPr lang="en-US" sz="1600" b="0" u="sng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23" grpId="0" animBg="1"/>
      <p:bldP spid="26" grpId="0"/>
      <p:bldP spid="26" grpId="1"/>
      <p:bldP spid="27" grpId="0"/>
      <p:bldP spid="28" grpId="0" animBg="1"/>
      <p:bldP spid="29" grpId="0"/>
      <p:bldP spid="30" grpId="0" animBg="1"/>
      <p:bldP spid="31" grpId="0" animBg="1"/>
      <p:bldP spid="32" grpId="0" animBg="1"/>
      <p:bldP spid="37" grpId="0" animBg="1"/>
      <p:bldP spid="40" grpId="0"/>
      <p:bldP spid="41" grpId="0" animBg="1"/>
      <p:bldP spid="42" grpId="0" animBg="1"/>
      <p:bldP spid="43" grpId="0" animBg="1"/>
      <p:bldP spid="4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336550"/>
            <a:ext cx="7772400" cy="647700"/>
          </a:xfr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3600"/>
              <a:t>Treaps (2)</a:t>
            </a:r>
          </a:p>
        </p:txBody>
      </p:sp>
      <p:cxnSp>
        <p:nvCxnSpPr>
          <p:cNvPr id="25" name="Straight Arrow Connector 24"/>
          <p:cNvCxnSpPr>
            <a:cxnSpLocks noChangeShapeType="1"/>
          </p:cNvCxnSpPr>
          <p:nvPr/>
        </p:nvCxnSpPr>
        <p:spPr bwMode="auto">
          <a:xfrm flipH="1">
            <a:off x="1128713" y="1565275"/>
            <a:ext cx="384175" cy="4873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1243013" y="1163638"/>
            <a:ext cx="8461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S/9</a:t>
            </a:r>
          </a:p>
        </p:txBody>
      </p:sp>
      <p:sp>
        <p:nvSpPr>
          <p:cNvPr id="47109" name="Text Box 23"/>
          <p:cNvSpPr txBox="1">
            <a:spLocks noChangeArrowheads="1"/>
          </p:cNvSpPr>
          <p:nvPr/>
        </p:nvSpPr>
        <p:spPr bwMode="auto">
          <a:xfrm>
            <a:off x="53975" y="2052638"/>
            <a:ext cx="2174875" cy="212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K/8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D/2  T/7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 R/6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M/5  </a:t>
            </a:r>
          </a:p>
        </p:txBody>
      </p:sp>
      <p:sp>
        <p:nvSpPr>
          <p:cNvPr id="47110" name="Line 24"/>
          <p:cNvSpPr>
            <a:spLocks noChangeShapeType="1"/>
          </p:cNvSpPr>
          <p:nvPr/>
        </p:nvSpPr>
        <p:spPr bwMode="auto">
          <a:xfrm flipH="1">
            <a:off x="668338" y="2433638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Line 25"/>
          <p:cNvSpPr>
            <a:spLocks noChangeShapeType="1"/>
          </p:cNvSpPr>
          <p:nvPr/>
        </p:nvSpPr>
        <p:spPr bwMode="auto">
          <a:xfrm>
            <a:off x="1244600" y="2433638"/>
            <a:ext cx="142875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2" name="Line 28"/>
          <p:cNvSpPr>
            <a:spLocks noChangeShapeType="1"/>
          </p:cNvSpPr>
          <p:nvPr/>
        </p:nvSpPr>
        <p:spPr bwMode="auto">
          <a:xfrm flipH="1">
            <a:off x="1435100" y="296703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3" name="Line 28"/>
          <p:cNvSpPr>
            <a:spLocks noChangeShapeType="1"/>
          </p:cNvSpPr>
          <p:nvPr/>
        </p:nvSpPr>
        <p:spPr bwMode="auto">
          <a:xfrm flipH="1">
            <a:off x="1236663" y="352583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23"/>
          <p:cNvSpPr txBox="1">
            <a:spLocks noChangeArrowheads="1"/>
          </p:cNvSpPr>
          <p:nvPr/>
        </p:nvSpPr>
        <p:spPr bwMode="auto">
          <a:xfrm>
            <a:off x="1509713" y="3702050"/>
            <a:ext cx="846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S/9</a:t>
            </a:r>
          </a:p>
        </p:txBody>
      </p:sp>
      <p:sp>
        <p:nvSpPr>
          <p:cNvPr id="34" name="Line 25"/>
          <p:cNvSpPr>
            <a:spLocks noChangeShapeType="1"/>
          </p:cNvSpPr>
          <p:nvPr/>
        </p:nvSpPr>
        <p:spPr bwMode="auto">
          <a:xfrm>
            <a:off x="1525588" y="3525838"/>
            <a:ext cx="142875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Text Box 23"/>
          <p:cNvSpPr txBox="1">
            <a:spLocks noChangeArrowheads="1"/>
          </p:cNvSpPr>
          <p:nvPr/>
        </p:nvSpPr>
        <p:spPr bwMode="auto">
          <a:xfrm>
            <a:off x="2228850" y="2052638"/>
            <a:ext cx="1946275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K/8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D/2  T/7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 S/9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R/6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M/5  </a:t>
            </a:r>
          </a:p>
        </p:txBody>
      </p:sp>
      <p:sp>
        <p:nvSpPr>
          <p:cNvPr id="36" name="Line 24"/>
          <p:cNvSpPr>
            <a:spLocks noChangeShapeType="1"/>
          </p:cNvSpPr>
          <p:nvPr/>
        </p:nvSpPr>
        <p:spPr bwMode="auto">
          <a:xfrm flipH="1">
            <a:off x="2844800" y="2433638"/>
            <a:ext cx="1270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5"/>
          <p:cNvSpPr>
            <a:spLocks noChangeShapeType="1"/>
          </p:cNvSpPr>
          <p:nvPr/>
        </p:nvSpPr>
        <p:spPr bwMode="auto">
          <a:xfrm>
            <a:off x="3421063" y="2433638"/>
            <a:ext cx="119062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 flipH="1">
            <a:off x="3611563" y="2967038"/>
            <a:ext cx="635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8"/>
          <p:cNvSpPr>
            <a:spLocks noChangeShapeType="1"/>
          </p:cNvSpPr>
          <p:nvPr/>
        </p:nvSpPr>
        <p:spPr bwMode="auto">
          <a:xfrm flipH="1">
            <a:off x="3413125" y="3525838"/>
            <a:ext cx="635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8"/>
          <p:cNvSpPr>
            <a:spLocks noChangeShapeType="1"/>
          </p:cNvSpPr>
          <p:nvPr/>
        </p:nvSpPr>
        <p:spPr bwMode="auto">
          <a:xfrm flipH="1">
            <a:off x="3189288" y="4119563"/>
            <a:ext cx="635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Text Box 23"/>
          <p:cNvSpPr txBox="1">
            <a:spLocks noChangeArrowheads="1"/>
          </p:cNvSpPr>
          <p:nvPr/>
        </p:nvSpPr>
        <p:spPr bwMode="auto">
          <a:xfrm>
            <a:off x="4149725" y="2046288"/>
            <a:ext cx="245745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K/8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D/2  S/9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 R/6 T/7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M/5  </a:t>
            </a:r>
          </a:p>
        </p:txBody>
      </p:sp>
      <p:sp>
        <p:nvSpPr>
          <p:cNvPr id="55" name="Line 24"/>
          <p:cNvSpPr>
            <a:spLocks noChangeShapeType="1"/>
          </p:cNvSpPr>
          <p:nvPr/>
        </p:nvSpPr>
        <p:spPr bwMode="auto">
          <a:xfrm flipH="1">
            <a:off x="4765675" y="2427288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25"/>
          <p:cNvSpPr>
            <a:spLocks noChangeShapeType="1"/>
          </p:cNvSpPr>
          <p:nvPr/>
        </p:nvSpPr>
        <p:spPr bwMode="auto">
          <a:xfrm>
            <a:off x="5340350" y="2427288"/>
            <a:ext cx="142875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28"/>
          <p:cNvSpPr>
            <a:spLocks noChangeShapeType="1"/>
          </p:cNvSpPr>
          <p:nvPr/>
        </p:nvSpPr>
        <p:spPr bwMode="auto">
          <a:xfrm flipH="1">
            <a:off x="5532438" y="29606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28"/>
          <p:cNvSpPr>
            <a:spLocks noChangeShapeType="1"/>
          </p:cNvSpPr>
          <p:nvPr/>
        </p:nvSpPr>
        <p:spPr bwMode="auto">
          <a:xfrm flipH="1">
            <a:off x="5334000" y="35194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25"/>
          <p:cNvSpPr>
            <a:spLocks noChangeShapeType="1"/>
          </p:cNvSpPr>
          <p:nvPr/>
        </p:nvSpPr>
        <p:spPr bwMode="auto">
          <a:xfrm>
            <a:off x="5889625" y="2967038"/>
            <a:ext cx="142875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Text Box 23"/>
          <p:cNvSpPr txBox="1">
            <a:spLocks noChangeArrowheads="1"/>
          </p:cNvSpPr>
          <p:nvPr/>
        </p:nvSpPr>
        <p:spPr bwMode="auto">
          <a:xfrm>
            <a:off x="6877050" y="2073275"/>
            <a:ext cx="204787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 S/9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K/8  T/7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D/2 R/6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2400">
                <a:latin typeface="Courier New" pitchFamily="49" charset="0"/>
              </a:rPr>
              <a:t>   M/5  </a:t>
            </a:r>
          </a:p>
        </p:txBody>
      </p:sp>
      <p:sp>
        <p:nvSpPr>
          <p:cNvPr id="64" name="Line 24"/>
          <p:cNvSpPr>
            <a:spLocks noChangeShapeType="1"/>
          </p:cNvSpPr>
          <p:nvPr/>
        </p:nvSpPr>
        <p:spPr bwMode="auto">
          <a:xfrm flipH="1">
            <a:off x="7631113" y="2454275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Line 25"/>
          <p:cNvSpPr>
            <a:spLocks noChangeShapeType="1"/>
          </p:cNvSpPr>
          <p:nvPr/>
        </p:nvSpPr>
        <p:spPr bwMode="auto">
          <a:xfrm>
            <a:off x="8205788" y="2454275"/>
            <a:ext cx="142875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28"/>
          <p:cNvSpPr>
            <a:spLocks noChangeShapeType="1"/>
          </p:cNvSpPr>
          <p:nvPr/>
        </p:nvSpPr>
        <p:spPr bwMode="auto">
          <a:xfrm flipH="1">
            <a:off x="7926388" y="3546475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25"/>
          <p:cNvSpPr>
            <a:spLocks noChangeShapeType="1"/>
          </p:cNvSpPr>
          <p:nvPr/>
        </p:nvSpPr>
        <p:spPr bwMode="auto">
          <a:xfrm>
            <a:off x="7783513" y="2994025"/>
            <a:ext cx="142875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24"/>
          <p:cNvSpPr>
            <a:spLocks noChangeShapeType="1"/>
          </p:cNvSpPr>
          <p:nvPr/>
        </p:nvSpPr>
        <p:spPr bwMode="auto">
          <a:xfrm flipH="1">
            <a:off x="7313613" y="2998788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33" grpId="0"/>
      <p:bldP spid="34" grpId="0" animBg="1"/>
      <p:bldP spid="35" grpId="0"/>
      <p:bldP spid="36" grpId="0" animBg="1"/>
      <p:bldP spid="38" grpId="0" animBg="1"/>
      <p:bldP spid="39" grpId="0" animBg="1"/>
      <p:bldP spid="44" grpId="0" animBg="1"/>
      <p:bldP spid="47" grpId="0" animBg="1"/>
      <p:bldP spid="54" grpId="0"/>
      <p:bldP spid="55" grpId="0" animBg="1"/>
      <p:bldP spid="56" grpId="0" animBg="1"/>
      <p:bldP spid="57" grpId="0" animBg="1"/>
      <p:bldP spid="58" grpId="0" animBg="1"/>
      <p:bldP spid="61" grpId="0" animBg="1"/>
      <p:bldP spid="63" grpId="0"/>
      <p:bldP spid="64" grpId="0" animBg="1"/>
      <p:bldP spid="65" grpId="0" animBg="1"/>
      <p:bldP spid="67" grpId="0" animBg="1"/>
      <p:bldP spid="68" grpId="0" animBg="1"/>
      <p:bldP spid="69" grpId="0" animBg="1"/>
    </p:bldLst>
  </p:timing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C:\sahni\cop3530\slides\template.ppt</Template>
  <TotalTime>31246</TotalTime>
  <Words>1071</Words>
  <Application>Microsoft Office PowerPoint</Application>
  <PresentationFormat>On-screen Show (4:3)</PresentationFormat>
  <Paragraphs>438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Unicode MS</vt:lpstr>
      <vt:lpstr>Courier New</vt:lpstr>
      <vt:lpstr>Times New Roman</vt:lpstr>
      <vt:lpstr>Wingdings</vt:lpstr>
      <vt:lpstr>template</vt:lpstr>
      <vt:lpstr>Rotations</vt:lpstr>
      <vt:lpstr>PowerPoint Presentation</vt:lpstr>
      <vt:lpstr>Left rotation</vt:lpstr>
      <vt:lpstr>(max) heaps</vt:lpstr>
      <vt:lpstr>PowerPoint Presentation</vt:lpstr>
      <vt:lpstr>heap</vt:lpstr>
      <vt:lpstr>PowerPoint Presentation</vt:lpstr>
      <vt:lpstr>Heap as a priority queue: enqueuing</vt:lpstr>
      <vt:lpstr>PowerPoint Presentation</vt:lpstr>
      <vt:lpstr>Heap as a priority queue: dequeuing</vt:lpstr>
      <vt:lpstr>Series of dequeuings</vt:lpstr>
      <vt:lpstr>Series of dequeuings (2)</vt:lpstr>
      <vt:lpstr>Organizing arrays as heaps</vt:lpstr>
      <vt:lpstr>Organizing arrays as heaps: example</vt:lpstr>
      <vt:lpstr>Treaps (1)</vt:lpstr>
      <vt:lpstr>Treaps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Preferred Customer</dc:creator>
  <cp:lastModifiedBy>Adam Drozdek</cp:lastModifiedBy>
  <cp:revision>108</cp:revision>
  <cp:lastPrinted>2012-11-26T22:57:27Z</cp:lastPrinted>
  <dcterms:created xsi:type="dcterms:W3CDTF">1995-06-17T23:31:02Z</dcterms:created>
  <dcterms:modified xsi:type="dcterms:W3CDTF">2024-11-05T15:56:42Z</dcterms:modified>
</cp:coreProperties>
</file>