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9" r:id="rId2"/>
    <p:sldId id="257" r:id="rId3"/>
    <p:sldId id="260" r:id="rId4"/>
    <p:sldId id="261" r:id="rId5"/>
    <p:sldId id="263" r:id="rId6"/>
    <p:sldId id="264" r:id="rId7"/>
    <p:sldId id="266" r:id="rId8"/>
    <p:sldId id="267" r:id="rId9"/>
    <p:sldId id="268" r:id="rId10"/>
    <p:sldId id="270" r:id="rId11"/>
    <p:sldId id="274" r:id="rId12"/>
    <p:sldId id="269" r:id="rId13"/>
    <p:sldId id="271" r:id="rId14"/>
    <p:sldId id="275" r:id="rId15"/>
    <p:sldId id="281" r:id="rId16"/>
    <p:sldId id="272" r:id="rId17"/>
    <p:sldId id="273" r:id="rId18"/>
    <p:sldId id="276" r:id="rId19"/>
    <p:sldId id="277" r:id="rId20"/>
    <p:sldId id="278" r:id="rId21"/>
    <p:sldId id="279" r:id="rId22"/>
    <p:sldId id="282" r:id="rId23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50000"/>
      </a:lnSpc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1pPr>
    <a:lvl2pPr marL="457200" algn="l" rtl="0" fontAlgn="base">
      <a:lnSpc>
        <a:spcPct val="50000"/>
      </a:lnSpc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2pPr>
    <a:lvl3pPr marL="914400" algn="l" rtl="0" fontAlgn="base">
      <a:lnSpc>
        <a:spcPct val="50000"/>
      </a:lnSpc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3pPr>
    <a:lvl4pPr marL="1371600" algn="l" rtl="0" fontAlgn="base">
      <a:lnSpc>
        <a:spcPct val="50000"/>
      </a:lnSpc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4pPr>
    <a:lvl5pPr marL="1828800" algn="l" rtl="0" fontAlgn="base">
      <a:lnSpc>
        <a:spcPct val="50000"/>
      </a:lnSpc>
      <a:spcBef>
        <a:spcPct val="20000"/>
      </a:spcBef>
      <a:spcAft>
        <a:spcPct val="0"/>
      </a:spcAft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 Unicode MS" pitchFamily="34" charset="-128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FF0000"/>
    <a:srgbClr val="FFFF00"/>
    <a:srgbClr val="3333CC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0" autoAdjust="0"/>
    <p:restoredTop sz="94693" autoAdjust="0"/>
  </p:normalViewPr>
  <p:slideViewPr>
    <p:cSldViewPr>
      <p:cViewPr varScale="1">
        <p:scale>
          <a:sx n="75" d="100"/>
          <a:sy n="75" d="100"/>
        </p:scale>
        <p:origin x="100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FEE3501-6665-439B-BD59-9ED65C7D43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548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341CDF2-7621-47E7-A3CF-92FD40D855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065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640139B4-B555-444D-9B3E-E59E59B6CE9E}" type="slidenum">
              <a:rPr lang="en-US" sz="1200" smtClean="0">
                <a:latin typeface="Arial" charset="0"/>
              </a:rPr>
              <a:pPr eaLnBrk="1" hangingPunct="1"/>
              <a:t>1</a:t>
            </a:fld>
            <a:endParaRPr lang="en-US" sz="1200">
              <a:latin typeface="Arial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Section 9.1.1.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731FDF93-08A3-40DC-8914-1EF913A45EF0}" type="slidenum">
              <a:rPr lang="en-US" sz="1200" smtClean="0">
                <a:latin typeface="Arial" charset="0"/>
              </a:rPr>
              <a:pPr eaLnBrk="1" hangingPunct="1"/>
              <a:t>2</a:t>
            </a:fld>
            <a:endParaRPr lang="en-US" sz="1200">
              <a:latin typeface="Arial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Cf. Figure 9.1.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B4D525BA-CABF-4F5E-8BB4-5355CC7730AD}" type="slidenum">
              <a:rPr lang="en-US" sz="1200" smtClean="0">
                <a:latin typeface="Arial" charset="0"/>
              </a:rPr>
              <a:pPr eaLnBrk="1" hangingPunct="1"/>
              <a:t>3</a:t>
            </a:fld>
            <a:endParaRPr lang="en-US" sz="1200">
              <a:latin typeface="Arial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Section 9.1.2.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E236FC88-FFC5-4D33-BE35-FED1E22253F4}" type="slidenum">
              <a:rPr lang="en-US" sz="1200" smtClean="0">
                <a:latin typeface="Arial" charset="0"/>
              </a:rPr>
              <a:pPr eaLnBrk="1" hangingPunct="1"/>
              <a:t>4</a:t>
            </a:fld>
            <a:endParaRPr lang="en-US" sz="1200">
              <a:latin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Cf. Figure 9.2.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A4EC42DC-6C9B-4368-B157-FD31EB09EAD7}" type="slidenum">
              <a:rPr lang="en-US" sz="1200" smtClean="0">
                <a:latin typeface="Arial" charset="0"/>
              </a:rPr>
              <a:pPr eaLnBrk="1" hangingPunct="1"/>
              <a:t>5</a:t>
            </a:fld>
            <a:endParaRPr lang="en-US" sz="1200"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Section 9.1.3.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8FBCE781-1060-468E-9EC4-AD9AB80B772B}" type="slidenum">
              <a:rPr lang="en-US" sz="1200" smtClean="0">
                <a:latin typeface="Arial" charset="0"/>
              </a:rPr>
              <a:pPr eaLnBrk="1" hangingPunct="1"/>
              <a:t>6</a:t>
            </a:fld>
            <a:endParaRPr lang="en-US" sz="1200">
              <a:latin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Cf. Figure 9.3.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00B9A2C3-0696-4F57-BE3A-5A8753E8FCB0}" type="slidenum">
              <a:rPr lang="en-US" sz="1200" smtClean="0">
                <a:latin typeface="Arial" charset="0"/>
              </a:rPr>
              <a:pPr eaLnBrk="1" hangingPunct="1"/>
              <a:t>8</a:t>
            </a:fld>
            <a:endParaRPr lang="en-US" sz="1200">
              <a:latin typeface="Arial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dirty="0"/>
              <a:t>Quicksort places emphasis on partitioning to the extent that merging disappears; merge sort makes partitioning simple, but merging is involved.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31C073B2-867D-45E5-96D5-2F634DADABA6}" type="slidenum">
              <a:rPr lang="en-US" sz="1200" smtClean="0">
                <a:latin typeface="Arial" charset="0"/>
              </a:rPr>
              <a:pPr eaLnBrk="1" hangingPunct="1"/>
              <a:t>9</a:t>
            </a:fld>
            <a:endParaRPr lang="en-US" sz="1200"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Best case: numbers in one array are all smaller (or larger) than numbers in the other array;</a:t>
            </a:r>
          </a:p>
          <a:p>
            <a:pPr eaLnBrk="1" hangingPunct="1"/>
            <a:r>
              <a:rPr lang="en-US"/>
              <a:t>Worst case: the last number in one array is between the last and next to the last numbers of the other array.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20FE4C98-33E8-4CE2-A1EE-E02EC3251B30}" type="slidenum">
              <a:rPr lang="en-US" sz="1200" smtClean="0">
                <a:latin typeface="Arial" charset="0"/>
              </a:rPr>
              <a:pPr eaLnBrk="1" hangingPunct="1"/>
              <a:t>11</a:t>
            </a:fld>
            <a:endParaRPr lang="en-US" sz="1200">
              <a:latin typeface="Arial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Cf. Figure 9.14.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/>
            <a:fld id="{290F4B20-B079-48F2-A216-86DCAA6E200F}" type="slidenum">
              <a:rPr lang="en-US" sz="1200" smtClean="0">
                <a:latin typeface="Arial" charset="0"/>
              </a:rPr>
              <a:pPr eaLnBrk="1" hangingPunct="1"/>
              <a:t>12</a:t>
            </a:fld>
            <a:endParaRPr lang="en-US" sz="1200">
              <a:latin typeface="Arial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Section 9.3.4. In the slide: the number of comparisons in the worst case.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BBDA03-E15E-4D49-AABA-2338398A09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1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F1089-F02C-48B7-BA18-C7253C65ED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4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18B6A-B5A9-4068-872B-DBB37A7ED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7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A3E307-7634-442F-A275-08D601AEE0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49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73626E-6FD1-414A-9212-76263C1744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44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3BE7A-51C0-48C3-B452-3EC9E39FBE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53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520BE-7A9B-45EB-98D7-EB77ACA311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0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5450E-BB94-4CDF-A976-9082F4D2B2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4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D8970-5DD5-4BE9-829C-B53449BD09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71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263D9-E140-44C6-93D2-DAA8E8C516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81D60-98BE-49EF-904F-66A7A8D3F4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7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3A370-74F3-42DA-9529-BB1B6EE99C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77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75195-E638-4170-B117-DE285AA0F4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38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666CB-D284-4A2B-A610-6E4F50CCDD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13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977179-A5E9-4C61-9F27-3A6861EA74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>
                <a:latin typeface="+mn-lt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>
                <a:latin typeface="+mn-lt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>
                <a:latin typeface="+mn-lt"/>
                <a:cs typeface="Arial" charset="0"/>
              </a:defRPr>
            </a:lvl1pPr>
          </a:lstStyle>
          <a:p>
            <a:pPr>
              <a:defRPr/>
            </a:pPr>
            <a:fld id="{673C0DB9-DCF7-4711-B155-DB8B70F3F0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963" y="1828800"/>
            <a:ext cx="8334375" cy="22225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insertionsort(data[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  for i</a:t>
            </a:r>
            <a:r>
              <a:rPr lang="en-US" sz="2400"/>
              <a:t> </a:t>
            </a:r>
            <a:r>
              <a:rPr lang="en-US" sz="2400">
                <a:latin typeface="Courier New" pitchFamily="49" charset="0"/>
              </a:rPr>
              <a:t>=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1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to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data.length-1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    </a:t>
            </a:r>
            <a:r>
              <a:rPr lang="en-US" sz="2400">
                <a:latin typeface="Arial Unicode MS" pitchFamily="34" charset="-128"/>
              </a:rPr>
              <a:t>tmp = data[i];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    </a:t>
            </a:r>
            <a:r>
              <a:rPr lang="en-US" sz="2400" i="1">
                <a:latin typeface="Times New Roman" pitchFamily="18" charset="0"/>
              </a:rPr>
              <a:t>move all elements</a:t>
            </a:r>
            <a:r>
              <a:rPr lang="en-US" sz="2400" i="1"/>
              <a:t> </a:t>
            </a:r>
            <a:r>
              <a:rPr lang="en-US" sz="2400">
                <a:latin typeface="Arial Unicode MS" pitchFamily="34" charset="-128"/>
              </a:rPr>
              <a:t>data[j]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greater than</a:t>
            </a:r>
            <a:r>
              <a:rPr lang="en-US" sz="2400" i="1"/>
              <a:t> </a:t>
            </a:r>
            <a:r>
              <a:rPr lang="en-US" sz="2400">
                <a:latin typeface="Arial Unicode MS" pitchFamily="34" charset="-128"/>
              </a:rPr>
              <a:t>tmp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by one position</a:t>
            </a:r>
            <a:r>
              <a:rPr lang="en-US" sz="2400">
                <a:latin typeface="Arial Unicode MS" pitchFamily="34" charset="-128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    </a:t>
            </a:r>
            <a:r>
              <a:rPr lang="en-US" sz="2400" i="1">
                <a:latin typeface="Times New Roman" pitchFamily="18" charset="0"/>
              </a:rPr>
              <a:t>place</a:t>
            </a:r>
            <a:r>
              <a:rPr lang="en-US" sz="2400" i="1"/>
              <a:t> </a:t>
            </a:r>
            <a:r>
              <a:rPr lang="en-US" sz="2400">
                <a:latin typeface="Arial Unicode MS" pitchFamily="34" charset="-128"/>
              </a:rPr>
              <a:t>tmp</a:t>
            </a:r>
            <a:r>
              <a:rPr lang="en-US" sz="2400" i="1"/>
              <a:t> </a:t>
            </a:r>
            <a:r>
              <a:rPr lang="en-US" sz="2400" i="1">
                <a:latin typeface="Times New Roman" pitchFamily="18" charset="0"/>
              </a:rPr>
              <a:t>in its proper position</a:t>
            </a:r>
            <a:r>
              <a:rPr lang="en-US" sz="2400">
                <a:latin typeface="Arial Unicode MS" pitchFamily="34" charset="-128"/>
              </a:rPr>
              <a:t>;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39138" cy="588963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Insertion sort: algorithm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2" name="Group 110"/>
          <p:cNvGraphicFramePr>
            <a:graphicFrameLocks noGrp="1"/>
          </p:cNvGraphicFramePr>
          <p:nvPr/>
        </p:nvGraphicFramePr>
        <p:xfrm>
          <a:off x="3244850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1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27063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Insertion sort: example</a:t>
            </a:r>
          </a:p>
        </p:txBody>
      </p:sp>
      <p:graphicFrame>
        <p:nvGraphicFramePr>
          <p:cNvPr id="3130" name="Group 58"/>
          <p:cNvGraphicFramePr>
            <a:graphicFrameLocks noGrp="1"/>
          </p:cNvGraphicFramePr>
          <p:nvPr>
            <p:ph idx="1"/>
          </p:nvPr>
        </p:nvGraphicFramePr>
        <p:xfrm>
          <a:off x="942975" y="2057400"/>
          <a:ext cx="381000" cy="228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96" name="Text Box 24"/>
          <p:cNvSpPr txBox="1">
            <a:spLocks noChangeArrowheads="1"/>
          </p:cNvSpPr>
          <p:nvPr/>
        </p:nvSpPr>
        <p:spPr bwMode="auto">
          <a:xfrm>
            <a:off x="942975" y="2514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graphicFrame>
        <p:nvGraphicFramePr>
          <p:cNvPr id="3150" name="Group 78"/>
          <p:cNvGraphicFramePr>
            <a:graphicFrameLocks noGrp="1"/>
          </p:cNvGraphicFramePr>
          <p:nvPr/>
        </p:nvGraphicFramePr>
        <p:xfrm>
          <a:off x="1720850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49" name="Text Box 77"/>
          <p:cNvSpPr txBox="1">
            <a:spLocks noChangeArrowheads="1"/>
          </p:cNvSpPr>
          <p:nvPr/>
        </p:nvSpPr>
        <p:spPr bwMode="auto">
          <a:xfrm>
            <a:off x="1720850" y="2514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graphicFrame>
        <p:nvGraphicFramePr>
          <p:cNvPr id="3151" name="Group 79"/>
          <p:cNvGraphicFramePr>
            <a:graphicFrameLocks noGrp="1"/>
          </p:cNvGraphicFramePr>
          <p:nvPr/>
        </p:nvGraphicFramePr>
        <p:xfrm>
          <a:off x="2482850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65" name="Text Box 93"/>
          <p:cNvSpPr txBox="1">
            <a:spLocks noChangeArrowheads="1"/>
          </p:cNvSpPr>
          <p:nvPr/>
        </p:nvSpPr>
        <p:spPr bwMode="auto">
          <a:xfrm>
            <a:off x="2482850" y="2057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2</a:t>
            </a:r>
          </a:p>
        </p:txBody>
      </p:sp>
      <p:sp>
        <p:nvSpPr>
          <p:cNvPr id="3166" name="Text Box 94"/>
          <p:cNvSpPr txBox="1">
            <a:spLocks noChangeArrowheads="1"/>
          </p:cNvSpPr>
          <p:nvPr/>
        </p:nvSpPr>
        <p:spPr bwMode="auto">
          <a:xfrm>
            <a:off x="2482850" y="2514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3181" name="Text Box 109"/>
          <p:cNvSpPr txBox="1">
            <a:spLocks noChangeArrowheads="1"/>
          </p:cNvSpPr>
          <p:nvPr/>
        </p:nvSpPr>
        <p:spPr bwMode="auto">
          <a:xfrm>
            <a:off x="3244850" y="2057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2</a:t>
            </a:r>
          </a:p>
        </p:txBody>
      </p:sp>
      <p:graphicFrame>
        <p:nvGraphicFramePr>
          <p:cNvPr id="3201" name="Group 129"/>
          <p:cNvGraphicFramePr>
            <a:graphicFrameLocks noGrp="1"/>
          </p:cNvGraphicFramePr>
          <p:nvPr/>
        </p:nvGraphicFramePr>
        <p:xfrm>
          <a:off x="4016375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16" name="Text Box 144"/>
          <p:cNvSpPr txBox="1">
            <a:spLocks noChangeArrowheads="1"/>
          </p:cNvSpPr>
          <p:nvPr/>
        </p:nvSpPr>
        <p:spPr bwMode="auto">
          <a:xfrm>
            <a:off x="4016375" y="2971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3217" name="Text Box 145"/>
          <p:cNvSpPr txBox="1">
            <a:spLocks noChangeArrowheads="1"/>
          </p:cNvSpPr>
          <p:nvPr/>
        </p:nvSpPr>
        <p:spPr bwMode="auto">
          <a:xfrm>
            <a:off x="4021138" y="3429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3</a:t>
            </a:r>
          </a:p>
        </p:txBody>
      </p:sp>
      <p:graphicFrame>
        <p:nvGraphicFramePr>
          <p:cNvPr id="3251" name="Group 179"/>
          <p:cNvGraphicFramePr>
            <a:graphicFrameLocks noGrp="1"/>
          </p:cNvGraphicFramePr>
          <p:nvPr/>
        </p:nvGraphicFramePr>
        <p:xfrm>
          <a:off x="5605463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65" name="Text Box 193"/>
          <p:cNvSpPr txBox="1">
            <a:spLocks noChangeArrowheads="1"/>
          </p:cNvSpPr>
          <p:nvPr/>
        </p:nvSpPr>
        <p:spPr bwMode="auto">
          <a:xfrm>
            <a:off x="5605463" y="3429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3266" name="Text Box 194"/>
          <p:cNvSpPr txBox="1">
            <a:spLocks noChangeArrowheads="1"/>
          </p:cNvSpPr>
          <p:nvPr/>
        </p:nvSpPr>
        <p:spPr bwMode="auto">
          <a:xfrm>
            <a:off x="5573713" y="3889375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4</a:t>
            </a:r>
          </a:p>
        </p:txBody>
      </p:sp>
      <p:graphicFrame>
        <p:nvGraphicFramePr>
          <p:cNvPr id="3298" name="Group 226"/>
          <p:cNvGraphicFramePr>
            <a:graphicFrameLocks noGrp="1"/>
          </p:cNvGraphicFramePr>
          <p:nvPr/>
        </p:nvGraphicFramePr>
        <p:xfrm>
          <a:off x="7129463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02" name="Line 230"/>
          <p:cNvSpPr>
            <a:spLocks noChangeShapeType="1"/>
          </p:cNvSpPr>
          <p:nvPr/>
        </p:nvSpPr>
        <p:spPr bwMode="auto">
          <a:xfrm>
            <a:off x="1371600" y="2738438"/>
            <a:ext cx="320675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03" name="Line 231"/>
          <p:cNvSpPr>
            <a:spLocks noChangeShapeType="1"/>
          </p:cNvSpPr>
          <p:nvPr/>
        </p:nvSpPr>
        <p:spPr bwMode="auto">
          <a:xfrm>
            <a:off x="2152650" y="2335213"/>
            <a:ext cx="287338" cy="344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04" name="Line 232"/>
          <p:cNvSpPr>
            <a:spLocks noChangeShapeType="1"/>
          </p:cNvSpPr>
          <p:nvPr/>
        </p:nvSpPr>
        <p:spPr bwMode="auto">
          <a:xfrm>
            <a:off x="3671888" y="3198813"/>
            <a:ext cx="32385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05" name="Line 233"/>
          <p:cNvSpPr>
            <a:spLocks noChangeShapeType="1"/>
          </p:cNvSpPr>
          <p:nvPr/>
        </p:nvSpPr>
        <p:spPr bwMode="auto">
          <a:xfrm>
            <a:off x="5260975" y="3659188"/>
            <a:ext cx="295275" cy="412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06" name="Freeform 234"/>
          <p:cNvSpPr>
            <a:spLocks/>
          </p:cNvSpPr>
          <p:nvPr/>
        </p:nvSpPr>
        <p:spPr bwMode="auto">
          <a:xfrm>
            <a:off x="1316038" y="1873250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07" name="Freeform 235"/>
          <p:cNvSpPr>
            <a:spLocks/>
          </p:cNvSpPr>
          <p:nvPr/>
        </p:nvSpPr>
        <p:spPr bwMode="auto">
          <a:xfrm>
            <a:off x="2870200" y="1873250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08" name="Freeform 236"/>
          <p:cNvSpPr>
            <a:spLocks/>
          </p:cNvSpPr>
          <p:nvPr/>
        </p:nvSpPr>
        <p:spPr bwMode="auto">
          <a:xfrm>
            <a:off x="2122488" y="1931988"/>
            <a:ext cx="344487" cy="863600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1285870621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09" name="Text Box 237"/>
          <p:cNvSpPr txBox="1">
            <a:spLocks noChangeArrowheads="1"/>
          </p:cNvSpPr>
          <p:nvPr/>
        </p:nvSpPr>
        <p:spPr bwMode="auto">
          <a:xfrm>
            <a:off x="2466975" y="1643063"/>
            <a:ext cx="40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1</a:t>
            </a:r>
          </a:p>
        </p:txBody>
      </p:sp>
      <p:sp>
        <p:nvSpPr>
          <p:cNvPr id="3310" name="Text Box 238"/>
          <p:cNvSpPr txBox="1">
            <a:spLocks noChangeArrowheads="1"/>
          </p:cNvSpPr>
          <p:nvPr/>
        </p:nvSpPr>
        <p:spPr bwMode="auto">
          <a:xfrm>
            <a:off x="1717675" y="2968625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1</a:t>
            </a:r>
          </a:p>
        </p:txBody>
      </p:sp>
      <p:sp>
        <p:nvSpPr>
          <p:cNvPr id="3311" name="Text Box 239"/>
          <p:cNvSpPr txBox="1">
            <a:spLocks noChangeArrowheads="1"/>
          </p:cNvSpPr>
          <p:nvPr/>
        </p:nvSpPr>
        <p:spPr bwMode="auto">
          <a:xfrm>
            <a:off x="1717675" y="2968625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1</a:t>
            </a:r>
          </a:p>
        </p:txBody>
      </p:sp>
      <p:sp>
        <p:nvSpPr>
          <p:cNvPr id="3312" name="Freeform 240"/>
          <p:cNvSpPr>
            <a:spLocks/>
          </p:cNvSpPr>
          <p:nvPr/>
        </p:nvSpPr>
        <p:spPr bwMode="auto">
          <a:xfrm>
            <a:off x="4425950" y="1873250"/>
            <a:ext cx="344488" cy="1382713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2147483647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14" name="Freeform 242"/>
          <p:cNvSpPr>
            <a:spLocks/>
          </p:cNvSpPr>
          <p:nvPr/>
        </p:nvSpPr>
        <p:spPr bwMode="auto">
          <a:xfrm>
            <a:off x="4479925" y="1931988"/>
            <a:ext cx="344488" cy="863600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1285870621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15" name="Text Box 243"/>
          <p:cNvSpPr txBox="1">
            <a:spLocks noChangeArrowheads="1"/>
          </p:cNvSpPr>
          <p:nvPr/>
        </p:nvSpPr>
        <p:spPr bwMode="auto">
          <a:xfrm>
            <a:off x="4021138" y="3432175"/>
            <a:ext cx="346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3</a:t>
            </a:r>
          </a:p>
        </p:txBody>
      </p:sp>
      <p:graphicFrame>
        <p:nvGraphicFramePr>
          <p:cNvPr id="3318" name="Group 246"/>
          <p:cNvGraphicFramePr>
            <a:graphicFrameLocks noGrp="1"/>
          </p:cNvGraphicFramePr>
          <p:nvPr/>
        </p:nvGraphicFramePr>
        <p:xfrm>
          <a:off x="4826000" y="2046288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32" name="Text Box 260"/>
          <p:cNvSpPr txBox="1">
            <a:spLocks noChangeArrowheads="1"/>
          </p:cNvSpPr>
          <p:nvPr/>
        </p:nvSpPr>
        <p:spPr bwMode="auto">
          <a:xfrm>
            <a:off x="4860925" y="2971800"/>
            <a:ext cx="346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3215" name="Text Box 143"/>
          <p:cNvSpPr txBox="1">
            <a:spLocks noChangeArrowheads="1"/>
          </p:cNvSpPr>
          <p:nvPr/>
        </p:nvSpPr>
        <p:spPr bwMode="auto">
          <a:xfrm>
            <a:off x="4052888" y="1646238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3</a:t>
            </a:r>
          </a:p>
        </p:txBody>
      </p:sp>
      <p:sp>
        <p:nvSpPr>
          <p:cNvPr id="3250" name="Text Box 178"/>
          <p:cNvSpPr txBox="1">
            <a:spLocks noChangeArrowheads="1"/>
          </p:cNvSpPr>
          <p:nvPr/>
        </p:nvSpPr>
        <p:spPr bwMode="auto">
          <a:xfrm>
            <a:off x="5573713" y="3886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4</a:t>
            </a:r>
          </a:p>
        </p:txBody>
      </p:sp>
      <p:sp>
        <p:nvSpPr>
          <p:cNvPr id="3333" name="Freeform 261"/>
          <p:cNvSpPr>
            <a:spLocks/>
          </p:cNvSpPr>
          <p:nvPr/>
        </p:nvSpPr>
        <p:spPr bwMode="auto">
          <a:xfrm>
            <a:off x="6013450" y="1816100"/>
            <a:ext cx="344488" cy="1843088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2147483647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34" name="Freeform 262"/>
          <p:cNvSpPr>
            <a:spLocks/>
          </p:cNvSpPr>
          <p:nvPr/>
        </p:nvSpPr>
        <p:spPr bwMode="auto">
          <a:xfrm>
            <a:off x="6011863" y="1816100"/>
            <a:ext cx="344487" cy="1382713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2147483647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350" name="Group 278"/>
          <p:cNvGraphicFramePr>
            <a:graphicFrameLocks noGrp="1"/>
          </p:cNvGraphicFramePr>
          <p:nvPr/>
        </p:nvGraphicFramePr>
        <p:xfrm>
          <a:off x="6380163" y="2065338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64" name="Text Box 292"/>
          <p:cNvSpPr txBox="1">
            <a:spLocks noChangeArrowheads="1"/>
          </p:cNvSpPr>
          <p:nvPr/>
        </p:nvSpPr>
        <p:spPr bwMode="auto">
          <a:xfrm>
            <a:off x="6415088" y="3429000"/>
            <a:ext cx="30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3267" name="Text Box 195"/>
          <p:cNvSpPr txBox="1">
            <a:spLocks noChangeArrowheads="1"/>
          </p:cNvSpPr>
          <p:nvPr/>
        </p:nvSpPr>
        <p:spPr bwMode="auto">
          <a:xfrm>
            <a:off x="5608638" y="1600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4</a:t>
            </a:r>
          </a:p>
        </p:txBody>
      </p:sp>
      <p:sp>
        <p:nvSpPr>
          <p:cNvPr id="3366" name="Freeform 294"/>
          <p:cNvSpPr>
            <a:spLocks/>
          </p:cNvSpPr>
          <p:nvPr/>
        </p:nvSpPr>
        <p:spPr bwMode="auto">
          <a:xfrm>
            <a:off x="2074863" y="1809750"/>
            <a:ext cx="1152525" cy="466725"/>
          </a:xfrm>
          <a:custGeom>
            <a:avLst/>
            <a:gdLst>
              <a:gd name="T0" fmla="*/ 0 w 726"/>
              <a:gd name="T1" fmla="*/ 70564375 h 294"/>
              <a:gd name="T2" fmla="*/ 1038304375 w 726"/>
              <a:gd name="T3" fmla="*/ 70564375 h 294"/>
              <a:gd name="T4" fmla="*/ 1403727825 w 726"/>
              <a:gd name="T5" fmla="*/ 496471575 h 294"/>
              <a:gd name="T6" fmla="*/ 1829633438 w 726"/>
              <a:gd name="T7" fmla="*/ 740925938 h 29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6" h="294">
                <a:moveTo>
                  <a:pt x="0" y="28"/>
                </a:moveTo>
                <a:cubicBezTo>
                  <a:pt x="159" y="14"/>
                  <a:pt x="319" y="0"/>
                  <a:pt x="412" y="28"/>
                </a:cubicBezTo>
                <a:cubicBezTo>
                  <a:pt x="505" y="56"/>
                  <a:pt x="505" y="153"/>
                  <a:pt x="557" y="197"/>
                </a:cubicBezTo>
                <a:cubicBezTo>
                  <a:pt x="609" y="241"/>
                  <a:pt x="667" y="267"/>
                  <a:pt x="726" y="29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68" name="Freeform 296"/>
          <p:cNvSpPr>
            <a:spLocks/>
          </p:cNvSpPr>
          <p:nvPr/>
        </p:nvSpPr>
        <p:spPr bwMode="auto">
          <a:xfrm>
            <a:off x="4379913" y="1816100"/>
            <a:ext cx="422275" cy="1382713"/>
          </a:xfrm>
          <a:custGeom>
            <a:avLst/>
            <a:gdLst>
              <a:gd name="T0" fmla="*/ 0 w 266"/>
              <a:gd name="T1" fmla="*/ 60483772 h 871"/>
              <a:gd name="T2" fmla="*/ 304939700 w 266"/>
              <a:gd name="T3" fmla="*/ 304939810 h 871"/>
              <a:gd name="T4" fmla="*/ 365423450 w 266"/>
              <a:gd name="T5" fmla="*/ 1890117871 h 871"/>
              <a:gd name="T6" fmla="*/ 670361563 w 266"/>
              <a:gd name="T7" fmla="*/ 2134573909 h 8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6" h="871">
                <a:moveTo>
                  <a:pt x="0" y="24"/>
                </a:moveTo>
                <a:cubicBezTo>
                  <a:pt x="48" y="12"/>
                  <a:pt x="97" y="0"/>
                  <a:pt x="121" y="121"/>
                </a:cubicBezTo>
                <a:cubicBezTo>
                  <a:pt x="145" y="242"/>
                  <a:pt x="121" y="629"/>
                  <a:pt x="145" y="750"/>
                </a:cubicBezTo>
                <a:cubicBezTo>
                  <a:pt x="169" y="871"/>
                  <a:pt x="217" y="859"/>
                  <a:pt x="266" y="847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0" name="Freeform 298"/>
          <p:cNvSpPr>
            <a:spLocks/>
          </p:cNvSpPr>
          <p:nvPr/>
        </p:nvSpPr>
        <p:spPr bwMode="auto">
          <a:xfrm>
            <a:off x="5954713" y="1816100"/>
            <a:ext cx="422275" cy="1843088"/>
          </a:xfrm>
          <a:custGeom>
            <a:avLst/>
            <a:gdLst>
              <a:gd name="T0" fmla="*/ 0 w 266"/>
              <a:gd name="T1" fmla="*/ 107464092 h 871"/>
              <a:gd name="T2" fmla="*/ 304939700 w 266"/>
              <a:gd name="T3" fmla="*/ 541802274 h 871"/>
              <a:gd name="T4" fmla="*/ 365423450 w 266"/>
              <a:gd name="T5" fmla="*/ 2147483647 h 871"/>
              <a:gd name="T6" fmla="*/ 670361563 w 266"/>
              <a:gd name="T7" fmla="*/ 2147483647 h 8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6" h="871">
                <a:moveTo>
                  <a:pt x="0" y="24"/>
                </a:moveTo>
                <a:cubicBezTo>
                  <a:pt x="48" y="12"/>
                  <a:pt x="97" y="0"/>
                  <a:pt x="121" y="121"/>
                </a:cubicBezTo>
                <a:cubicBezTo>
                  <a:pt x="145" y="242"/>
                  <a:pt x="121" y="629"/>
                  <a:pt x="145" y="750"/>
                </a:cubicBezTo>
                <a:cubicBezTo>
                  <a:pt x="169" y="871"/>
                  <a:pt x="217" y="859"/>
                  <a:pt x="266" y="847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1" name="Freeform 299"/>
          <p:cNvSpPr>
            <a:spLocks/>
          </p:cNvSpPr>
          <p:nvPr/>
        </p:nvSpPr>
        <p:spPr bwMode="auto">
          <a:xfrm>
            <a:off x="1308100" y="1892300"/>
            <a:ext cx="422275" cy="884238"/>
          </a:xfrm>
          <a:custGeom>
            <a:avLst/>
            <a:gdLst>
              <a:gd name="T0" fmla="*/ 0 w 266"/>
              <a:gd name="T1" fmla="*/ 24735314 h 871"/>
              <a:gd name="T2" fmla="*/ 304939700 w 266"/>
              <a:gd name="T3" fmla="*/ 124705984 h 871"/>
              <a:gd name="T4" fmla="*/ 365423450 w 266"/>
              <a:gd name="T5" fmla="*/ 772971216 h 871"/>
              <a:gd name="T6" fmla="*/ 670361563 w 266"/>
              <a:gd name="T7" fmla="*/ 872941885 h 8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6" h="871">
                <a:moveTo>
                  <a:pt x="0" y="24"/>
                </a:moveTo>
                <a:cubicBezTo>
                  <a:pt x="48" y="12"/>
                  <a:pt x="97" y="0"/>
                  <a:pt x="121" y="121"/>
                </a:cubicBezTo>
                <a:cubicBezTo>
                  <a:pt x="145" y="242"/>
                  <a:pt x="121" y="629"/>
                  <a:pt x="145" y="750"/>
                </a:cubicBezTo>
                <a:cubicBezTo>
                  <a:pt x="169" y="871"/>
                  <a:pt x="217" y="859"/>
                  <a:pt x="266" y="847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372" name="Text Box 300"/>
          <p:cNvSpPr txBox="1">
            <a:spLocks noChangeArrowheads="1"/>
          </p:cNvSpPr>
          <p:nvPr/>
        </p:nvSpPr>
        <p:spPr bwMode="auto">
          <a:xfrm>
            <a:off x="923925" y="1624013"/>
            <a:ext cx="40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2.42775E-6 C -0.02413 -0.02382 -0.04583 -0.04763 -0.04548 -0.06983 C -0.04514 -0.09203 -0.02187 -0.1126 0.00157 -0.13318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30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4" y="-66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11111E-6 L 0.08715 0.1291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58" y="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326 -0.0331 -0.04635 -0.0662 -0.04635 -0.09861 C -0.04635 -0.13101 -0.02291 -0.16319 0.00052 -0.19513 " pathEditMode="relative" ptsTypes="aaA">
                                      <p:cBhvr>
                                        <p:cTn id="35" dur="2000" fill="hold"/>
                                        <p:tgtEl>
                                          <p:spTgt spid="33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6659 " pathEditMode="relative" ptsTypes="AA">
                                      <p:cBhvr>
                                        <p:cTn id="45" dur="2000" fill="hold"/>
                                        <p:tgtEl>
                                          <p:spTgt spid="31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6659 " pathEditMode="relative" ptsTypes="AA">
                                      <p:cBhvr>
                                        <p:cTn id="70" dur="2000" fill="hold"/>
                                        <p:tgtEl>
                                          <p:spTgt spid="31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194 0.05879 " pathEditMode="relative" ptsTypes="AA">
                                      <p:cBhvr>
                                        <p:cTn id="87" dur="2000" fill="hold"/>
                                        <p:tgtEl>
                                          <p:spTgt spid="3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3.33333E-6 C -0.02205 -0.04051 -0.04357 -0.08032 -0.04357 -0.12361 C -0.0434 -0.16713 -0.02083 -0.21389 0.00191 -0.26018 " pathEditMode="relative" rAng="0" ptsTypes="aaA">
                                      <p:cBhvr>
                                        <p:cTn id="103" dur="2000" fill="hold"/>
                                        <p:tgtEl>
                                          <p:spTgt spid="3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-1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6659 " pathEditMode="relative" ptsTypes="AA">
                                      <p:cBhvr>
                                        <p:cTn id="113" dur="2000" fill="hold"/>
                                        <p:tgtEl>
                                          <p:spTgt spid="32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0.00023 L 0.08282 0.19329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32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6" y="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2378 -0.06543 -0.04757 -0.13087 -0.04757 -0.18613 C -0.04757 -0.24139 -0.00798 -0.30844 0 -0.33202 " pathEditMode="relative" ptsTypes="aaA">
                                      <p:cBhvr>
                                        <p:cTn id="156" dur="2000" fill="hold"/>
                                        <p:tgtEl>
                                          <p:spTgt spid="32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6659 " pathEditMode="relative" ptsTypes="AA">
                                      <p:cBhvr>
                                        <p:cTn id="167" dur="2000" fill="hold"/>
                                        <p:tgtEl>
                                          <p:spTgt spid="3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195 0.26875 " pathEditMode="relative" ptsTypes="AA">
                                      <p:cBhvr>
                                        <p:cTn id="193" dur="2000" fill="hold"/>
                                        <p:tgtEl>
                                          <p:spTgt spid="32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6" grpId="0"/>
      <p:bldP spid="3096" grpId="1"/>
      <p:bldP spid="3149" grpId="0"/>
      <p:bldP spid="3149" grpId="1"/>
      <p:bldP spid="3165" grpId="0"/>
      <p:bldP spid="3216" grpId="0"/>
      <p:bldP spid="3217" grpId="0"/>
      <p:bldP spid="3265" grpId="0"/>
      <p:bldP spid="3266" grpId="0"/>
      <p:bldP spid="3302" grpId="0" animBg="1"/>
      <p:bldP spid="3303" grpId="0" animBg="1"/>
      <p:bldP spid="3304" grpId="0" animBg="1"/>
      <p:bldP spid="3305" grpId="0" animBg="1"/>
      <p:bldP spid="3306" grpId="0" animBg="1"/>
      <p:bldP spid="3306" grpId="1" animBg="1"/>
      <p:bldP spid="3307" grpId="0" animBg="1"/>
      <p:bldP spid="3307" grpId="1" animBg="1"/>
      <p:bldP spid="3308" grpId="0" animBg="1"/>
      <p:bldP spid="3308" grpId="1" animBg="1"/>
      <p:bldP spid="3309" grpId="0" build="allAtOnce"/>
      <p:bldP spid="3310" grpId="0"/>
      <p:bldP spid="3310" grpId="1"/>
      <p:bldP spid="3311" grpId="0"/>
      <p:bldP spid="3312" grpId="0" animBg="1"/>
      <p:bldP spid="3312" grpId="1" animBg="1"/>
      <p:bldP spid="3314" grpId="0" animBg="1"/>
      <p:bldP spid="3314" grpId="1" animBg="1"/>
      <p:bldP spid="3315" grpId="0"/>
      <p:bldP spid="3315" grpId="1"/>
      <p:bldP spid="3332" grpId="0"/>
      <p:bldP spid="3332" grpId="1"/>
      <p:bldP spid="3215" grpId="0"/>
      <p:bldP spid="3250" grpId="0"/>
      <p:bldP spid="3333" grpId="0" animBg="1"/>
      <p:bldP spid="3333" grpId="1" animBg="1"/>
      <p:bldP spid="3334" grpId="0" animBg="1"/>
      <p:bldP spid="3334" grpId="1" animBg="1"/>
      <p:bldP spid="3364" grpId="0"/>
      <p:bldP spid="3364" grpId="1"/>
      <p:bldP spid="3267" grpId="0"/>
      <p:bldP spid="3267" grpId="1"/>
      <p:bldP spid="3366" grpId="0" animBg="1"/>
      <p:bldP spid="3368" grpId="0" animBg="1"/>
      <p:bldP spid="3370" grpId="0" animBg="1"/>
      <p:bldP spid="3371" grpId="0" animBg="1"/>
      <p:bldP spid="3372" grpId="0" build="allAtOnce"/>
      <p:bldP spid="3372" grpId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9750" y="1828800"/>
            <a:ext cx="8102600" cy="2039938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Arial Unicode MS" pitchFamily="34" charset="-128"/>
              </a:rPr>
              <a:t>		selectionsort(data[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</a:t>
            </a:r>
            <a:r>
              <a:rPr lang="en-US" sz="2400">
                <a:latin typeface="Arial Unicode MS" pitchFamily="34" charset="-128"/>
              </a:rPr>
              <a:t>for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i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=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0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to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data.length-2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i="1">
                <a:latin typeface="Courier New" pitchFamily="49" charset="0"/>
              </a:rPr>
              <a:t>		    </a:t>
            </a:r>
            <a:r>
              <a:rPr lang="en-US" sz="2400" i="1">
                <a:latin typeface="Times New Roman" pitchFamily="18" charset="0"/>
              </a:rPr>
              <a:t>select the smallest element among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     </a:t>
            </a:r>
            <a:r>
              <a:rPr lang="en-US" sz="2400">
                <a:latin typeface="Arial Unicode MS" pitchFamily="34" charset="-128"/>
              </a:rPr>
              <a:t>data[i]</a:t>
            </a:r>
            <a:r>
              <a:rPr lang="en-US" sz="2400"/>
              <a:t>, …, </a:t>
            </a:r>
            <a:r>
              <a:rPr lang="en-US" sz="2400">
                <a:latin typeface="Arial Unicode MS" pitchFamily="34" charset="-128"/>
              </a:rPr>
              <a:t>data[data.length-1];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  </a:t>
            </a:r>
            <a:r>
              <a:rPr lang="en-US" sz="2400" i="1">
                <a:latin typeface="Times New Roman" pitchFamily="18" charset="0"/>
              </a:rPr>
              <a:t>swap it with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data[i];</a:t>
            </a: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title"/>
          </p:nvPr>
        </p:nvSpPr>
        <p:spPr>
          <a:xfrm>
            <a:off x="539750" y="304800"/>
            <a:ext cx="8147050" cy="627063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Selection sort: algorithm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88963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Selection sort: example</a:t>
            </a:r>
          </a:p>
        </p:txBody>
      </p:sp>
      <p:graphicFrame>
        <p:nvGraphicFramePr>
          <p:cNvPr id="9238" name="Group 22"/>
          <p:cNvGraphicFramePr>
            <a:graphicFrameLocks noGrp="1"/>
          </p:cNvGraphicFramePr>
          <p:nvPr/>
        </p:nvGraphicFramePr>
        <p:xfrm>
          <a:off x="2166938" y="2057400"/>
          <a:ext cx="381000" cy="228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166938" y="2971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1</a:t>
            </a:r>
          </a:p>
        </p:txBody>
      </p:sp>
      <p:sp>
        <p:nvSpPr>
          <p:cNvPr id="9239" name="Line 23"/>
          <p:cNvSpPr>
            <a:spLocks noChangeShapeType="1"/>
          </p:cNvSpPr>
          <p:nvPr/>
        </p:nvSpPr>
        <p:spPr bwMode="auto">
          <a:xfrm>
            <a:off x="1633538" y="2286000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6" name="Line 30"/>
          <p:cNvSpPr>
            <a:spLocks noChangeShapeType="1"/>
          </p:cNvSpPr>
          <p:nvPr/>
        </p:nvSpPr>
        <p:spPr bwMode="auto">
          <a:xfrm>
            <a:off x="1633538" y="2276475"/>
            <a:ext cx="381000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7" name="Line 31"/>
          <p:cNvSpPr>
            <a:spLocks noChangeShapeType="1"/>
          </p:cNvSpPr>
          <p:nvPr/>
        </p:nvSpPr>
        <p:spPr bwMode="auto">
          <a:xfrm>
            <a:off x="1633538" y="3198813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2166938" y="20574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2</a:t>
            </a:r>
          </a:p>
        </p:txBody>
      </p:sp>
      <p:graphicFrame>
        <p:nvGraphicFramePr>
          <p:cNvPr id="9268" name="Group 52"/>
          <p:cNvGraphicFramePr>
            <a:graphicFrameLocks noGrp="1"/>
          </p:cNvGraphicFramePr>
          <p:nvPr/>
        </p:nvGraphicFramePr>
        <p:xfrm>
          <a:off x="3319463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70" name="Line 54"/>
          <p:cNvSpPr>
            <a:spLocks noChangeShapeType="1"/>
          </p:cNvSpPr>
          <p:nvPr/>
        </p:nvSpPr>
        <p:spPr bwMode="auto">
          <a:xfrm>
            <a:off x="2786063" y="2743200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3" name="Line 57"/>
          <p:cNvSpPr>
            <a:spLocks noChangeShapeType="1"/>
          </p:cNvSpPr>
          <p:nvPr/>
        </p:nvSpPr>
        <p:spPr bwMode="auto">
          <a:xfrm>
            <a:off x="2786063" y="3198813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5" name="Line 59"/>
          <p:cNvSpPr>
            <a:spLocks noChangeShapeType="1"/>
          </p:cNvSpPr>
          <p:nvPr/>
        </p:nvSpPr>
        <p:spPr bwMode="auto">
          <a:xfrm>
            <a:off x="2786063" y="2738438"/>
            <a:ext cx="381000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76" name="Text Box 60"/>
          <p:cNvSpPr txBox="1">
            <a:spLocks noChangeArrowheads="1"/>
          </p:cNvSpPr>
          <p:nvPr/>
        </p:nvSpPr>
        <p:spPr bwMode="auto">
          <a:xfrm>
            <a:off x="3319463" y="2971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2</a:t>
            </a:r>
          </a:p>
        </p:txBody>
      </p:sp>
      <p:sp>
        <p:nvSpPr>
          <p:cNvPr id="9277" name="Text Box 61"/>
          <p:cNvSpPr txBox="1">
            <a:spLocks noChangeArrowheads="1"/>
          </p:cNvSpPr>
          <p:nvPr/>
        </p:nvSpPr>
        <p:spPr bwMode="auto">
          <a:xfrm>
            <a:off x="3319463" y="25146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graphicFrame>
        <p:nvGraphicFramePr>
          <p:cNvPr id="9400" name="Group 184"/>
          <p:cNvGraphicFramePr>
            <a:graphicFrameLocks noGrp="1"/>
          </p:cNvGraphicFramePr>
          <p:nvPr/>
        </p:nvGraphicFramePr>
        <p:xfrm>
          <a:off x="4471988" y="2057400"/>
          <a:ext cx="381000" cy="230028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96" name="Line 80"/>
          <p:cNvSpPr>
            <a:spLocks noChangeShapeType="1"/>
          </p:cNvSpPr>
          <p:nvPr/>
        </p:nvSpPr>
        <p:spPr bwMode="auto">
          <a:xfrm>
            <a:off x="3903663" y="3200400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7" name="Line 81"/>
          <p:cNvSpPr>
            <a:spLocks noChangeShapeType="1"/>
          </p:cNvSpPr>
          <p:nvPr/>
        </p:nvSpPr>
        <p:spPr bwMode="auto">
          <a:xfrm>
            <a:off x="3894138" y="3659188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8" name="Line 82"/>
          <p:cNvSpPr>
            <a:spLocks noChangeShapeType="1"/>
          </p:cNvSpPr>
          <p:nvPr/>
        </p:nvSpPr>
        <p:spPr bwMode="auto">
          <a:xfrm>
            <a:off x="3903663" y="3200400"/>
            <a:ext cx="381000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99" name="Text Box 83"/>
          <p:cNvSpPr txBox="1">
            <a:spLocks noChangeArrowheads="1"/>
          </p:cNvSpPr>
          <p:nvPr/>
        </p:nvSpPr>
        <p:spPr bwMode="auto">
          <a:xfrm>
            <a:off x="4471988" y="3429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3</a:t>
            </a:r>
          </a:p>
        </p:txBody>
      </p:sp>
      <p:sp>
        <p:nvSpPr>
          <p:cNvPr id="9300" name="Text Box 84"/>
          <p:cNvSpPr txBox="1">
            <a:spLocks noChangeArrowheads="1"/>
          </p:cNvSpPr>
          <p:nvPr/>
        </p:nvSpPr>
        <p:spPr bwMode="auto">
          <a:xfrm>
            <a:off x="4471988" y="2971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graphicFrame>
        <p:nvGraphicFramePr>
          <p:cNvPr id="9315" name="Group 99"/>
          <p:cNvGraphicFramePr>
            <a:graphicFrameLocks noGrp="1"/>
          </p:cNvGraphicFramePr>
          <p:nvPr/>
        </p:nvGraphicFramePr>
        <p:xfrm>
          <a:off x="5624513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17" name="Line 101"/>
          <p:cNvSpPr>
            <a:spLocks noChangeShapeType="1"/>
          </p:cNvSpPr>
          <p:nvPr/>
        </p:nvSpPr>
        <p:spPr bwMode="auto">
          <a:xfrm>
            <a:off x="5091113" y="3657600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8" name="Line 102"/>
          <p:cNvSpPr>
            <a:spLocks noChangeShapeType="1"/>
          </p:cNvSpPr>
          <p:nvPr/>
        </p:nvSpPr>
        <p:spPr bwMode="auto">
          <a:xfrm>
            <a:off x="5091113" y="4119563"/>
            <a:ext cx="3810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9" name="Line 103"/>
          <p:cNvSpPr>
            <a:spLocks noChangeShapeType="1"/>
          </p:cNvSpPr>
          <p:nvPr/>
        </p:nvSpPr>
        <p:spPr bwMode="auto">
          <a:xfrm>
            <a:off x="5091113" y="3657600"/>
            <a:ext cx="381000" cy="0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20" name="Text Box 104"/>
          <p:cNvSpPr txBox="1">
            <a:spLocks noChangeArrowheads="1"/>
          </p:cNvSpPr>
          <p:nvPr/>
        </p:nvSpPr>
        <p:spPr bwMode="auto">
          <a:xfrm>
            <a:off x="5624513" y="38862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4</a:t>
            </a:r>
          </a:p>
        </p:txBody>
      </p:sp>
      <p:sp>
        <p:nvSpPr>
          <p:cNvPr id="9321" name="Text Box 105"/>
          <p:cNvSpPr txBox="1">
            <a:spLocks noChangeArrowheads="1"/>
          </p:cNvSpPr>
          <p:nvPr/>
        </p:nvSpPr>
        <p:spPr bwMode="auto">
          <a:xfrm>
            <a:off x="5624513" y="34290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graphicFrame>
        <p:nvGraphicFramePr>
          <p:cNvPr id="9336" name="Group 120"/>
          <p:cNvGraphicFramePr>
            <a:graphicFrameLocks noGrp="1"/>
          </p:cNvGraphicFramePr>
          <p:nvPr/>
        </p:nvGraphicFramePr>
        <p:xfrm>
          <a:off x="6773863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366" name="Group 150"/>
          <p:cNvGraphicFramePr>
            <a:graphicFrameLocks noGrp="1"/>
          </p:cNvGraphicFramePr>
          <p:nvPr/>
        </p:nvGraphicFramePr>
        <p:xfrm>
          <a:off x="7913688" y="2057400"/>
          <a:ext cx="381000" cy="229235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367" name="Group 151"/>
          <p:cNvGraphicFramePr>
            <a:graphicFrameLocks noGrp="1"/>
          </p:cNvGraphicFramePr>
          <p:nvPr/>
        </p:nvGraphicFramePr>
        <p:xfrm>
          <a:off x="1000125" y="2073275"/>
          <a:ext cx="381000" cy="228600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81" name="Line 165"/>
          <p:cNvSpPr>
            <a:spLocks noChangeShapeType="1"/>
          </p:cNvSpPr>
          <p:nvPr/>
        </p:nvSpPr>
        <p:spPr bwMode="auto">
          <a:xfrm>
            <a:off x="1403350" y="2335213"/>
            <a:ext cx="749300" cy="863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82" name="Line 166"/>
          <p:cNvSpPr>
            <a:spLocks noChangeShapeType="1"/>
          </p:cNvSpPr>
          <p:nvPr/>
        </p:nvSpPr>
        <p:spPr bwMode="auto">
          <a:xfrm flipV="1">
            <a:off x="1403350" y="2276475"/>
            <a:ext cx="749300" cy="922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83" name="Line 167"/>
          <p:cNvSpPr>
            <a:spLocks noChangeShapeType="1"/>
          </p:cNvSpPr>
          <p:nvPr/>
        </p:nvSpPr>
        <p:spPr bwMode="auto">
          <a:xfrm>
            <a:off x="2555875" y="2738438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84" name="Line 168"/>
          <p:cNvSpPr>
            <a:spLocks noChangeShapeType="1"/>
          </p:cNvSpPr>
          <p:nvPr/>
        </p:nvSpPr>
        <p:spPr bwMode="auto">
          <a:xfrm flipV="1">
            <a:off x="2555875" y="2738438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85" name="Line 169"/>
          <p:cNvSpPr>
            <a:spLocks noChangeShapeType="1"/>
          </p:cNvSpPr>
          <p:nvPr/>
        </p:nvSpPr>
        <p:spPr bwMode="auto">
          <a:xfrm>
            <a:off x="3708400" y="3198813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86" name="Line 170"/>
          <p:cNvSpPr>
            <a:spLocks noChangeShapeType="1"/>
          </p:cNvSpPr>
          <p:nvPr/>
        </p:nvSpPr>
        <p:spPr bwMode="auto">
          <a:xfrm flipV="1">
            <a:off x="3708400" y="3198813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87" name="Line 171"/>
          <p:cNvSpPr>
            <a:spLocks noChangeShapeType="1"/>
          </p:cNvSpPr>
          <p:nvPr/>
        </p:nvSpPr>
        <p:spPr bwMode="auto">
          <a:xfrm>
            <a:off x="4860925" y="3659188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88" name="Line 172"/>
          <p:cNvSpPr>
            <a:spLocks noChangeShapeType="1"/>
          </p:cNvSpPr>
          <p:nvPr/>
        </p:nvSpPr>
        <p:spPr bwMode="auto">
          <a:xfrm flipV="1">
            <a:off x="4860925" y="3659188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0" name="Freeform 174"/>
          <p:cNvSpPr>
            <a:spLocks/>
          </p:cNvSpPr>
          <p:nvPr/>
        </p:nvSpPr>
        <p:spPr bwMode="auto">
          <a:xfrm>
            <a:off x="2555875" y="2335213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1" name="Freeform 175"/>
          <p:cNvSpPr>
            <a:spLocks/>
          </p:cNvSpPr>
          <p:nvPr/>
        </p:nvSpPr>
        <p:spPr bwMode="auto">
          <a:xfrm>
            <a:off x="2555875" y="2276475"/>
            <a:ext cx="344488" cy="979488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1654132314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2" name="Freeform 176"/>
          <p:cNvSpPr>
            <a:spLocks/>
          </p:cNvSpPr>
          <p:nvPr/>
        </p:nvSpPr>
        <p:spPr bwMode="auto">
          <a:xfrm>
            <a:off x="2555875" y="2335213"/>
            <a:ext cx="344488" cy="863600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1285870621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3" name="Freeform 177"/>
          <p:cNvSpPr>
            <a:spLocks/>
          </p:cNvSpPr>
          <p:nvPr/>
        </p:nvSpPr>
        <p:spPr bwMode="auto">
          <a:xfrm>
            <a:off x="2555875" y="3198813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4" name="Freeform 178"/>
          <p:cNvSpPr>
            <a:spLocks/>
          </p:cNvSpPr>
          <p:nvPr/>
        </p:nvSpPr>
        <p:spPr bwMode="auto">
          <a:xfrm>
            <a:off x="2555875" y="3198813"/>
            <a:ext cx="344488" cy="863600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1285870621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5" name="Freeform 179"/>
          <p:cNvSpPr>
            <a:spLocks/>
          </p:cNvSpPr>
          <p:nvPr/>
        </p:nvSpPr>
        <p:spPr bwMode="auto">
          <a:xfrm>
            <a:off x="3708400" y="2738438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6" name="Freeform 180"/>
          <p:cNvSpPr>
            <a:spLocks/>
          </p:cNvSpPr>
          <p:nvPr/>
        </p:nvSpPr>
        <p:spPr bwMode="auto">
          <a:xfrm>
            <a:off x="3708400" y="3198813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8" name="Freeform 182"/>
          <p:cNvSpPr>
            <a:spLocks/>
          </p:cNvSpPr>
          <p:nvPr/>
        </p:nvSpPr>
        <p:spPr bwMode="auto">
          <a:xfrm>
            <a:off x="3708400" y="3255963"/>
            <a:ext cx="344488" cy="863600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1285870621 h 290"/>
              <a:gd name="T4" fmla="*/ 0 w 217"/>
              <a:gd name="T5" fmla="*/ 2147483647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9" name="Freeform 183"/>
          <p:cNvSpPr>
            <a:spLocks/>
          </p:cNvSpPr>
          <p:nvPr/>
        </p:nvSpPr>
        <p:spPr bwMode="auto">
          <a:xfrm>
            <a:off x="3708400" y="2738438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01" name="Freeform 185"/>
          <p:cNvSpPr>
            <a:spLocks/>
          </p:cNvSpPr>
          <p:nvPr/>
        </p:nvSpPr>
        <p:spPr bwMode="auto">
          <a:xfrm>
            <a:off x="4859338" y="3141663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02" name="Freeform 186"/>
          <p:cNvSpPr>
            <a:spLocks/>
          </p:cNvSpPr>
          <p:nvPr/>
        </p:nvSpPr>
        <p:spPr bwMode="auto">
          <a:xfrm>
            <a:off x="4860925" y="3659188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03" name="Freeform 187"/>
          <p:cNvSpPr>
            <a:spLocks/>
          </p:cNvSpPr>
          <p:nvPr/>
        </p:nvSpPr>
        <p:spPr bwMode="auto">
          <a:xfrm>
            <a:off x="4859338" y="3141663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04" name="Freeform 188"/>
          <p:cNvSpPr>
            <a:spLocks/>
          </p:cNvSpPr>
          <p:nvPr/>
        </p:nvSpPr>
        <p:spPr bwMode="auto">
          <a:xfrm>
            <a:off x="6011863" y="3659188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05" name="Freeform 189"/>
          <p:cNvSpPr>
            <a:spLocks/>
          </p:cNvSpPr>
          <p:nvPr/>
        </p:nvSpPr>
        <p:spPr bwMode="auto">
          <a:xfrm>
            <a:off x="6011863" y="3659188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1.44509E-6 C 0.02291 -0.02613 0.046 -0.05226 0.046 -0.07399 C 0.046 -0.09572 0.02291 -0.11353 -8.33333E-7 -0.1311 " pathEditMode="relative" ptsTypes="aaA">
                                      <p:cBhvr>
                                        <p:cTn id="42" dur="20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2.36994E-6 C -0.01892 0.02081 -0.03785 0.04162 -0.03802 0.06335 C -0.03819 0.08509 -0.01996 0.10798 -0.00156 0.1311 " pathEditMode="relative" ptsTypes="aaA">
                                      <p:cBhvr>
                                        <p:cTn id="44" dur="2000" fill="hold"/>
                                        <p:tgtEl>
                                          <p:spTgt spid="92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83237E-6 C 0.02291 -0.01341 0.046 -0.02659 0.046 -0.03769 C 0.046 -0.04879 0.02291 -0.05781 3.33333E-6 -0.06659 " pathEditMode="relative" rAng="0" ptsTypes="aaA">
                                      <p:cBhvr>
                                        <p:cTn id="97" dur="2000" fill="hold"/>
                                        <p:tgtEl>
                                          <p:spTgt spid="92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-3329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-0.01753 0.01111 -0.03507 0.02269 -0.03524 0.03449 C -0.03524 0.0463 -0.01857 0.05903 -0.00156 0.07199 " pathEditMode="relative" rAng="0" ptsTypes="aaA">
                                      <p:cBhvr>
                                        <p:cTn id="99" dur="2000" fill="hold"/>
                                        <p:tgtEl>
                                          <p:spTgt spid="9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83237E-6 C 0.02291 -0.01341 0.046 -0.02659 0.046 -0.03769 C 0.046 -0.04879 0.02291 -0.05781 3.33333E-6 -0.06659 " pathEditMode="relative" rAng="0" ptsTypes="aaA">
                                      <p:cBhvr>
                                        <p:cTn id="144" dur="2000" fill="hold"/>
                                        <p:tgtEl>
                                          <p:spTgt spid="9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-3329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7037E-7 C -0.01961 0.01134 -0.03906 0.02292 -0.03923 0.03472 C -0.03941 0.04676 -0.02066 0.05949 -0.00173 0.07245 " pathEditMode="relative" rAng="0" ptsTypes="aaA">
                                      <p:cBhvr>
                                        <p:cTn id="146" dur="2000" fill="hold"/>
                                        <p:tgtEl>
                                          <p:spTgt spid="93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79" y="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83237E-6 C 0.02291 -0.01341 0.046 -0.02659 0.046 -0.03769 C 0.046 -0.04879 0.02291 -0.05781 3.33333E-6 -0.06659 " pathEditMode="relative" rAng="0" ptsTypes="aaA">
                                      <p:cBhvr>
                                        <p:cTn id="185" dur="2000" fill="hold"/>
                                        <p:tgtEl>
                                          <p:spTgt spid="9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-3329"/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C -0.01754 0.01042 -0.0349 0.0213 -0.03507 0.03218 C -0.03507 0.04352 -0.01841 0.0551 -0.00156 0.06736 " pathEditMode="relative" rAng="0" ptsTypes="aaA">
                                      <p:cBhvr>
                                        <p:cTn id="187" dur="2000" fill="hold"/>
                                        <p:tgtEl>
                                          <p:spTgt spid="9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3" y="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7" grpId="0"/>
      <p:bldP spid="9239" grpId="0" animBg="1"/>
      <p:bldP spid="9239" grpId="1" animBg="1"/>
      <p:bldP spid="9246" grpId="0" animBg="1"/>
      <p:bldP spid="9246" grpId="1" animBg="1"/>
      <p:bldP spid="9247" grpId="0" animBg="1"/>
      <p:bldP spid="9247" grpId="1" animBg="1"/>
      <p:bldP spid="9249" grpId="0"/>
      <p:bldP spid="9270" grpId="0" animBg="1"/>
      <p:bldP spid="9270" grpId="1" animBg="1"/>
      <p:bldP spid="9273" grpId="0" animBg="1"/>
      <p:bldP spid="9273" grpId="1" animBg="1"/>
      <p:bldP spid="9275" grpId="0" animBg="1"/>
      <p:bldP spid="9275" grpId="1" animBg="1"/>
      <p:bldP spid="9276" grpId="0"/>
      <p:bldP spid="9277" grpId="0"/>
      <p:bldP spid="9296" grpId="0" animBg="1"/>
      <p:bldP spid="9296" grpId="1" animBg="1"/>
      <p:bldP spid="9297" grpId="0" animBg="1"/>
      <p:bldP spid="9297" grpId="1" animBg="1"/>
      <p:bldP spid="9298" grpId="0" animBg="1"/>
      <p:bldP spid="9298" grpId="1" animBg="1"/>
      <p:bldP spid="9299" grpId="0"/>
      <p:bldP spid="9299" grpId="1"/>
      <p:bldP spid="9300" grpId="0"/>
      <p:bldP spid="9300" grpId="1"/>
      <p:bldP spid="9317" grpId="0" animBg="1"/>
      <p:bldP spid="9317" grpId="1" animBg="1"/>
      <p:bldP spid="9318" grpId="0" animBg="1"/>
      <p:bldP spid="9318" grpId="1" animBg="1"/>
      <p:bldP spid="9319" grpId="0" animBg="1"/>
      <p:bldP spid="9319" grpId="1" animBg="1"/>
      <p:bldP spid="9320" grpId="0"/>
      <p:bldP spid="9320" grpId="1"/>
      <p:bldP spid="9321" grpId="0"/>
      <p:bldP spid="9321" grpId="1"/>
      <p:bldP spid="9381" grpId="0" animBg="1"/>
      <p:bldP spid="9382" grpId="0" animBg="1"/>
      <p:bldP spid="9383" grpId="0" animBg="1"/>
      <p:bldP spid="9384" grpId="0" animBg="1"/>
      <p:bldP spid="9385" grpId="0" animBg="1"/>
      <p:bldP spid="9386" grpId="0" animBg="1"/>
      <p:bldP spid="9387" grpId="0" animBg="1"/>
      <p:bldP spid="9388" grpId="0" animBg="1"/>
      <p:bldP spid="9390" grpId="0" animBg="1"/>
      <p:bldP spid="9390" grpId="1" animBg="1"/>
      <p:bldP spid="9391" grpId="0" animBg="1"/>
      <p:bldP spid="9391" grpId="1" animBg="1"/>
      <p:bldP spid="9392" grpId="0" animBg="1"/>
      <p:bldP spid="9392" grpId="1" animBg="1"/>
      <p:bldP spid="9393" grpId="0" animBg="1"/>
      <p:bldP spid="9393" grpId="1" animBg="1"/>
      <p:bldP spid="9394" grpId="0" animBg="1"/>
      <p:bldP spid="9394" grpId="1" animBg="1"/>
      <p:bldP spid="9395" grpId="0" animBg="1"/>
      <p:bldP spid="9395" grpId="1" animBg="1"/>
      <p:bldP spid="9396" grpId="0" animBg="1"/>
      <p:bldP spid="9396" grpId="1" animBg="1"/>
      <p:bldP spid="9398" grpId="0" animBg="1"/>
      <p:bldP spid="9398" grpId="1" animBg="1"/>
      <p:bldP spid="9399" grpId="0" animBg="1"/>
      <p:bldP spid="9399" grpId="1" animBg="1"/>
      <p:bldP spid="9401" grpId="0" animBg="1"/>
      <p:bldP spid="9401" grpId="1" animBg="1"/>
      <p:bldP spid="9402" grpId="0" animBg="1"/>
      <p:bldP spid="9402" grpId="1" animBg="1"/>
      <p:bldP spid="9403" grpId="0" animBg="1"/>
      <p:bldP spid="9403" grpId="1" animBg="1"/>
      <p:bldP spid="9404" grpId="0" animBg="1"/>
      <p:bldP spid="9404" grpId="1" animBg="1"/>
      <p:bldP spid="9405" grpId="0" animBg="1"/>
      <p:bldP spid="940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317500"/>
            <a:ext cx="8229600" cy="692150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Bubble sort: algorithm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1650" y="1600200"/>
            <a:ext cx="8180388" cy="2039938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Arial Unicode MS" pitchFamily="34" charset="-128"/>
              </a:rPr>
              <a:t>	bubblesort(data[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  </a:t>
            </a:r>
            <a:r>
              <a:rPr lang="en-US" sz="2400">
                <a:latin typeface="Arial Unicode MS" pitchFamily="34" charset="-128"/>
              </a:rPr>
              <a:t>for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i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=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0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to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data.length-2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    </a:t>
            </a:r>
            <a:r>
              <a:rPr lang="en-US" sz="2400">
                <a:latin typeface="Arial Unicode MS" pitchFamily="34" charset="-128"/>
              </a:rPr>
              <a:t>for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j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=</a:t>
            </a:r>
            <a:r>
              <a:rPr lang="en-US" sz="2400" i="1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data.length-1</a:t>
            </a:r>
            <a:r>
              <a:rPr lang="en-US" sz="2400">
                <a:latin typeface="Times New Roman" pitchFamily="18" charset="0"/>
              </a:rPr>
              <a:t> </a:t>
            </a:r>
            <a:r>
              <a:rPr lang="en-US" sz="2400" i="1">
                <a:latin typeface="Times New Roman" pitchFamily="18" charset="0"/>
              </a:rPr>
              <a:t>downto</a:t>
            </a:r>
            <a:r>
              <a:rPr lang="en-US" sz="2400">
                <a:latin typeface="Times New Roman" pitchFamily="18" charset="0"/>
              </a:rPr>
              <a:t> </a:t>
            </a:r>
            <a:r>
              <a:rPr lang="en-US" sz="2400">
                <a:latin typeface="Arial Unicode MS" pitchFamily="34" charset="-128"/>
              </a:rPr>
              <a:t>i+1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i="1">
                <a:latin typeface="Courier New" pitchFamily="49" charset="0"/>
              </a:rPr>
              <a:t>	      </a:t>
            </a:r>
            <a:r>
              <a:rPr lang="en-US" sz="2400">
                <a:latin typeface="Arial Unicode MS" pitchFamily="34" charset="-128"/>
              </a:rPr>
              <a:t>if</a:t>
            </a:r>
            <a:r>
              <a:rPr lang="en-US" sz="2400" i="1"/>
              <a:t> </a:t>
            </a:r>
            <a:r>
              <a:rPr lang="en-US" sz="2400" i="1">
                <a:latin typeface="Times New Roman" pitchFamily="18" charset="0"/>
              </a:rPr>
              <a:t>elements in positions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j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and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j-1</a:t>
            </a:r>
            <a:r>
              <a:rPr lang="en-US" sz="2400" i="1"/>
              <a:t> </a:t>
            </a:r>
            <a:r>
              <a:rPr lang="en-US" sz="2400" i="1">
                <a:latin typeface="Times New Roman" pitchFamily="18" charset="0"/>
              </a:rPr>
              <a:t>are out of order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i="1">
                <a:latin typeface="Courier New" pitchFamily="49" charset="0"/>
              </a:rPr>
              <a:t>	        </a:t>
            </a:r>
            <a:r>
              <a:rPr lang="en-US" sz="2400" i="1">
                <a:latin typeface="Times New Roman" pitchFamily="18" charset="0"/>
              </a:rPr>
              <a:t>swap them</a:t>
            </a:r>
            <a:r>
              <a:rPr lang="en-US" sz="2400">
                <a:latin typeface="Arial Unicode MS" pitchFamily="34" charset="-128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35012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Bubble sort: example</a:t>
            </a:r>
          </a:p>
        </p:txBody>
      </p:sp>
      <p:graphicFrame>
        <p:nvGraphicFramePr>
          <p:cNvPr id="13332" name="Group 20"/>
          <p:cNvGraphicFramePr>
            <a:graphicFrameLocks noGrp="1"/>
          </p:cNvGraphicFramePr>
          <p:nvPr>
            <p:ph idx="1"/>
          </p:nvPr>
        </p:nvGraphicFramePr>
        <p:xfrm>
          <a:off x="1579563" y="2046288"/>
          <a:ext cx="369887" cy="2286000"/>
        </p:xfrm>
        <a:graphic>
          <a:graphicData uri="http://schemas.openxmlformats.org/drawingml/2006/table">
            <a:tbl>
              <a:tblPr/>
              <a:tblGrid>
                <a:gridCol w="369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36" name="Freeform 24"/>
          <p:cNvSpPr>
            <a:spLocks/>
          </p:cNvSpPr>
          <p:nvPr/>
        </p:nvSpPr>
        <p:spPr bwMode="auto">
          <a:xfrm>
            <a:off x="1982788" y="3659188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7" name="Freeform 25"/>
          <p:cNvSpPr>
            <a:spLocks/>
          </p:cNvSpPr>
          <p:nvPr/>
        </p:nvSpPr>
        <p:spPr bwMode="auto">
          <a:xfrm>
            <a:off x="1982788" y="3198813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38" name="Freeform 26"/>
          <p:cNvSpPr>
            <a:spLocks/>
          </p:cNvSpPr>
          <p:nvPr/>
        </p:nvSpPr>
        <p:spPr bwMode="auto">
          <a:xfrm>
            <a:off x="1982788" y="2738438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0" name="Freeform 28"/>
          <p:cNvSpPr>
            <a:spLocks/>
          </p:cNvSpPr>
          <p:nvPr/>
        </p:nvSpPr>
        <p:spPr bwMode="auto">
          <a:xfrm>
            <a:off x="1982788" y="2738438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1579563" y="2971800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1</a:t>
            </a:r>
          </a:p>
        </p:txBody>
      </p:sp>
      <p:sp>
        <p:nvSpPr>
          <p:cNvPr id="13344" name="Text Box 32"/>
          <p:cNvSpPr txBox="1">
            <a:spLocks noChangeArrowheads="1"/>
          </p:cNvSpPr>
          <p:nvPr/>
        </p:nvSpPr>
        <p:spPr bwMode="auto">
          <a:xfrm>
            <a:off x="1579563" y="25066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graphicFrame>
        <p:nvGraphicFramePr>
          <p:cNvPr id="13476" name="Group 164"/>
          <p:cNvGraphicFramePr>
            <a:graphicFrameLocks noGrp="1"/>
          </p:cNvGraphicFramePr>
          <p:nvPr/>
        </p:nvGraphicFramePr>
        <p:xfrm>
          <a:off x="2732088" y="2046288"/>
          <a:ext cx="369887" cy="2311400"/>
        </p:xfrm>
        <a:graphic>
          <a:graphicData uri="http://schemas.openxmlformats.org/drawingml/2006/table">
            <a:tbl>
              <a:tblPr/>
              <a:tblGrid>
                <a:gridCol w="369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69" name="Freeform 57"/>
          <p:cNvSpPr>
            <a:spLocks/>
          </p:cNvSpPr>
          <p:nvPr/>
        </p:nvSpPr>
        <p:spPr bwMode="auto">
          <a:xfrm>
            <a:off x="3135313" y="2278063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0" name="Freeform 58"/>
          <p:cNvSpPr>
            <a:spLocks/>
          </p:cNvSpPr>
          <p:nvPr/>
        </p:nvSpPr>
        <p:spPr bwMode="auto">
          <a:xfrm>
            <a:off x="3133725" y="2278063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1" name="Text Box 59"/>
          <p:cNvSpPr txBox="1">
            <a:spLocks noChangeArrowheads="1"/>
          </p:cNvSpPr>
          <p:nvPr/>
        </p:nvSpPr>
        <p:spPr bwMode="auto">
          <a:xfrm>
            <a:off x="2732088" y="25066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1</a:t>
            </a:r>
          </a:p>
        </p:txBody>
      </p:sp>
      <p:sp>
        <p:nvSpPr>
          <p:cNvPr id="13372" name="Text Box 60"/>
          <p:cNvSpPr txBox="1">
            <a:spLocks noChangeArrowheads="1"/>
          </p:cNvSpPr>
          <p:nvPr/>
        </p:nvSpPr>
        <p:spPr bwMode="auto">
          <a:xfrm>
            <a:off x="2732088" y="20494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2</a:t>
            </a:r>
          </a:p>
        </p:txBody>
      </p:sp>
      <p:graphicFrame>
        <p:nvGraphicFramePr>
          <p:cNvPr id="13387" name="Group 75"/>
          <p:cNvGraphicFramePr>
            <a:graphicFrameLocks noGrp="1"/>
          </p:cNvGraphicFramePr>
          <p:nvPr/>
        </p:nvGraphicFramePr>
        <p:xfrm>
          <a:off x="3884613" y="2046288"/>
          <a:ext cx="369887" cy="2286000"/>
        </p:xfrm>
        <a:graphic>
          <a:graphicData uri="http://schemas.openxmlformats.org/drawingml/2006/table">
            <a:tbl>
              <a:tblPr/>
              <a:tblGrid>
                <a:gridCol w="369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93" name="Freeform 81"/>
          <p:cNvSpPr>
            <a:spLocks/>
          </p:cNvSpPr>
          <p:nvPr/>
        </p:nvSpPr>
        <p:spPr bwMode="auto">
          <a:xfrm>
            <a:off x="4287838" y="3205163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4" name="Freeform 82"/>
          <p:cNvSpPr>
            <a:spLocks/>
          </p:cNvSpPr>
          <p:nvPr/>
        </p:nvSpPr>
        <p:spPr bwMode="auto">
          <a:xfrm>
            <a:off x="4287838" y="3203575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95" name="Text Box 83"/>
          <p:cNvSpPr txBox="1">
            <a:spLocks noChangeArrowheads="1"/>
          </p:cNvSpPr>
          <p:nvPr/>
        </p:nvSpPr>
        <p:spPr bwMode="auto">
          <a:xfrm>
            <a:off x="3884613" y="34337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3</a:t>
            </a:r>
          </a:p>
        </p:txBody>
      </p:sp>
      <p:sp>
        <p:nvSpPr>
          <p:cNvPr id="13396" name="Text Box 84"/>
          <p:cNvSpPr txBox="1">
            <a:spLocks noChangeArrowheads="1"/>
          </p:cNvSpPr>
          <p:nvPr/>
        </p:nvSpPr>
        <p:spPr bwMode="auto">
          <a:xfrm>
            <a:off x="3884613" y="2976563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13397" name="Freeform 85"/>
          <p:cNvSpPr>
            <a:spLocks/>
          </p:cNvSpPr>
          <p:nvPr/>
        </p:nvSpPr>
        <p:spPr bwMode="auto">
          <a:xfrm>
            <a:off x="4287838" y="3659188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416" name="Group 104"/>
          <p:cNvGraphicFramePr>
            <a:graphicFrameLocks noGrp="1"/>
          </p:cNvGraphicFramePr>
          <p:nvPr/>
        </p:nvGraphicFramePr>
        <p:xfrm>
          <a:off x="5035550" y="2046288"/>
          <a:ext cx="369888" cy="2286000"/>
        </p:xfrm>
        <a:graphic>
          <a:graphicData uri="http://schemas.openxmlformats.org/drawingml/2006/table">
            <a:tbl>
              <a:tblPr/>
              <a:tblGrid>
                <a:gridCol w="36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12" name="Freeform 100"/>
          <p:cNvSpPr>
            <a:spLocks/>
          </p:cNvSpPr>
          <p:nvPr/>
        </p:nvSpPr>
        <p:spPr bwMode="auto">
          <a:xfrm>
            <a:off x="5438775" y="3660775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3" name="Freeform 101"/>
          <p:cNvSpPr>
            <a:spLocks/>
          </p:cNvSpPr>
          <p:nvPr/>
        </p:nvSpPr>
        <p:spPr bwMode="auto">
          <a:xfrm>
            <a:off x="5438775" y="3659188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4" name="Text Box 102"/>
          <p:cNvSpPr txBox="1">
            <a:spLocks noChangeArrowheads="1"/>
          </p:cNvSpPr>
          <p:nvPr/>
        </p:nvSpPr>
        <p:spPr bwMode="auto">
          <a:xfrm>
            <a:off x="5035550" y="3889375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4</a:t>
            </a:r>
          </a:p>
        </p:txBody>
      </p:sp>
      <p:sp>
        <p:nvSpPr>
          <p:cNvPr id="13415" name="Text Box 103"/>
          <p:cNvSpPr txBox="1">
            <a:spLocks noChangeArrowheads="1"/>
          </p:cNvSpPr>
          <p:nvPr/>
        </p:nvSpPr>
        <p:spPr bwMode="auto">
          <a:xfrm>
            <a:off x="5035550" y="3432175"/>
            <a:ext cx="38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>
                <a:latin typeface="Arial" charset="0"/>
              </a:rPr>
              <a:t>5</a:t>
            </a:r>
          </a:p>
        </p:txBody>
      </p:sp>
      <p:sp>
        <p:nvSpPr>
          <p:cNvPr id="13417" name="Freeform 105"/>
          <p:cNvSpPr>
            <a:spLocks/>
          </p:cNvSpPr>
          <p:nvPr/>
        </p:nvSpPr>
        <p:spPr bwMode="auto">
          <a:xfrm>
            <a:off x="4287838" y="2681288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8" name="Freeform 106"/>
          <p:cNvSpPr>
            <a:spLocks/>
          </p:cNvSpPr>
          <p:nvPr/>
        </p:nvSpPr>
        <p:spPr bwMode="auto">
          <a:xfrm>
            <a:off x="5438775" y="3140075"/>
            <a:ext cx="344488" cy="460375"/>
          </a:xfrm>
          <a:custGeom>
            <a:avLst/>
            <a:gdLst>
              <a:gd name="T0" fmla="*/ 0 w 217"/>
              <a:gd name="T1" fmla="*/ 0 h 290"/>
              <a:gd name="T2" fmla="*/ 546875494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433" name="Group 121"/>
          <p:cNvGraphicFramePr>
            <a:graphicFrameLocks noGrp="1"/>
          </p:cNvGraphicFramePr>
          <p:nvPr/>
        </p:nvGraphicFramePr>
        <p:xfrm>
          <a:off x="6188075" y="2073275"/>
          <a:ext cx="369888" cy="2286000"/>
        </p:xfrm>
        <a:graphic>
          <a:graphicData uri="http://schemas.openxmlformats.org/drawingml/2006/table">
            <a:tbl>
              <a:tblPr/>
              <a:tblGrid>
                <a:gridCol w="36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34" name="Freeform 122"/>
          <p:cNvSpPr>
            <a:spLocks/>
          </p:cNvSpPr>
          <p:nvPr/>
        </p:nvSpPr>
        <p:spPr bwMode="auto">
          <a:xfrm>
            <a:off x="6592888" y="3686175"/>
            <a:ext cx="344487" cy="460375"/>
          </a:xfrm>
          <a:custGeom>
            <a:avLst/>
            <a:gdLst>
              <a:gd name="T0" fmla="*/ 0 w 217"/>
              <a:gd name="T1" fmla="*/ 0 h 290"/>
              <a:gd name="T2" fmla="*/ 546872319 w 217"/>
              <a:gd name="T3" fmla="*/ 365423450 h 290"/>
              <a:gd name="T4" fmla="*/ 0 w 217"/>
              <a:gd name="T5" fmla="*/ 730845313 h 2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290">
                <a:moveTo>
                  <a:pt x="0" y="0"/>
                </a:moveTo>
                <a:cubicBezTo>
                  <a:pt x="108" y="48"/>
                  <a:pt x="217" y="97"/>
                  <a:pt x="217" y="145"/>
                </a:cubicBezTo>
                <a:cubicBezTo>
                  <a:pt x="217" y="193"/>
                  <a:pt x="108" y="241"/>
                  <a:pt x="0" y="290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491" name="Group 179"/>
          <p:cNvGraphicFramePr>
            <a:graphicFrameLocks noGrp="1"/>
          </p:cNvGraphicFramePr>
          <p:nvPr/>
        </p:nvGraphicFramePr>
        <p:xfrm>
          <a:off x="7340600" y="2073275"/>
          <a:ext cx="369888" cy="2286000"/>
        </p:xfrm>
        <a:graphic>
          <a:graphicData uri="http://schemas.openxmlformats.org/drawingml/2006/table">
            <a:tbl>
              <a:tblPr/>
              <a:tblGrid>
                <a:gridCol w="36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468" name="Group 156"/>
          <p:cNvGraphicFramePr>
            <a:graphicFrameLocks noGrp="1"/>
          </p:cNvGraphicFramePr>
          <p:nvPr/>
        </p:nvGraphicFramePr>
        <p:xfrm>
          <a:off x="460375" y="2046288"/>
          <a:ext cx="369888" cy="2311400"/>
        </p:xfrm>
        <a:graphic>
          <a:graphicData uri="http://schemas.openxmlformats.org/drawingml/2006/table">
            <a:tbl>
              <a:tblPr/>
              <a:tblGrid>
                <a:gridCol w="36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66" name="Line 154"/>
          <p:cNvSpPr>
            <a:spLocks noChangeShapeType="1"/>
          </p:cNvSpPr>
          <p:nvPr/>
        </p:nvSpPr>
        <p:spPr bwMode="auto">
          <a:xfrm>
            <a:off x="830263" y="2738438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67" name="Line 155"/>
          <p:cNvSpPr>
            <a:spLocks noChangeShapeType="1"/>
          </p:cNvSpPr>
          <p:nvPr/>
        </p:nvSpPr>
        <p:spPr bwMode="auto">
          <a:xfrm flipV="1">
            <a:off x="830263" y="2738438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69" name="Line 157"/>
          <p:cNvSpPr>
            <a:spLocks noChangeShapeType="1"/>
          </p:cNvSpPr>
          <p:nvPr/>
        </p:nvSpPr>
        <p:spPr bwMode="auto">
          <a:xfrm>
            <a:off x="1982788" y="2335213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70" name="Line 158"/>
          <p:cNvSpPr>
            <a:spLocks noChangeShapeType="1"/>
          </p:cNvSpPr>
          <p:nvPr/>
        </p:nvSpPr>
        <p:spPr bwMode="auto">
          <a:xfrm flipV="1">
            <a:off x="1982788" y="2335213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71" name="Line 159"/>
          <p:cNvSpPr>
            <a:spLocks noChangeShapeType="1"/>
          </p:cNvSpPr>
          <p:nvPr/>
        </p:nvSpPr>
        <p:spPr bwMode="auto">
          <a:xfrm>
            <a:off x="3135313" y="3198813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72" name="Line 160"/>
          <p:cNvSpPr>
            <a:spLocks noChangeShapeType="1"/>
          </p:cNvSpPr>
          <p:nvPr/>
        </p:nvSpPr>
        <p:spPr bwMode="auto">
          <a:xfrm flipV="1">
            <a:off x="3135313" y="3198813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73" name="Line 161"/>
          <p:cNvSpPr>
            <a:spLocks noChangeShapeType="1"/>
          </p:cNvSpPr>
          <p:nvPr/>
        </p:nvSpPr>
        <p:spPr bwMode="auto">
          <a:xfrm>
            <a:off x="4286250" y="3716338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74" name="Line 162"/>
          <p:cNvSpPr>
            <a:spLocks noChangeShapeType="1"/>
          </p:cNvSpPr>
          <p:nvPr/>
        </p:nvSpPr>
        <p:spPr bwMode="auto">
          <a:xfrm flipV="1">
            <a:off x="4286250" y="3716338"/>
            <a:ext cx="749300" cy="460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3477" name="Group 165"/>
          <p:cNvGraphicFramePr>
            <a:graphicFrameLocks noGrp="1"/>
          </p:cNvGraphicFramePr>
          <p:nvPr/>
        </p:nvGraphicFramePr>
        <p:xfrm>
          <a:off x="8374063" y="2046288"/>
          <a:ext cx="369887" cy="2286000"/>
        </p:xfrm>
        <a:graphic>
          <a:graphicData uri="http://schemas.openxmlformats.org/drawingml/2006/table">
            <a:tbl>
              <a:tblPr/>
              <a:tblGrid>
                <a:gridCol w="369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83237E-6 C 0.02291 -0.01341 0.046 -0.02659 0.046 -0.03769 C 0.046 -0.04879 0.02291 -0.05781 3.33333E-6 -0.06659 " pathEditMode="relative" rAng="0" ptsTypes="aaA">
                                      <p:cBhvr>
                                        <p:cTn id="28" dur="2000" fill="hold"/>
                                        <p:tgtEl>
                                          <p:spTgt spid="133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-332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50289E-6 C -0.01893 0.01041 -0.03785 0.02104 -0.03802 0.03214 C -0.0382 0.04324 -0.01997 0.05526 -0.00156 0.06752 " pathEditMode="relative" rAng="0" ptsTypes="aaA">
                                      <p:cBhvr>
                                        <p:cTn id="30" dur="2000" fill="hold"/>
                                        <p:tgtEl>
                                          <p:spTgt spid="13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337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3 -1.50289E-6 C 0.02465 -0.01341 0.04774 -0.02659 0.04774 -0.03769 C 0.04774 -0.04878 0.02465 -0.0578 0.00173 -0.06659 " pathEditMode="relative" rAng="0" ptsTypes="aaA">
                                      <p:cBhvr>
                                        <p:cTn id="59" dur="2000" fill="hold"/>
                                        <p:tgtEl>
                                          <p:spTgt spid="133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-332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07407E-6 C -0.01892 0.01018 -0.03784 0.02106 -0.03802 0.03194 C -0.03819 0.04305 -0.01996 0.05486 -0.00156 0.06713 " pathEditMode="relative" rAng="0" ptsTypes="aaA">
                                      <p:cBhvr>
                                        <p:cTn id="61" dur="2000" fill="hold"/>
                                        <p:tgtEl>
                                          <p:spTgt spid="133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3356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83237E-6 C 0.02291 -0.01341 0.046 -0.02659 0.046 -0.03769 C 0.046 -0.04879 0.02291 -0.05781 3.33333E-6 -0.06659 " pathEditMode="relative" rAng="0" ptsTypes="aaA">
                                      <p:cBhvr>
                                        <p:cTn id="100" dur="2000" fill="hold"/>
                                        <p:tgtEl>
                                          <p:spTgt spid="133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-3329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11111E-6 C -0.01892 0.01019 -0.03785 0.02083 -0.03802 0.03171 C -0.03819 0.04259 -0.01997 0.05417 -0.00156 0.0662 " pathEditMode="relative" rAng="0" ptsTypes="aaA">
                                      <p:cBhvr>
                                        <p:cTn id="102" dur="2000" fill="hold"/>
                                        <p:tgtEl>
                                          <p:spTgt spid="133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83237E-6 C 0.02291 -0.01341 0.046 -0.02659 0.046 -0.03769 C 0.046 -0.04879 0.02291 -0.05781 3.33333E-6 -0.06659 " pathEditMode="relative" rAng="0" ptsTypes="aaA">
                                      <p:cBhvr>
                                        <p:cTn id="139" dur="2000" fill="hold"/>
                                        <p:tgtEl>
                                          <p:spTgt spid="13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-3329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7037E-6 C -0.01893 0.01018 -0.03785 0.02106 -0.03802 0.03194 C -0.0382 0.04282 -0.01997 0.05463 -0.00156 0.06689 " pathEditMode="relative" rAng="0" ptsTypes="aaA">
                                      <p:cBhvr>
                                        <p:cTn id="141" dur="2000" fill="hold"/>
                                        <p:tgtEl>
                                          <p:spTgt spid="134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0" y="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6" grpId="0" animBg="1"/>
      <p:bldP spid="13336" grpId="1" animBg="1"/>
      <p:bldP spid="13337" grpId="0" animBg="1"/>
      <p:bldP spid="13337" grpId="1" animBg="1"/>
      <p:bldP spid="13338" grpId="0" animBg="1"/>
      <p:bldP spid="13338" grpId="1" animBg="1"/>
      <p:bldP spid="13340" grpId="0" animBg="1"/>
      <p:bldP spid="13340" grpId="1" animBg="1"/>
      <p:bldP spid="13369" grpId="0" animBg="1"/>
      <p:bldP spid="13369" grpId="1" animBg="1"/>
      <p:bldP spid="13370" grpId="0" animBg="1"/>
      <p:bldP spid="13370" grpId="1" animBg="1"/>
      <p:bldP spid="13371" grpId="0"/>
      <p:bldP spid="13371" grpId="1"/>
      <p:bldP spid="13372" grpId="0"/>
      <p:bldP spid="13393" grpId="0" animBg="1"/>
      <p:bldP spid="13393" grpId="1" animBg="1"/>
      <p:bldP spid="13394" grpId="0" animBg="1"/>
      <p:bldP spid="13394" grpId="1" animBg="1"/>
      <p:bldP spid="13395" grpId="0"/>
      <p:bldP spid="13395" grpId="1"/>
      <p:bldP spid="13395" grpId="2"/>
      <p:bldP spid="13396" grpId="0"/>
      <p:bldP spid="13397" grpId="0" animBg="1"/>
      <p:bldP spid="13397" grpId="1" animBg="1"/>
      <p:bldP spid="13412" grpId="0" animBg="1"/>
      <p:bldP spid="13412" grpId="1" animBg="1"/>
      <p:bldP spid="13413" grpId="0" animBg="1"/>
      <p:bldP spid="13413" grpId="1" animBg="1"/>
      <p:bldP spid="13414" grpId="0"/>
      <p:bldP spid="13414" grpId="1"/>
      <p:bldP spid="13414" grpId="2"/>
      <p:bldP spid="13415" grpId="0"/>
      <p:bldP spid="13417" grpId="0" animBg="1"/>
      <p:bldP spid="13417" grpId="1" animBg="1"/>
      <p:bldP spid="13418" grpId="0" animBg="1"/>
      <p:bldP spid="13418" grpId="1" animBg="1"/>
      <p:bldP spid="13434" grpId="0" animBg="1"/>
      <p:bldP spid="13434" grpId="1" animBg="1"/>
      <p:bldP spid="13466" grpId="0" animBg="1"/>
      <p:bldP spid="13467" grpId="0" animBg="1"/>
      <p:bldP spid="13469" grpId="0" animBg="1"/>
      <p:bldP spid="13470" grpId="0" animBg="1"/>
      <p:bldP spid="13471" grpId="0" animBg="1"/>
      <p:bldP spid="13472" grpId="0" animBg="1"/>
      <p:bldP spid="13473" grpId="0" animBg="1"/>
      <p:bldP spid="1347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0"/>
          <p:cNvSpPr>
            <a:spLocks noGrp="1" noChangeArrowheads="1"/>
          </p:cNvSpPr>
          <p:nvPr>
            <p:ph type="title"/>
          </p:nvPr>
        </p:nvSpPr>
        <p:spPr>
          <a:xfrm>
            <a:off x="423863" y="274638"/>
            <a:ext cx="8334375" cy="619125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Basic sorting algorithms: comparison</a:t>
            </a:r>
          </a:p>
        </p:txBody>
      </p:sp>
      <p:graphicFrame>
        <p:nvGraphicFramePr>
          <p:cNvPr id="16477" name="Group 93"/>
          <p:cNvGraphicFramePr>
            <a:graphicFrameLocks noGrp="1"/>
          </p:cNvGraphicFramePr>
          <p:nvPr>
            <p:ph sz="half" idx="1"/>
          </p:nvPr>
        </p:nvGraphicFramePr>
        <p:xfrm>
          <a:off x="423863" y="1085850"/>
          <a:ext cx="8358187" cy="1477963"/>
        </p:xfrm>
        <a:graphic>
          <a:graphicData uri="http://schemas.openxmlformats.org/drawingml/2006/table">
            <a:tbl>
              <a:tblPr/>
              <a:tblGrid>
                <a:gridCol w="188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8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best 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avg 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 case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comparisons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movements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479" name="Group 95"/>
          <p:cNvGraphicFramePr>
            <a:graphicFrameLocks noGrp="1"/>
          </p:cNvGraphicFramePr>
          <p:nvPr>
            <p:ph sz="quarter" idx="2"/>
          </p:nvPr>
        </p:nvGraphicFramePr>
        <p:xfrm>
          <a:off x="423863" y="2736850"/>
          <a:ext cx="8351837" cy="1371600"/>
        </p:xfrm>
        <a:graphic>
          <a:graphicData uri="http://schemas.openxmlformats.org/drawingml/2006/table">
            <a:tbl>
              <a:tblPr/>
              <a:tblGrid>
                <a:gridCol w="1881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6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selection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best 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avg case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 case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comparisons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movements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481" name="Group 97"/>
          <p:cNvGraphicFramePr>
            <a:graphicFrameLocks noGrp="1"/>
          </p:cNvGraphicFramePr>
          <p:nvPr>
            <p:ph sz="quarter" idx="3"/>
          </p:nvPr>
        </p:nvGraphicFramePr>
        <p:xfrm>
          <a:off x="423863" y="4291013"/>
          <a:ext cx="8351837" cy="1371600"/>
        </p:xfrm>
        <a:graphic>
          <a:graphicData uri="http://schemas.openxmlformats.org/drawingml/2006/table">
            <a:tbl>
              <a:tblPr/>
              <a:tblGrid>
                <a:gridCol w="1881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5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bubble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best case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avg case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 case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comparisons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movements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9125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Divide-and-conquer sorting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63" y="2103438"/>
            <a:ext cx="8258175" cy="22225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			DCsorting(data[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			    </a:t>
            </a:r>
            <a:r>
              <a:rPr lang="en-US" sz="2400" i="1">
                <a:latin typeface="Times New Roman" pitchFamily="18" charset="0"/>
              </a:rPr>
              <a:t>partition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into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data1[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and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data2[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			    </a:t>
            </a:r>
            <a:r>
              <a:rPr lang="en-US" sz="2400">
                <a:latin typeface="Arial Unicode MS" pitchFamily="34" charset="-128"/>
              </a:rPr>
              <a:t>DCsorting(data1[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]);</a:t>
            </a:r>
            <a:r>
              <a:rPr lang="en-US" sz="2400">
                <a:latin typeface="Courier New" pitchFamily="49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			    </a:t>
            </a:r>
            <a:r>
              <a:rPr lang="en-US" sz="2400">
                <a:latin typeface="Arial Unicode MS" pitchFamily="34" charset="-128"/>
              </a:rPr>
              <a:t>DCsorting(data2[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			    </a:t>
            </a:r>
            <a:r>
              <a:rPr lang="en-US" sz="2400" i="1">
                <a:latin typeface="Times New Roman" pitchFamily="18" charset="0"/>
              </a:rPr>
              <a:t>merge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data1[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and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data2[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into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];</a:t>
            </a:r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 flipH="1">
            <a:off x="1920875" y="2795588"/>
            <a:ext cx="6905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693738" y="2601913"/>
            <a:ext cx="1150937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quicksort</a:t>
            </a:r>
          </a:p>
        </p:txBody>
      </p:sp>
      <p:sp>
        <p:nvSpPr>
          <p:cNvPr id="22534" name="Line 6"/>
          <p:cNvSpPr>
            <a:spLocks noChangeShapeType="1"/>
          </p:cNvSpPr>
          <p:nvPr/>
        </p:nvSpPr>
        <p:spPr bwMode="auto">
          <a:xfrm flipH="1">
            <a:off x="1922463" y="4087813"/>
            <a:ext cx="69056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93738" y="3894138"/>
            <a:ext cx="1154112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mergesort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nimBg="1"/>
      <p:bldP spid="22533" grpId="0" animBg="1"/>
      <p:bldP spid="22534" grpId="0" animBg="1"/>
      <p:bldP spid="225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35012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Merging ordered arrays into one array</a:t>
            </a:r>
          </a:p>
        </p:txBody>
      </p:sp>
      <p:graphicFrame>
        <p:nvGraphicFramePr>
          <p:cNvPr id="25618" name="Group 18"/>
          <p:cNvGraphicFramePr>
            <a:graphicFrameLocks noGrp="1"/>
          </p:cNvGraphicFramePr>
          <p:nvPr>
            <p:ph idx="1"/>
          </p:nvPr>
        </p:nvGraphicFramePr>
        <p:xfrm>
          <a:off x="2116138" y="1739900"/>
          <a:ext cx="2041525" cy="517956"/>
        </p:xfrm>
        <a:graphic>
          <a:graphicData uri="http://schemas.openxmlformats.org/drawingml/2006/table">
            <a:tbl>
              <a:tblPr/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619" name="Group 19"/>
          <p:cNvGraphicFramePr>
            <a:graphicFrameLocks noGrp="1"/>
          </p:cNvGraphicFramePr>
          <p:nvPr/>
        </p:nvGraphicFramePr>
        <p:xfrm>
          <a:off x="4535488" y="1739900"/>
          <a:ext cx="2041525" cy="517956"/>
        </p:xfrm>
        <a:graphic>
          <a:graphicData uri="http://schemas.openxmlformats.org/drawingml/2006/table">
            <a:tbl>
              <a:tblPr/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654" name="Group 54"/>
          <p:cNvGraphicFramePr>
            <a:graphicFrameLocks noGrp="1"/>
          </p:cNvGraphicFramePr>
          <p:nvPr/>
        </p:nvGraphicFramePr>
        <p:xfrm>
          <a:off x="2298700" y="3008313"/>
          <a:ext cx="4079875" cy="517956"/>
        </p:xfrm>
        <a:graphic>
          <a:graphicData uri="http://schemas.openxmlformats.org/drawingml/2006/table">
            <a:tbl>
              <a:tblPr/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18" marB="456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618" marB="456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655" name="Line 55"/>
          <p:cNvSpPr>
            <a:spLocks noChangeShapeType="1"/>
          </p:cNvSpPr>
          <p:nvPr/>
        </p:nvSpPr>
        <p:spPr bwMode="auto">
          <a:xfrm>
            <a:off x="2371725" y="127952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6" name="Line 56"/>
          <p:cNvSpPr>
            <a:spLocks noChangeShapeType="1"/>
          </p:cNvSpPr>
          <p:nvPr/>
        </p:nvSpPr>
        <p:spPr bwMode="auto">
          <a:xfrm>
            <a:off x="4791075" y="127952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7" name="Line 57"/>
          <p:cNvSpPr>
            <a:spLocks noChangeShapeType="1"/>
          </p:cNvSpPr>
          <p:nvPr/>
        </p:nvSpPr>
        <p:spPr bwMode="auto">
          <a:xfrm>
            <a:off x="2543175" y="358457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58" name="Text Box 58"/>
          <p:cNvSpPr txBox="1">
            <a:spLocks noChangeArrowheads="1"/>
          </p:cNvSpPr>
          <p:nvPr/>
        </p:nvSpPr>
        <p:spPr bwMode="auto">
          <a:xfrm>
            <a:off x="2312988" y="3008313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800">
                <a:latin typeface="Arial" charset="0"/>
              </a:rPr>
              <a:t>1</a:t>
            </a:r>
          </a:p>
        </p:txBody>
      </p:sp>
      <p:sp>
        <p:nvSpPr>
          <p:cNvPr id="25660" name="Line 60"/>
          <p:cNvSpPr>
            <a:spLocks noChangeShapeType="1"/>
          </p:cNvSpPr>
          <p:nvPr/>
        </p:nvSpPr>
        <p:spPr bwMode="auto">
          <a:xfrm flipH="1">
            <a:off x="2543175" y="2259013"/>
            <a:ext cx="2247900" cy="749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61" name="Line 61"/>
          <p:cNvSpPr>
            <a:spLocks noChangeShapeType="1"/>
          </p:cNvSpPr>
          <p:nvPr/>
        </p:nvSpPr>
        <p:spPr bwMode="auto">
          <a:xfrm>
            <a:off x="5308600" y="127952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62" name="Line 62"/>
          <p:cNvSpPr>
            <a:spLocks noChangeShapeType="1"/>
          </p:cNvSpPr>
          <p:nvPr/>
        </p:nvSpPr>
        <p:spPr bwMode="auto">
          <a:xfrm>
            <a:off x="3062288" y="358457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63" name="Line 63"/>
          <p:cNvSpPr>
            <a:spLocks noChangeShapeType="1"/>
          </p:cNvSpPr>
          <p:nvPr/>
        </p:nvSpPr>
        <p:spPr bwMode="auto">
          <a:xfrm flipH="1" flipV="1">
            <a:off x="2371725" y="2259013"/>
            <a:ext cx="690563" cy="749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64" name="Text Box 64"/>
          <p:cNvSpPr txBox="1">
            <a:spLocks noChangeArrowheads="1"/>
          </p:cNvSpPr>
          <p:nvPr/>
        </p:nvSpPr>
        <p:spPr bwMode="auto">
          <a:xfrm>
            <a:off x="2832100" y="3008313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800">
                <a:latin typeface="Arial" charset="0"/>
              </a:rPr>
              <a:t>2</a:t>
            </a:r>
          </a:p>
        </p:txBody>
      </p:sp>
      <p:sp>
        <p:nvSpPr>
          <p:cNvPr id="25665" name="Line 65"/>
          <p:cNvSpPr>
            <a:spLocks noChangeShapeType="1"/>
          </p:cNvSpPr>
          <p:nvPr/>
        </p:nvSpPr>
        <p:spPr bwMode="auto">
          <a:xfrm>
            <a:off x="2889250" y="127952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66" name="Line 66"/>
          <p:cNvSpPr>
            <a:spLocks noChangeShapeType="1"/>
          </p:cNvSpPr>
          <p:nvPr/>
        </p:nvSpPr>
        <p:spPr bwMode="auto">
          <a:xfrm>
            <a:off x="3581400" y="358457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67" name="Text Box 67"/>
          <p:cNvSpPr txBox="1">
            <a:spLocks noChangeArrowheads="1"/>
          </p:cNvSpPr>
          <p:nvPr/>
        </p:nvSpPr>
        <p:spPr bwMode="auto">
          <a:xfrm>
            <a:off x="3351213" y="3008313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800">
                <a:latin typeface="Arial" charset="0"/>
              </a:rPr>
              <a:t>5</a:t>
            </a:r>
          </a:p>
        </p:txBody>
      </p:sp>
      <p:sp>
        <p:nvSpPr>
          <p:cNvPr id="25670" name="Line 70"/>
          <p:cNvSpPr>
            <a:spLocks noChangeShapeType="1"/>
          </p:cNvSpPr>
          <p:nvPr/>
        </p:nvSpPr>
        <p:spPr bwMode="auto">
          <a:xfrm flipH="1">
            <a:off x="3581400" y="2259013"/>
            <a:ext cx="1728788" cy="749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71" name="Line 71"/>
          <p:cNvSpPr>
            <a:spLocks noChangeShapeType="1"/>
          </p:cNvSpPr>
          <p:nvPr/>
        </p:nvSpPr>
        <p:spPr bwMode="auto">
          <a:xfrm>
            <a:off x="5827713" y="127952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72" name="Line 72"/>
          <p:cNvSpPr>
            <a:spLocks noChangeShapeType="1"/>
          </p:cNvSpPr>
          <p:nvPr/>
        </p:nvSpPr>
        <p:spPr bwMode="auto">
          <a:xfrm>
            <a:off x="4041775" y="358457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73" name="Text Box 73"/>
          <p:cNvSpPr txBox="1">
            <a:spLocks noChangeArrowheads="1"/>
          </p:cNvSpPr>
          <p:nvPr/>
        </p:nvSpPr>
        <p:spPr bwMode="auto">
          <a:xfrm>
            <a:off x="3868738" y="3008313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800">
                <a:latin typeface="Arial" charset="0"/>
              </a:rPr>
              <a:t>5</a:t>
            </a:r>
          </a:p>
        </p:txBody>
      </p:sp>
      <p:sp>
        <p:nvSpPr>
          <p:cNvPr id="25674" name="Line 74"/>
          <p:cNvSpPr>
            <a:spLocks noChangeShapeType="1"/>
          </p:cNvSpPr>
          <p:nvPr/>
        </p:nvSpPr>
        <p:spPr bwMode="auto">
          <a:xfrm flipH="1" flipV="1">
            <a:off x="2889250" y="2259013"/>
            <a:ext cx="1152525" cy="749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75" name="Line 75"/>
          <p:cNvSpPr>
            <a:spLocks noChangeShapeType="1"/>
          </p:cNvSpPr>
          <p:nvPr/>
        </p:nvSpPr>
        <p:spPr bwMode="auto">
          <a:xfrm>
            <a:off x="3408363" y="127952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76" name="Line 76"/>
          <p:cNvSpPr>
            <a:spLocks noChangeShapeType="1"/>
          </p:cNvSpPr>
          <p:nvPr/>
        </p:nvSpPr>
        <p:spPr bwMode="auto">
          <a:xfrm>
            <a:off x="4560888" y="358457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77" name="Text Box 77"/>
          <p:cNvSpPr txBox="1">
            <a:spLocks noChangeArrowheads="1"/>
          </p:cNvSpPr>
          <p:nvPr/>
        </p:nvSpPr>
        <p:spPr bwMode="auto">
          <a:xfrm>
            <a:off x="4387850" y="3008313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800">
                <a:latin typeface="Arial" charset="0"/>
              </a:rPr>
              <a:t>6</a:t>
            </a:r>
          </a:p>
        </p:txBody>
      </p:sp>
      <p:sp>
        <p:nvSpPr>
          <p:cNvPr id="25678" name="Line 78"/>
          <p:cNvSpPr>
            <a:spLocks noChangeShapeType="1"/>
          </p:cNvSpPr>
          <p:nvPr/>
        </p:nvSpPr>
        <p:spPr bwMode="auto">
          <a:xfrm flipH="1" flipV="1">
            <a:off x="3408363" y="2259013"/>
            <a:ext cx="1152525" cy="749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79" name="Line 79"/>
          <p:cNvSpPr>
            <a:spLocks noChangeShapeType="1"/>
          </p:cNvSpPr>
          <p:nvPr/>
        </p:nvSpPr>
        <p:spPr bwMode="auto">
          <a:xfrm>
            <a:off x="3868738" y="127952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80" name="Line 80"/>
          <p:cNvSpPr>
            <a:spLocks noChangeShapeType="1"/>
          </p:cNvSpPr>
          <p:nvPr/>
        </p:nvSpPr>
        <p:spPr bwMode="auto">
          <a:xfrm>
            <a:off x="5078413" y="358457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81" name="Text Box 81"/>
          <p:cNvSpPr txBox="1">
            <a:spLocks noChangeArrowheads="1"/>
          </p:cNvSpPr>
          <p:nvPr/>
        </p:nvSpPr>
        <p:spPr bwMode="auto">
          <a:xfrm>
            <a:off x="4906963" y="3008313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800">
                <a:latin typeface="Arial" charset="0"/>
              </a:rPr>
              <a:t>7</a:t>
            </a:r>
          </a:p>
        </p:txBody>
      </p:sp>
      <p:sp>
        <p:nvSpPr>
          <p:cNvPr id="25682" name="Line 82"/>
          <p:cNvSpPr>
            <a:spLocks noChangeShapeType="1"/>
          </p:cNvSpPr>
          <p:nvPr/>
        </p:nvSpPr>
        <p:spPr bwMode="auto">
          <a:xfrm flipH="1">
            <a:off x="5078413" y="2259013"/>
            <a:ext cx="692150" cy="749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83" name="Line 83"/>
          <p:cNvSpPr>
            <a:spLocks noChangeShapeType="1"/>
          </p:cNvSpPr>
          <p:nvPr/>
        </p:nvSpPr>
        <p:spPr bwMode="auto">
          <a:xfrm>
            <a:off x="6288088" y="127952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84" name="Line 84"/>
          <p:cNvSpPr>
            <a:spLocks noChangeShapeType="1"/>
          </p:cNvSpPr>
          <p:nvPr/>
        </p:nvSpPr>
        <p:spPr bwMode="auto">
          <a:xfrm>
            <a:off x="5654675" y="358457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85" name="Text Box 85"/>
          <p:cNvSpPr txBox="1">
            <a:spLocks noChangeArrowheads="1"/>
          </p:cNvSpPr>
          <p:nvPr/>
        </p:nvSpPr>
        <p:spPr bwMode="auto">
          <a:xfrm>
            <a:off x="5424488" y="3008313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800">
                <a:latin typeface="Arial" charset="0"/>
              </a:rPr>
              <a:t>8</a:t>
            </a:r>
          </a:p>
        </p:txBody>
      </p:sp>
      <p:sp>
        <p:nvSpPr>
          <p:cNvPr id="25686" name="Line 86"/>
          <p:cNvSpPr>
            <a:spLocks noChangeShapeType="1"/>
          </p:cNvSpPr>
          <p:nvPr/>
        </p:nvSpPr>
        <p:spPr bwMode="auto">
          <a:xfrm flipH="1" flipV="1">
            <a:off x="3925888" y="2259013"/>
            <a:ext cx="1671637" cy="749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87" name="Line 87"/>
          <p:cNvSpPr>
            <a:spLocks noChangeShapeType="1"/>
          </p:cNvSpPr>
          <p:nvPr/>
        </p:nvSpPr>
        <p:spPr bwMode="auto">
          <a:xfrm>
            <a:off x="6115050" y="3584575"/>
            <a:ext cx="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88" name="Text Box 88"/>
          <p:cNvSpPr txBox="1">
            <a:spLocks noChangeArrowheads="1"/>
          </p:cNvSpPr>
          <p:nvPr/>
        </p:nvSpPr>
        <p:spPr bwMode="auto">
          <a:xfrm>
            <a:off x="5884863" y="3008313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800">
                <a:latin typeface="Arial" charset="0"/>
              </a:rPr>
              <a:t>9</a:t>
            </a:r>
          </a:p>
        </p:txBody>
      </p:sp>
      <p:sp>
        <p:nvSpPr>
          <p:cNvPr id="25689" name="Line 89"/>
          <p:cNvSpPr>
            <a:spLocks noChangeShapeType="1"/>
          </p:cNvSpPr>
          <p:nvPr/>
        </p:nvSpPr>
        <p:spPr bwMode="auto">
          <a:xfrm flipH="1">
            <a:off x="6115050" y="2259013"/>
            <a:ext cx="174625" cy="749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5733" name="Group 133"/>
          <p:cNvGraphicFramePr>
            <a:graphicFrameLocks noGrp="1"/>
          </p:cNvGraphicFramePr>
          <p:nvPr/>
        </p:nvGraphicFramePr>
        <p:xfrm>
          <a:off x="1136650" y="4043363"/>
          <a:ext cx="6797675" cy="1498601"/>
        </p:xfrm>
        <a:graphic>
          <a:graphicData uri="http://schemas.openxmlformats.org/drawingml/2006/table">
            <a:tbl>
              <a:tblPr/>
              <a:tblGrid>
                <a:gridCol w="184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best case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avg case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worst case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comparisons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movements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712" name="Rectangle 112"/>
          <p:cNvSpPr>
            <a:spLocks noChangeArrowheads="1"/>
          </p:cNvSpPr>
          <p:nvPr/>
        </p:nvSpPr>
        <p:spPr bwMode="auto">
          <a:xfrm>
            <a:off x="6407150" y="4562475"/>
            <a:ext cx="1295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lnSpc>
                <a:spcPct val="100000"/>
              </a:lnSpc>
            </a:pPr>
            <a:r>
              <a:rPr lang="en-US" sz="2400" i="1">
                <a:latin typeface="Arial" charset="0"/>
              </a:rPr>
              <a:t>n</a:t>
            </a:r>
            <a:r>
              <a:rPr lang="en-US" sz="2400">
                <a:latin typeface="Arial" charset="0"/>
              </a:rPr>
              <a:t> – 1</a:t>
            </a:r>
          </a:p>
          <a:p>
            <a:pPr marL="342900" indent="-342900" algn="ctr">
              <a:lnSpc>
                <a:spcPct val="100000"/>
              </a:lnSpc>
            </a:pPr>
            <a:r>
              <a:rPr lang="en-US" sz="2400">
                <a:latin typeface="Arial" charset="0"/>
              </a:rPr>
              <a:t> </a:t>
            </a:r>
          </a:p>
        </p:txBody>
      </p:sp>
      <p:sp>
        <p:nvSpPr>
          <p:cNvPr id="25720" name="Rectangle 120"/>
          <p:cNvSpPr>
            <a:spLocks noChangeArrowheads="1"/>
          </p:cNvSpPr>
          <p:nvPr/>
        </p:nvSpPr>
        <p:spPr bwMode="auto">
          <a:xfrm>
            <a:off x="3036888" y="4562475"/>
            <a:ext cx="1295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lnSpc>
                <a:spcPct val="100000"/>
              </a:lnSpc>
            </a:pPr>
            <a:r>
              <a:rPr lang="en-US" sz="2400" i="1">
                <a:latin typeface="Arial" charset="0"/>
              </a:rPr>
              <a:t>n</a:t>
            </a:r>
            <a:r>
              <a:rPr lang="en-US" sz="2400">
                <a:latin typeface="Arial" charset="0"/>
              </a:rPr>
              <a:t>/2</a:t>
            </a:r>
          </a:p>
        </p:txBody>
      </p:sp>
      <p:sp>
        <p:nvSpPr>
          <p:cNvPr id="25726" name="Rectangle 126"/>
          <p:cNvSpPr>
            <a:spLocks noChangeArrowheads="1"/>
          </p:cNvSpPr>
          <p:nvPr/>
        </p:nvSpPr>
        <p:spPr bwMode="auto">
          <a:xfrm>
            <a:off x="4737100" y="4552950"/>
            <a:ext cx="1295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lnSpc>
                <a:spcPct val="100000"/>
              </a:lnSpc>
            </a:pPr>
            <a:r>
              <a:rPr lang="en-US" sz="2400" i="1">
                <a:latin typeface="Arial" charset="0"/>
              </a:rPr>
              <a:t>cn</a:t>
            </a:r>
            <a:r>
              <a:rPr lang="en-US" sz="2400">
                <a:latin typeface="Arial" charset="0"/>
              </a:rPr>
              <a:t> – 1</a:t>
            </a:r>
          </a:p>
          <a:p>
            <a:pPr marL="342900" indent="-342900" algn="ctr">
              <a:lnSpc>
                <a:spcPct val="100000"/>
              </a:lnSpc>
            </a:pPr>
            <a:r>
              <a:rPr lang="en-US" sz="2400">
                <a:latin typeface="Arial" charset="0"/>
              </a:rPr>
              <a:t> </a:t>
            </a:r>
          </a:p>
        </p:txBody>
      </p:sp>
      <p:sp>
        <p:nvSpPr>
          <p:cNvPr id="25734" name="Rectangle 134"/>
          <p:cNvSpPr>
            <a:spLocks noChangeArrowheads="1"/>
          </p:cNvSpPr>
          <p:nvPr/>
        </p:nvSpPr>
        <p:spPr bwMode="auto">
          <a:xfrm>
            <a:off x="6407150" y="5072063"/>
            <a:ext cx="1295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lnSpc>
                <a:spcPct val="100000"/>
              </a:lnSpc>
            </a:pPr>
            <a:r>
              <a:rPr lang="en-US" sz="2400" i="1">
                <a:latin typeface="Arial" charset="0"/>
              </a:rPr>
              <a:t>n</a:t>
            </a:r>
            <a:endParaRPr lang="en-US" sz="2400">
              <a:latin typeface="Arial" charset="0"/>
            </a:endParaRPr>
          </a:p>
          <a:p>
            <a:pPr marL="342900" indent="-342900" algn="ctr">
              <a:lnSpc>
                <a:spcPct val="100000"/>
              </a:lnSpc>
            </a:pPr>
            <a:r>
              <a:rPr lang="en-US" sz="2400">
                <a:latin typeface="Arial" charset="0"/>
              </a:rPr>
              <a:t> </a:t>
            </a:r>
          </a:p>
        </p:txBody>
      </p:sp>
      <p:sp>
        <p:nvSpPr>
          <p:cNvPr id="25735" name="Rectangle 135"/>
          <p:cNvSpPr>
            <a:spLocks noChangeArrowheads="1"/>
          </p:cNvSpPr>
          <p:nvPr/>
        </p:nvSpPr>
        <p:spPr bwMode="auto">
          <a:xfrm>
            <a:off x="3036888" y="5072063"/>
            <a:ext cx="1295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lnSpc>
                <a:spcPct val="100000"/>
              </a:lnSpc>
            </a:pPr>
            <a:r>
              <a:rPr lang="en-US" sz="2400" i="1">
                <a:latin typeface="Arial" charset="0"/>
              </a:rPr>
              <a:t>n</a:t>
            </a:r>
            <a:endParaRPr lang="en-US" sz="2400">
              <a:latin typeface="Arial" charset="0"/>
            </a:endParaRPr>
          </a:p>
        </p:txBody>
      </p:sp>
      <p:sp>
        <p:nvSpPr>
          <p:cNvPr id="25736" name="Rectangle 136"/>
          <p:cNvSpPr>
            <a:spLocks noChangeArrowheads="1"/>
          </p:cNvSpPr>
          <p:nvPr/>
        </p:nvSpPr>
        <p:spPr bwMode="auto">
          <a:xfrm>
            <a:off x="4737100" y="5062538"/>
            <a:ext cx="1295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ctr">
              <a:lnSpc>
                <a:spcPct val="100000"/>
              </a:lnSpc>
            </a:pPr>
            <a:r>
              <a:rPr lang="en-US" sz="2400" i="1">
                <a:latin typeface="Arial" charset="0"/>
              </a:rPr>
              <a:t>n</a:t>
            </a:r>
            <a:endParaRPr lang="en-US" sz="2400">
              <a:latin typeface="Arial" charset="0"/>
            </a:endParaRPr>
          </a:p>
          <a:p>
            <a:pPr marL="342900" indent="-342900" algn="ctr">
              <a:lnSpc>
                <a:spcPct val="100000"/>
              </a:lnSpc>
            </a:pPr>
            <a:r>
              <a:rPr lang="en-US" sz="2400">
                <a:latin typeface="Arial" charset="0"/>
              </a:rPr>
              <a:t> </a:t>
            </a:r>
          </a:p>
        </p:txBody>
      </p:sp>
      <p:sp>
        <p:nvSpPr>
          <p:cNvPr id="25737" name="Rectangle 137"/>
          <p:cNvSpPr>
            <a:spLocks noChangeArrowheads="1"/>
          </p:cNvSpPr>
          <p:nvPr/>
        </p:nvSpPr>
        <p:spPr bwMode="auto">
          <a:xfrm>
            <a:off x="7413625" y="2997200"/>
            <a:ext cx="1344613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algn="ctr">
              <a:lnSpc>
                <a:spcPct val="100000"/>
              </a:lnSpc>
            </a:pPr>
            <a:r>
              <a:rPr lang="en-US" sz="2000" i="1">
                <a:latin typeface="Times New Roman" pitchFamily="18" charset="0"/>
              </a:rPr>
              <a:t>n </a:t>
            </a:r>
            <a:r>
              <a:rPr lang="en-US" sz="2000">
                <a:latin typeface="Times New Roman" pitchFamily="18" charset="0"/>
              </a:rPr>
              <a:t>elements</a:t>
            </a:r>
            <a:r>
              <a:rPr lang="en-US" sz="2400">
                <a:latin typeface="Arial" charset="0"/>
              </a:rPr>
              <a:t> </a:t>
            </a:r>
          </a:p>
        </p:txBody>
      </p:sp>
      <p:sp>
        <p:nvSpPr>
          <p:cNvPr id="25738" name="Line 138"/>
          <p:cNvSpPr>
            <a:spLocks noChangeShapeType="1"/>
          </p:cNvSpPr>
          <p:nvPr/>
        </p:nvSpPr>
        <p:spPr bwMode="auto">
          <a:xfrm>
            <a:off x="6724650" y="3238500"/>
            <a:ext cx="5762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55" grpId="0" animBg="1"/>
      <p:bldP spid="25655" grpId="1" animBg="1"/>
      <p:bldP spid="25656" grpId="0" animBg="1"/>
      <p:bldP spid="25656" grpId="1" animBg="1"/>
      <p:bldP spid="25657" grpId="0" animBg="1"/>
      <p:bldP spid="25657" grpId="1" animBg="1"/>
      <p:bldP spid="25658" grpId="0"/>
      <p:bldP spid="25660" grpId="0" animBg="1"/>
      <p:bldP spid="25661" grpId="0" animBg="1"/>
      <p:bldP spid="25661" grpId="1" animBg="1"/>
      <p:bldP spid="25662" grpId="0" animBg="1"/>
      <p:bldP spid="25662" grpId="1" animBg="1"/>
      <p:bldP spid="25663" grpId="0" animBg="1"/>
      <p:bldP spid="25664" grpId="0"/>
      <p:bldP spid="25665" grpId="0" animBg="1"/>
      <p:bldP spid="25665" grpId="1" animBg="1"/>
      <p:bldP spid="25666" grpId="0" animBg="1"/>
      <p:bldP spid="25666" grpId="1" animBg="1"/>
      <p:bldP spid="25667" grpId="0"/>
      <p:bldP spid="25670" grpId="0" animBg="1"/>
      <p:bldP spid="25671" grpId="0" animBg="1"/>
      <p:bldP spid="25671" grpId="1" animBg="1"/>
      <p:bldP spid="25672" grpId="0" animBg="1"/>
      <p:bldP spid="25672" grpId="1" animBg="1"/>
      <p:bldP spid="25673" grpId="0"/>
      <p:bldP spid="25674" grpId="0" animBg="1"/>
      <p:bldP spid="25675" grpId="0" animBg="1"/>
      <p:bldP spid="25675" grpId="1" animBg="1"/>
      <p:bldP spid="25676" grpId="0" animBg="1"/>
      <p:bldP spid="25676" grpId="1" animBg="1"/>
      <p:bldP spid="25677" grpId="0"/>
      <p:bldP spid="25678" grpId="0" animBg="1"/>
      <p:bldP spid="25679" grpId="0" animBg="1"/>
      <p:bldP spid="25679" grpId="1" animBg="1"/>
      <p:bldP spid="25680" grpId="0" animBg="1"/>
      <p:bldP spid="25680" grpId="1" animBg="1"/>
      <p:bldP spid="25681" grpId="0"/>
      <p:bldP spid="25682" grpId="0" animBg="1"/>
      <p:bldP spid="25683" grpId="0" animBg="1"/>
      <p:bldP spid="25683" grpId="1" animBg="1"/>
      <p:bldP spid="25684" grpId="0" animBg="1"/>
      <p:bldP spid="25684" grpId="1" animBg="1"/>
      <p:bldP spid="25685" grpId="0"/>
      <p:bldP spid="25686" grpId="0" animBg="1"/>
      <p:bldP spid="25687" grpId="0" animBg="1"/>
      <p:bldP spid="25687" grpId="1" animBg="1"/>
      <p:bldP spid="25688" grpId="0"/>
      <p:bldP spid="25689" grpId="0" animBg="1"/>
      <p:bldP spid="25712" grpId="0"/>
      <p:bldP spid="25720" grpId="0"/>
      <p:bldP spid="25726" grpId="0"/>
      <p:bldP spid="25734" grpId="0"/>
      <p:bldP spid="25735" grpId="0"/>
      <p:bldP spid="25736" grpId="0"/>
      <p:bldP spid="25737" grpId="0" animBg="1"/>
      <p:bldP spid="257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4838" cy="26606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			mergesort(data[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], first, last)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			    if first &lt; last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			        mid = (first + last) / 2;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			        mergesort(data[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], first, mid);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			        mergesort(data[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], mid+1, last);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			        merge(data[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], first, last);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title"/>
          </p:nvPr>
        </p:nvSpPr>
        <p:spPr>
          <a:xfrm>
            <a:off x="482600" y="433388"/>
            <a:ext cx="8229600" cy="619125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Mergesort: algorithm</a:t>
            </a: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654050" y="2506663"/>
            <a:ext cx="1266825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partitioning</a:t>
            </a:r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 flipH="1">
            <a:off x="2036763" y="2738438"/>
            <a:ext cx="654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654050" y="3851275"/>
            <a:ext cx="1268413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merging</a:t>
            </a:r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 flipH="1">
            <a:off x="2057400" y="4043363"/>
            <a:ext cx="633413" cy="15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8229600" cy="461962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Mergesort: example</a:t>
            </a:r>
          </a:p>
        </p:txBody>
      </p:sp>
      <p:graphicFrame>
        <p:nvGraphicFramePr>
          <p:cNvPr id="43014" name="Group 6"/>
          <p:cNvGraphicFramePr>
            <a:graphicFrameLocks noGrp="1"/>
          </p:cNvGraphicFramePr>
          <p:nvPr/>
        </p:nvGraphicFramePr>
        <p:xfrm>
          <a:off x="3338513" y="727075"/>
          <a:ext cx="2386012" cy="341364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78" name="Group 470"/>
          <p:cNvGraphicFramePr>
            <a:graphicFrameLocks noGrp="1"/>
          </p:cNvGraphicFramePr>
          <p:nvPr/>
        </p:nvGraphicFramePr>
        <p:xfrm>
          <a:off x="2209800" y="1414463"/>
          <a:ext cx="1325563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76" name="Group 468"/>
          <p:cNvGraphicFramePr>
            <a:graphicFrameLocks noGrp="1"/>
          </p:cNvGraphicFramePr>
          <p:nvPr/>
        </p:nvGraphicFramePr>
        <p:xfrm>
          <a:off x="5435600" y="1385888"/>
          <a:ext cx="1073150" cy="344487"/>
        </p:xfrm>
        <a:graphic>
          <a:graphicData uri="http://schemas.openxmlformats.org/drawingml/2006/table">
            <a:tbl>
              <a:tblPr/>
              <a:tblGrid>
                <a:gridCol w="27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105" name="Line 97"/>
          <p:cNvSpPr>
            <a:spLocks noChangeShapeType="1"/>
          </p:cNvSpPr>
          <p:nvPr/>
        </p:nvSpPr>
        <p:spPr bwMode="auto">
          <a:xfrm flipH="1">
            <a:off x="2843213" y="1068388"/>
            <a:ext cx="1038225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06" name="Line 98"/>
          <p:cNvSpPr>
            <a:spLocks noChangeShapeType="1"/>
          </p:cNvSpPr>
          <p:nvPr/>
        </p:nvSpPr>
        <p:spPr bwMode="auto">
          <a:xfrm>
            <a:off x="5205413" y="1068388"/>
            <a:ext cx="749300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132" name="Group 124"/>
          <p:cNvGraphicFramePr>
            <a:graphicFrameLocks noGrp="1"/>
          </p:cNvGraphicFramePr>
          <p:nvPr/>
        </p:nvGraphicFramePr>
        <p:xfrm>
          <a:off x="1644650" y="2047875"/>
          <a:ext cx="795338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142" name="Line 134"/>
          <p:cNvSpPr>
            <a:spLocks noChangeShapeType="1"/>
          </p:cNvSpPr>
          <p:nvPr/>
        </p:nvSpPr>
        <p:spPr bwMode="auto">
          <a:xfrm flipH="1">
            <a:off x="2036763" y="1760538"/>
            <a:ext cx="461962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294" name="Group 286"/>
          <p:cNvGraphicFramePr>
            <a:graphicFrameLocks noGrp="1"/>
          </p:cNvGraphicFramePr>
          <p:nvPr/>
        </p:nvGraphicFramePr>
        <p:xfrm>
          <a:off x="1333500" y="2738438"/>
          <a:ext cx="530225" cy="341364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165" name="Group 157"/>
          <p:cNvGraphicFramePr>
            <a:graphicFrameLocks noGrp="1"/>
          </p:cNvGraphicFramePr>
          <p:nvPr/>
        </p:nvGraphicFramePr>
        <p:xfrm>
          <a:off x="2325688" y="2738438"/>
          <a:ext cx="265112" cy="346075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174" name="Group 166"/>
          <p:cNvGraphicFramePr>
            <a:graphicFrameLocks noGrp="1"/>
          </p:cNvGraphicFramePr>
          <p:nvPr/>
        </p:nvGraphicFramePr>
        <p:xfrm>
          <a:off x="3097213" y="2738438"/>
          <a:ext cx="265112" cy="346075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06" name="Group 398"/>
          <p:cNvGraphicFramePr>
            <a:graphicFrameLocks noGrp="1"/>
          </p:cNvGraphicFramePr>
          <p:nvPr/>
        </p:nvGraphicFramePr>
        <p:xfrm>
          <a:off x="6242050" y="2047875"/>
          <a:ext cx="530225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354" name="Group 346"/>
          <p:cNvGraphicFramePr>
            <a:graphicFrameLocks noGrp="1"/>
          </p:cNvGraphicFramePr>
          <p:nvPr/>
        </p:nvGraphicFramePr>
        <p:xfrm>
          <a:off x="3305175" y="6194425"/>
          <a:ext cx="2386013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275" name="Group 267"/>
          <p:cNvGraphicFramePr>
            <a:graphicFrameLocks noGrp="1"/>
          </p:cNvGraphicFramePr>
          <p:nvPr/>
        </p:nvGraphicFramePr>
        <p:xfrm>
          <a:off x="3292475" y="2049463"/>
          <a:ext cx="530225" cy="344487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283" name="Line 275"/>
          <p:cNvSpPr>
            <a:spLocks noChangeShapeType="1"/>
          </p:cNvSpPr>
          <p:nvPr/>
        </p:nvSpPr>
        <p:spPr bwMode="auto">
          <a:xfrm>
            <a:off x="3246438" y="1760538"/>
            <a:ext cx="288925" cy="287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285" name="Group 277"/>
          <p:cNvGraphicFramePr>
            <a:graphicFrameLocks noGrp="1"/>
          </p:cNvGraphicFramePr>
          <p:nvPr/>
        </p:nvGraphicFramePr>
        <p:xfrm>
          <a:off x="5148263" y="2049463"/>
          <a:ext cx="530225" cy="344487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295" name="Group 287"/>
          <p:cNvGraphicFramePr>
            <a:graphicFrameLocks noGrp="1"/>
          </p:cNvGraphicFramePr>
          <p:nvPr/>
        </p:nvGraphicFramePr>
        <p:xfrm>
          <a:off x="3708400" y="2738438"/>
          <a:ext cx="265113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301" name="Line 293"/>
          <p:cNvSpPr>
            <a:spLocks noChangeShapeType="1"/>
          </p:cNvSpPr>
          <p:nvPr/>
        </p:nvSpPr>
        <p:spPr bwMode="auto">
          <a:xfrm flipH="1">
            <a:off x="3246438" y="2393950"/>
            <a:ext cx="173037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450" name="Group 442"/>
          <p:cNvGraphicFramePr>
            <a:graphicFrameLocks noGrp="1"/>
          </p:cNvGraphicFramePr>
          <p:nvPr/>
        </p:nvGraphicFramePr>
        <p:xfrm>
          <a:off x="1289050" y="4121150"/>
          <a:ext cx="530225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344" name="Group 336"/>
          <p:cNvGraphicFramePr>
            <a:graphicFrameLocks noGrp="1"/>
          </p:cNvGraphicFramePr>
          <p:nvPr/>
        </p:nvGraphicFramePr>
        <p:xfrm>
          <a:off x="1633538" y="4754563"/>
          <a:ext cx="795337" cy="346075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355" name="Group 347"/>
          <p:cNvGraphicFramePr>
            <a:graphicFrameLocks noGrp="1"/>
          </p:cNvGraphicFramePr>
          <p:nvPr/>
        </p:nvGraphicFramePr>
        <p:xfrm>
          <a:off x="3305175" y="4754563"/>
          <a:ext cx="530225" cy="344487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73" name="Group 465"/>
          <p:cNvGraphicFramePr>
            <a:graphicFrameLocks noGrp="1"/>
          </p:cNvGraphicFramePr>
          <p:nvPr/>
        </p:nvGraphicFramePr>
        <p:xfrm>
          <a:off x="2117725" y="5446713"/>
          <a:ext cx="1325563" cy="347662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377" name="Group 369"/>
          <p:cNvGraphicFramePr>
            <a:graphicFrameLocks noGrp="1"/>
          </p:cNvGraphicFramePr>
          <p:nvPr/>
        </p:nvGraphicFramePr>
        <p:xfrm>
          <a:off x="5148263" y="4754563"/>
          <a:ext cx="530225" cy="344487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385" name="Group 377"/>
          <p:cNvGraphicFramePr>
            <a:graphicFrameLocks noGrp="1"/>
          </p:cNvGraphicFramePr>
          <p:nvPr/>
        </p:nvGraphicFramePr>
        <p:xfrm>
          <a:off x="6288088" y="4754563"/>
          <a:ext cx="530225" cy="344487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68" name="Group 460"/>
          <p:cNvGraphicFramePr>
            <a:graphicFrameLocks noGrp="1"/>
          </p:cNvGraphicFramePr>
          <p:nvPr/>
        </p:nvGraphicFramePr>
        <p:xfrm>
          <a:off x="5435600" y="5446713"/>
          <a:ext cx="1060450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407" name="Line 399"/>
          <p:cNvSpPr>
            <a:spLocks noChangeShapeType="1"/>
          </p:cNvSpPr>
          <p:nvPr/>
        </p:nvSpPr>
        <p:spPr bwMode="auto">
          <a:xfrm>
            <a:off x="3708400" y="2393950"/>
            <a:ext cx="114300" cy="344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408" name="Group 400"/>
          <p:cNvGraphicFramePr>
            <a:graphicFrameLocks noGrp="1"/>
          </p:cNvGraphicFramePr>
          <p:nvPr/>
        </p:nvGraphicFramePr>
        <p:xfrm>
          <a:off x="6057900" y="2738438"/>
          <a:ext cx="265113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14" name="Group 406"/>
          <p:cNvGraphicFramePr>
            <a:graphicFrameLocks noGrp="1"/>
          </p:cNvGraphicFramePr>
          <p:nvPr/>
        </p:nvGraphicFramePr>
        <p:xfrm>
          <a:off x="6669088" y="2738438"/>
          <a:ext cx="265112" cy="346075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420" name="Line 412"/>
          <p:cNvSpPr>
            <a:spLocks noChangeShapeType="1"/>
          </p:cNvSpPr>
          <p:nvPr/>
        </p:nvSpPr>
        <p:spPr bwMode="auto">
          <a:xfrm flipH="1">
            <a:off x="6207125" y="2393950"/>
            <a:ext cx="173038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21" name="Line 413"/>
          <p:cNvSpPr>
            <a:spLocks noChangeShapeType="1"/>
          </p:cNvSpPr>
          <p:nvPr/>
        </p:nvSpPr>
        <p:spPr bwMode="auto">
          <a:xfrm>
            <a:off x="6669088" y="2393950"/>
            <a:ext cx="114300" cy="344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422" name="Group 414"/>
          <p:cNvGraphicFramePr>
            <a:graphicFrameLocks noGrp="1"/>
          </p:cNvGraphicFramePr>
          <p:nvPr/>
        </p:nvGraphicFramePr>
        <p:xfrm>
          <a:off x="4962525" y="2738438"/>
          <a:ext cx="265113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28" name="Group 420"/>
          <p:cNvGraphicFramePr>
            <a:graphicFrameLocks noGrp="1"/>
          </p:cNvGraphicFramePr>
          <p:nvPr/>
        </p:nvGraphicFramePr>
        <p:xfrm>
          <a:off x="5573713" y="2738438"/>
          <a:ext cx="265112" cy="346075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434" name="Line 426"/>
          <p:cNvSpPr>
            <a:spLocks noChangeShapeType="1"/>
          </p:cNvSpPr>
          <p:nvPr/>
        </p:nvSpPr>
        <p:spPr bwMode="auto">
          <a:xfrm flipH="1">
            <a:off x="5111750" y="2393950"/>
            <a:ext cx="173038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35" name="Line 427"/>
          <p:cNvSpPr>
            <a:spLocks noChangeShapeType="1"/>
          </p:cNvSpPr>
          <p:nvPr/>
        </p:nvSpPr>
        <p:spPr bwMode="auto">
          <a:xfrm>
            <a:off x="5573713" y="2393950"/>
            <a:ext cx="114300" cy="344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3436" name="Group 428"/>
          <p:cNvGraphicFramePr>
            <a:graphicFrameLocks noGrp="1"/>
          </p:cNvGraphicFramePr>
          <p:nvPr/>
        </p:nvGraphicFramePr>
        <p:xfrm>
          <a:off x="1116013" y="3430588"/>
          <a:ext cx="265112" cy="346075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42" name="Group 434"/>
          <p:cNvGraphicFramePr>
            <a:graphicFrameLocks noGrp="1"/>
          </p:cNvGraphicFramePr>
          <p:nvPr/>
        </p:nvGraphicFramePr>
        <p:xfrm>
          <a:off x="1727200" y="3430588"/>
          <a:ext cx="265113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448" name="Line 440"/>
          <p:cNvSpPr>
            <a:spLocks noChangeShapeType="1"/>
          </p:cNvSpPr>
          <p:nvPr/>
        </p:nvSpPr>
        <p:spPr bwMode="auto">
          <a:xfrm flipH="1">
            <a:off x="1265238" y="3086100"/>
            <a:ext cx="173037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49" name="Line 441"/>
          <p:cNvSpPr>
            <a:spLocks noChangeShapeType="1"/>
          </p:cNvSpPr>
          <p:nvPr/>
        </p:nvSpPr>
        <p:spPr bwMode="auto">
          <a:xfrm>
            <a:off x="1727200" y="3086100"/>
            <a:ext cx="114300" cy="344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51" name="Line 443"/>
          <p:cNvSpPr>
            <a:spLocks noChangeShapeType="1"/>
          </p:cNvSpPr>
          <p:nvPr/>
        </p:nvSpPr>
        <p:spPr bwMode="auto">
          <a:xfrm flipH="1">
            <a:off x="1692275" y="3776663"/>
            <a:ext cx="173038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52" name="Line 444"/>
          <p:cNvSpPr>
            <a:spLocks noChangeShapeType="1"/>
          </p:cNvSpPr>
          <p:nvPr/>
        </p:nvSpPr>
        <p:spPr bwMode="auto">
          <a:xfrm>
            <a:off x="1230313" y="3776663"/>
            <a:ext cx="173037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55" name="Line 447"/>
          <p:cNvSpPr>
            <a:spLocks noChangeShapeType="1"/>
          </p:cNvSpPr>
          <p:nvPr/>
        </p:nvSpPr>
        <p:spPr bwMode="auto">
          <a:xfrm>
            <a:off x="2325688" y="2393950"/>
            <a:ext cx="114300" cy="344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56" name="Line 448"/>
          <p:cNvSpPr>
            <a:spLocks noChangeShapeType="1"/>
          </p:cNvSpPr>
          <p:nvPr/>
        </p:nvSpPr>
        <p:spPr bwMode="auto">
          <a:xfrm flipH="1">
            <a:off x="1576388" y="2393950"/>
            <a:ext cx="173037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57" name="Line 449"/>
          <p:cNvSpPr>
            <a:spLocks noChangeShapeType="1"/>
          </p:cNvSpPr>
          <p:nvPr/>
        </p:nvSpPr>
        <p:spPr bwMode="auto">
          <a:xfrm flipH="1">
            <a:off x="5435600" y="1701800"/>
            <a:ext cx="288925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58" name="Line 450"/>
          <p:cNvSpPr>
            <a:spLocks noChangeShapeType="1"/>
          </p:cNvSpPr>
          <p:nvPr/>
        </p:nvSpPr>
        <p:spPr bwMode="auto">
          <a:xfrm>
            <a:off x="6242050" y="1701800"/>
            <a:ext cx="230188" cy="344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59" name="Line 451"/>
          <p:cNvSpPr>
            <a:spLocks noChangeShapeType="1"/>
          </p:cNvSpPr>
          <p:nvPr/>
        </p:nvSpPr>
        <p:spPr bwMode="auto">
          <a:xfrm>
            <a:off x="1519238" y="4467225"/>
            <a:ext cx="344487" cy="287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61" name="Line 453"/>
          <p:cNvSpPr>
            <a:spLocks noChangeShapeType="1"/>
          </p:cNvSpPr>
          <p:nvPr/>
        </p:nvSpPr>
        <p:spPr bwMode="auto">
          <a:xfrm flipH="1">
            <a:off x="3708400" y="3084513"/>
            <a:ext cx="114300" cy="167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62" name="Line 454"/>
          <p:cNvSpPr>
            <a:spLocks noChangeShapeType="1"/>
          </p:cNvSpPr>
          <p:nvPr/>
        </p:nvSpPr>
        <p:spPr bwMode="auto">
          <a:xfrm>
            <a:off x="3189288" y="3084513"/>
            <a:ext cx="230187" cy="167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63" name="Line 455"/>
          <p:cNvSpPr>
            <a:spLocks noChangeShapeType="1"/>
          </p:cNvSpPr>
          <p:nvPr/>
        </p:nvSpPr>
        <p:spPr bwMode="auto">
          <a:xfrm flipH="1">
            <a:off x="2152650" y="3084513"/>
            <a:ext cx="287338" cy="167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64" name="Line 456"/>
          <p:cNvSpPr>
            <a:spLocks noChangeShapeType="1"/>
          </p:cNvSpPr>
          <p:nvPr/>
        </p:nvSpPr>
        <p:spPr bwMode="auto">
          <a:xfrm>
            <a:off x="5032375" y="3084513"/>
            <a:ext cx="230188" cy="167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65" name="Line 457"/>
          <p:cNvSpPr>
            <a:spLocks noChangeShapeType="1"/>
          </p:cNvSpPr>
          <p:nvPr/>
        </p:nvSpPr>
        <p:spPr bwMode="auto">
          <a:xfrm flipH="1">
            <a:off x="5551488" y="3084513"/>
            <a:ext cx="114300" cy="167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66" name="Line 458"/>
          <p:cNvSpPr>
            <a:spLocks noChangeShapeType="1"/>
          </p:cNvSpPr>
          <p:nvPr/>
        </p:nvSpPr>
        <p:spPr bwMode="auto">
          <a:xfrm>
            <a:off x="6184900" y="3084513"/>
            <a:ext cx="230188" cy="167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67" name="Line 459"/>
          <p:cNvSpPr>
            <a:spLocks noChangeShapeType="1"/>
          </p:cNvSpPr>
          <p:nvPr/>
        </p:nvSpPr>
        <p:spPr bwMode="auto">
          <a:xfrm flipH="1">
            <a:off x="6704013" y="3084513"/>
            <a:ext cx="114300" cy="167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69" name="Line 461"/>
          <p:cNvSpPr>
            <a:spLocks noChangeShapeType="1"/>
          </p:cNvSpPr>
          <p:nvPr/>
        </p:nvSpPr>
        <p:spPr bwMode="auto">
          <a:xfrm>
            <a:off x="5435600" y="5100638"/>
            <a:ext cx="230188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70" name="Line 462"/>
          <p:cNvSpPr>
            <a:spLocks noChangeShapeType="1"/>
          </p:cNvSpPr>
          <p:nvPr/>
        </p:nvSpPr>
        <p:spPr bwMode="auto">
          <a:xfrm flipH="1">
            <a:off x="6300788" y="5100638"/>
            <a:ext cx="288925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71" name="Line 463"/>
          <p:cNvSpPr>
            <a:spLocks noChangeShapeType="1"/>
          </p:cNvSpPr>
          <p:nvPr/>
        </p:nvSpPr>
        <p:spPr bwMode="auto">
          <a:xfrm flipH="1">
            <a:off x="3246438" y="5100638"/>
            <a:ext cx="288925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72" name="Line 464"/>
          <p:cNvSpPr>
            <a:spLocks noChangeShapeType="1"/>
          </p:cNvSpPr>
          <p:nvPr/>
        </p:nvSpPr>
        <p:spPr bwMode="auto">
          <a:xfrm>
            <a:off x="2036763" y="5100638"/>
            <a:ext cx="230187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74" name="Line 466"/>
          <p:cNvSpPr>
            <a:spLocks noChangeShapeType="1"/>
          </p:cNvSpPr>
          <p:nvPr/>
        </p:nvSpPr>
        <p:spPr bwMode="auto">
          <a:xfrm>
            <a:off x="2786063" y="5792788"/>
            <a:ext cx="1036637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75" name="Line 467"/>
          <p:cNvSpPr>
            <a:spLocks noChangeShapeType="1"/>
          </p:cNvSpPr>
          <p:nvPr/>
        </p:nvSpPr>
        <p:spPr bwMode="auto">
          <a:xfrm flipH="1">
            <a:off x="5148263" y="5792788"/>
            <a:ext cx="80645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05" grpId="0" animBg="1"/>
      <p:bldP spid="43106" grpId="0" animBg="1"/>
      <p:bldP spid="43142" grpId="0" animBg="1"/>
      <p:bldP spid="43283" grpId="0" animBg="1"/>
      <p:bldP spid="43301" grpId="0" animBg="1"/>
      <p:bldP spid="43407" grpId="0" animBg="1"/>
      <p:bldP spid="43420" grpId="0" animBg="1"/>
      <p:bldP spid="43421" grpId="0" animBg="1"/>
      <p:bldP spid="43434" grpId="0" animBg="1"/>
      <p:bldP spid="43435" grpId="0" animBg="1"/>
      <p:bldP spid="43448" grpId="0" animBg="1"/>
      <p:bldP spid="43449" grpId="0" animBg="1"/>
      <p:bldP spid="43451" grpId="0" animBg="1"/>
      <p:bldP spid="43452" grpId="0" animBg="1"/>
      <p:bldP spid="43455" grpId="0" animBg="1"/>
      <p:bldP spid="43456" grpId="0" animBg="1"/>
      <p:bldP spid="43457" grpId="0" animBg="1"/>
      <p:bldP spid="43458" grpId="0" animBg="1"/>
      <p:bldP spid="43459" grpId="0" animBg="1"/>
      <p:bldP spid="43461" grpId="0" animBg="1"/>
      <p:bldP spid="43462" grpId="0" animBg="1"/>
      <p:bldP spid="43463" grpId="0" animBg="1"/>
      <p:bldP spid="43464" grpId="0" animBg="1"/>
      <p:bldP spid="43465" grpId="0" animBg="1"/>
      <p:bldP spid="43466" grpId="0" animBg="1"/>
      <p:bldP spid="43467" grpId="0" animBg="1"/>
      <p:bldP spid="43469" grpId="0" animBg="1"/>
      <p:bldP spid="43470" grpId="0" animBg="1"/>
      <p:bldP spid="43471" grpId="0" animBg="1"/>
      <p:bldP spid="43472" grpId="0" animBg="1"/>
      <p:bldP spid="43474" grpId="0" animBg="1"/>
      <p:bldP spid="4347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7313"/>
            <a:ext cx="8229600" cy="619125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Mergesort: computational complexity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2449513"/>
            <a:ext cx="8229600" cy="339883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i="1"/>
              <a:t>                                              C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) 	= 2</a:t>
            </a:r>
            <a:r>
              <a:rPr lang="en-US" sz="2400" i="1"/>
              <a:t>C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/2) + </a:t>
            </a:r>
            <a:r>
              <a:rPr lang="en-US" sz="2400" i="1"/>
              <a:t>n</a:t>
            </a:r>
            <a:r>
              <a:rPr lang="en-US" sz="2400"/>
              <a:t> – 1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= 2(</a:t>
            </a:r>
            <a:r>
              <a:rPr lang="en-US" sz="2400" u="sng"/>
              <a:t>2</a:t>
            </a:r>
            <a:r>
              <a:rPr lang="en-US" sz="2400" i="1" u="sng"/>
              <a:t>C</a:t>
            </a:r>
            <a:r>
              <a:rPr lang="en-US" sz="2400" u="sng"/>
              <a:t>(</a:t>
            </a:r>
            <a:r>
              <a:rPr lang="en-US" sz="2400" i="1" u="sng"/>
              <a:t>n</a:t>
            </a:r>
            <a:r>
              <a:rPr lang="en-US" sz="2400" u="sng"/>
              <a:t>/4) + </a:t>
            </a:r>
            <a:r>
              <a:rPr lang="en-US" sz="2400" i="1" u="sng"/>
              <a:t>n</a:t>
            </a:r>
            <a:r>
              <a:rPr lang="en-US" sz="2400" u="sng"/>
              <a:t>/2 – 1</a:t>
            </a:r>
            <a:r>
              <a:rPr lang="en-US" sz="2400"/>
              <a:t>) + </a:t>
            </a:r>
            <a:r>
              <a:rPr lang="en-US" sz="2400" i="1"/>
              <a:t>n</a:t>
            </a:r>
            <a:r>
              <a:rPr lang="en-US" sz="2400"/>
              <a:t> – 1 	= 4</a:t>
            </a:r>
            <a:r>
              <a:rPr lang="en-US" sz="2400" i="1"/>
              <a:t>C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/4) + 2</a:t>
            </a:r>
            <a:r>
              <a:rPr lang="en-US" sz="2400" i="1"/>
              <a:t>n</a:t>
            </a:r>
            <a:r>
              <a:rPr lang="en-US" sz="2400"/>
              <a:t> – 3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= 4(</a:t>
            </a:r>
            <a:r>
              <a:rPr lang="en-US" sz="2400" u="sng"/>
              <a:t>2</a:t>
            </a:r>
            <a:r>
              <a:rPr lang="en-US" sz="2400" i="1" u="sng"/>
              <a:t>C</a:t>
            </a:r>
            <a:r>
              <a:rPr lang="en-US" sz="2400" u="sng"/>
              <a:t>(</a:t>
            </a:r>
            <a:r>
              <a:rPr lang="en-US" sz="2400" i="1" u="sng"/>
              <a:t>n</a:t>
            </a:r>
            <a:r>
              <a:rPr lang="en-US" sz="2400" u="sng"/>
              <a:t>/8) + </a:t>
            </a:r>
            <a:r>
              <a:rPr lang="en-US" sz="2400" i="1" u="sng"/>
              <a:t>n</a:t>
            </a:r>
            <a:r>
              <a:rPr lang="en-US" sz="2400" u="sng"/>
              <a:t>/4 – 1</a:t>
            </a:r>
            <a:r>
              <a:rPr lang="en-US" sz="2400"/>
              <a:t>) + 2</a:t>
            </a:r>
            <a:r>
              <a:rPr lang="en-US" sz="2400" i="1"/>
              <a:t>n</a:t>
            </a:r>
            <a:r>
              <a:rPr lang="en-US" sz="2400"/>
              <a:t> – 3 	= 8</a:t>
            </a:r>
            <a:r>
              <a:rPr lang="en-US" sz="2400" i="1"/>
              <a:t>C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/8) + 3</a:t>
            </a:r>
            <a:r>
              <a:rPr lang="en-US" sz="2400" i="1"/>
              <a:t>n</a:t>
            </a:r>
            <a:r>
              <a:rPr lang="en-US" sz="2400"/>
              <a:t> – 7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						. . 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						= 2</a:t>
            </a:r>
            <a:r>
              <a:rPr lang="en-US" sz="2400" i="1" baseline="30000"/>
              <a:t>i</a:t>
            </a:r>
            <a:r>
              <a:rPr lang="en-US" sz="2400" i="1"/>
              <a:t>C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/2</a:t>
            </a:r>
            <a:r>
              <a:rPr lang="en-US" sz="2400" i="1" baseline="30000"/>
              <a:t>i</a:t>
            </a:r>
            <a:r>
              <a:rPr lang="en-US" sz="2400"/>
              <a:t>) + </a:t>
            </a:r>
            <a:r>
              <a:rPr lang="en-US" sz="2400" i="1"/>
              <a:t>in</a:t>
            </a:r>
            <a:r>
              <a:rPr lang="en-US" sz="2400"/>
              <a:t> – (2</a:t>
            </a:r>
            <a:r>
              <a:rPr lang="en-US" sz="2400" i="1" baseline="30000"/>
              <a:t>i </a:t>
            </a:r>
            <a:r>
              <a:rPr lang="en-US" sz="2400"/>
              <a:t>– 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						= </a:t>
            </a:r>
            <a:r>
              <a:rPr lang="en-US" sz="2400" i="1"/>
              <a:t>in </a:t>
            </a:r>
            <a:r>
              <a:rPr lang="en-US" sz="2400"/>
              <a:t>– 2</a:t>
            </a:r>
            <a:r>
              <a:rPr lang="en-US" sz="2400" i="1" baseline="30000"/>
              <a:t>i</a:t>
            </a:r>
            <a:r>
              <a:rPr lang="en-US" sz="2400"/>
              <a:t> + 1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/>
              <a:t>						= </a:t>
            </a:r>
            <a:r>
              <a:rPr lang="en-US" sz="2400" i="1"/>
              <a:t>n</a:t>
            </a:r>
            <a:r>
              <a:rPr lang="en-US" sz="2400"/>
              <a:t>lg</a:t>
            </a:r>
            <a:r>
              <a:rPr lang="en-US" sz="2400" i="1"/>
              <a:t>n</a:t>
            </a:r>
            <a:r>
              <a:rPr lang="en-US" sz="2400"/>
              <a:t> – n + 1 = </a:t>
            </a:r>
            <a:r>
              <a:rPr lang="en-US" sz="2400" i="1">
                <a:solidFill>
                  <a:srgbClr val="FF0000"/>
                </a:solidFill>
              </a:rPr>
              <a:t>O</a:t>
            </a:r>
            <a:r>
              <a:rPr lang="en-US" sz="2400">
                <a:solidFill>
                  <a:srgbClr val="FF0000"/>
                </a:solidFill>
              </a:rPr>
              <a:t>(</a:t>
            </a:r>
            <a:r>
              <a:rPr lang="en-US" sz="2400" i="1">
                <a:solidFill>
                  <a:srgbClr val="FF0000"/>
                </a:solidFill>
              </a:rPr>
              <a:t>n</a:t>
            </a:r>
            <a:r>
              <a:rPr lang="en-US" sz="2400">
                <a:solidFill>
                  <a:srgbClr val="FF0000"/>
                </a:solidFill>
              </a:rPr>
              <a:t>lg</a:t>
            </a:r>
            <a:r>
              <a:rPr lang="en-US" sz="2400" i="1">
                <a:solidFill>
                  <a:srgbClr val="FF0000"/>
                </a:solidFill>
              </a:rPr>
              <a:t>n</a:t>
            </a:r>
            <a:r>
              <a:rPr lang="en-US" sz="240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173163" y="4046538"/>
            <a:ext cx="2678112" cy="4762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latin typeface="Arial" charset="0"/>
              </a:rPr>
              <a:t>assume that </a:t>
            </a:r>
            <a:r>
              <a:rPr lang="en-US" sz="2400" i="1">
                <a:latin typeface="Arial" charset="0"/>
              </a:rPr>
              <a:t>n</a:t>
            </a:r>
            <a:r>
              <a:rPr lang="en-US" sz="2400">
                <a:latin typeface="Arial" charset="0"/>
              </a:rPr>
              <a:t> = 2</a:t>
            </a:r>
            <a:r>
              <a:rPr lang="en-US" sz="2400" i="1" baseline="30000">
                <a:latin typeface="Arial" charset="0"/>
              </a:rPr>
              <a:t>i</a:t>
            </a:r>
          </a:p>
        </p:txBody>
      </p:sp>
      <p:sp>
        <p:nvSpPr>
          <p:cNvPr id="28677" name="Line 5"/>
          <p:cNvSpPr>
            <a:spLocks noChangeShapeType="1"/>
          </p:cNvSpPr>
          <p:nvPr/>
        </p:nvSpPr>
        <p:spPr bwMode="auto">
          <a:xfrm>
            <a:off x="4052888" y="4276725"/>
            <a:ext cx="749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2095500" y="1254125"/>
            <a:ext cx="1150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i="1">
                <a:latin typeface="Arial" charset="0"/>
              </a:rPr>
              <a:t>C</a:t>
            </a:r>
            <a:r>
              <a:rPr lang="en-US" sz="2400">
                <a:latin typeface="Arial" charset="0"/>
              </a:rPr>
              <a:t>(</a:t>
            </a:r>
            <a:r>
              <a:rPr lang="en-US" sz="2400" i="1">
                <a:latin typeface="Arial" charset="0"/>
              </a:rPr>
              <a:t>n</a:t>
            </a:r>
            <a:r>
              <a:rPr lang="en-US" sz="2400">
                <a:latin typeface="Arial" charset="0"/>
              </a:rPr>
              <a:t>) =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3305175" y="1066800"/>
            <a:ext cx="37004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latin typeface="Arial" charset="0"/>
              </a:rPr>
              <a:t>0		     if </a:t>
            </a:r>
            <a:r>
              <a:rPr lang="en-US" sz="2400" i="1">
                <a:latin typeface="Arial" charset="0"/>
              </a:rPr>
              <a:t>n</a:t>
            </a:r>
            <a:r>
              <a:rPr lang="en-US" sz="2400">
                <a:latin typeface="Arial" charset="0"/>
              </a:rPr>
              <a:t> = 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>
                <a:latin typeface="Arial" charset="0"/>
              </a:rPr>
              <a:t>2</a:t>
            </a:r>
            <a:r>
              <a:rPr lang="en-US" sz="2400" i="1">
                <a:latin typeface="Arial" charset="0"/>
              </a:rPr>
              <a:t>C</a:t>
            </a:r>
            <a:r>
              <a:rPr lang="en-US" sz="2400">
                <a:latin typeface="Arial" charset="0"/>
              </a:rPr>
              <a:t>(</a:t>
            </a:r>
            <a:r>
              <a:rPr lang="en-US" sz="2400" i="1">
                <a:latin typeface="Arial" charset="0"/>
              </a:rPr>
              <a:t>n</a:t>
            </a:r>
            <a:r>
              <a:rPr lang="en-US" sz="2400">
                <a:latin typeface="Arial" charset="0"/>
              </a:rPr>
              <a:t>/2) + </a:t>
            </a:r>
            <a:r>
              <a:rPr lang="en-US" sz="2400" i="1">
                <a:latin typeface="Arial" charset="0"/>
              </a:rPr>
              <a:t>n</a:t>
            </a:r>
            <a:r>
              <a:rPr lang="en-US" sz="2400">
                <a:latin typeface="Arial" charset="0"/>
              </a:rPr>
              <a:t> – 1  otherwise</a:t>
            </a:r>
          </a:p>
        </p:txBody>
      </p:sp>
      <p:sp>
        <p:nvSpPr>
          <p:cNvPr id="17416" name="AutoShape 8"/>
          <p:cNvSpPr>
            <a:spLocks/>
          </p:cNvSpPr>
          <p:nvPr/>
        </p:nvSpPr>
        <p:spPr bwMode="auto">
          <a:xfrm>
            <a:off x="3190875" y="1139825"/>
            <a:ext cx="114300" cy="690563"/>
          </a:xfrm>
          <a:prstGeom prst="leftBrace">
            <a:avLst>
              <a:gd name="adj1" fmla="val 5034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  <p:bldP spid="2867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025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2800">
                <a:solidFill>
                  <a:srgbClr val="3333CC"/>
                </a:solidFill>
                <a:latin typeface="Times New Roman" pitchFamily="18" charset="0"/>
              </a:rPr>
              <a:t>Quicksort: algorithm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3863" y="1412875"/>
            <a:ext cx="8258175" cy="3646488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Arial Unicode MS" pitchFamily="34" charset="-128"/>
              </a:rPr>
              <a:t>		quicksort(data[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</a:t>
            </a:r>
            <a:r>
              <a:rPr lang="en-US" sz="2400">
                <a:latin typeface="Arial Unicode MS" pitchFamily="34" charset="-128"/>
              </a:rPr>
              <a:t>if</a:t>
            </a:r>
            <a:r>
              <a:rPr lang="en-US" sz="2400">
                <a:latin typeface="Times New Roman" pitchFamily="18" charset="0"/>
              </a:rPr>
              <a:t> </a:t>
            </a:r>
            <a:r>
              <a:rPr lang="en-US" sz="2400">
                <a:latin typeface="Arial Unicode MS" pitchFamily="34" charset="-128"/>
              </a:rPr>
              <a:t>data.length</a:t>
            </a:r>
            <a:r>
              <a:rPr lang="en-US" sz="2400">
                <a:latin typeface="Times New Roman" pitchFamily="18" charset="0"/>
              </a:rPr>
              <a:t> &gt; </a:t>
            </a:r>
            <a:r>
              <a:rPr lang="en-US" sz="2400">
                <a:latin typeface="Arial Unicode MS" pitchFamily="34" charset="-128"/>
              </a:rPr>
              <a:t>1</a:t>
            </a:r>
            <a:endParaRPr lang="en-US" sz="2400" i="1">
              <a:latin typeface="Arial Unicode MS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i="1">
                <a:latin typeface="Courier New" pitchFamily="49" charset="0"/>
              </a:rPr>
              <a:t>		    </a:t>
            </a:r>
            <a:r>
              <a:rPr lang="en-US" sz="2400" i="1">
                <a:latin typeface="Times New Roman" pitchFamily="18" charset="0"/>
              </a:rPr>
              <a:t>choose</a:t>
            </a:r>
            <a:r>
              <a:rPr lang="en-US" sz="2400" i="1"/>
              <a:t> </a:t>
            </a:r>
            <a:r>
              <a:rPr lang="en-US" sz="2400">
                <a:latin typeface="Arial Unicode MS" pitchFamily="34" charset="-128"/>
              </a:rPr>
              <a:t>pivot;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  </a:t>
            </a:r>
            <a:r>
              <a:rPr lang="en-US" sz="2400">
                <a:latin typeface="Arial Unicode MS" pitchFamily="34" charset="-128"/>
              </a:rPr>
              <a:t>while</a:t>
            </a:r>
            <a:r>
              <a:rPr lang="en-US" sz="2400" i="1"/>
              <a:t> </a:t>
            </a:r>
            <a:r>
              <a:rPr lang="en-US" sz="2400" i="1">
                <a:latin typeface="Times New Roman" pitchFamily="18" charset="0"/>
              </a:rPr>
              <a:t>there are elements left in</a:t>
            </a:r>
            <a:r>
              <a:rPr lang="en-US" sz="2400" i="1"/>
              <a:t> </a:t>
            </a:r>
            <a:r>
              <a:rPr lang="en-US" sz="2400">
                <a:latin typeface="Arial Unicode MS" pitchFamily="34" charset="-128"/>
              </a:rPr>
              <a:t>data</a:t>
            </a:r>
            <a:endParaRPr lang="en-US" sz="2400" i="1">
              <a:latin typeface="Arial Unicode MS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    </a:t>
            </a:r>
            <a:r>
              <a:rPr lang="en-US" sz="2400" i="1">
                <a:latin typeface="Times New Roman" pitchFamily="18" charset="0"/>
              </a:rPr>
              <a:t>include</a:t>
            </a:r>
            <a:r>
              <a:rPr lang="en-US" sz="2400" i="1"/>
              <a:t> </a:t>
            </a:r>
            <a:r>
              <a:rPr lang="en-US" sz="2400">
                <a:latin typeface="Arial Unicode MS" pitchFamily="34" charset="-128"/>
              </a:rPr>
              <a:t>element</a:t>
            </a:r>
            <a:r>
              <a:rPr lang="en-US" sz="2400" i="1"/>
              <a:t> </a:t>
            </a:r>
            <a:r>
              <a:rPr lang="en-US" sz="2400" i="1">
                <a:latin typeface="Times New Roman" pitchFamily="18" charset="0"/>
              </a:rPr>
              <a:t>either in</a:t>
            </a:r>
            <a:endParaRPr lang="en-US" sz="240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           </a:t>
            </a:r>
            <a:r>
              <a:rPr lang="en-US" sz="2400">
                <a:latin typeface="Arial Unicode MS" pitchFamily="34" charset="-128"/>
              </a:rPr>
              <a:t>data1[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</a:t>
            </a:r>
            <a:r>
              <a:rPr lang="en-US" sz="2400">
                <a:latin typeface="Times New Roman" pitchFamily="18" charset="0"/>
              </a:rPr>
              <a:t> = {</a:t>
            </a:r>
            <a:r>
              <a:rPr lang="en-US" sz="2400">
                <a:latin typeface="Arial Unicode MS" pitchFamily="34" charset="-128"/>
              </a:rPr>
              <a:t>el</a:t>
            </a:r>
            <a:r>
              <a:rPr lang="en-US" sz="2400"/>
              <a:t>: </a:t>
            </a:r>
            <a:r>
              <a:rPr lang="en-US" sz="2400">
                <a:latin typeface="Arial Unicode MS" pitchFamily="34" charset="-128"/>
              </a:rPr>
              <a:t>el</a:t>
            </a:r>
            <a:r>
              <a:rPr lang="en-US" sz="2400"/>
              <a:t> ≤ </a:t>
            </a:r>
            <a:r>
              <a:rPr lang="en-US" sz="2400">
                <a:latin typeface="Arial Unicode MS" pitchFamily="34" charset="-128"/>
              </a:rPr>
              <a:t>pivot</a:t>
            </a:r>
            <a:r>
              <a:rPr lang="en-US" sz="2400">
                <a:latin typeface="Courier New" pitchFamily="49" charset="0"/>
              </a:rPr>
              <a:t>}</a:t>
            </a:r>
            <a:r>
              <a:rPr lang="en-US" sz="2400">
                <a:latin typeface="Arial Unicode MS" pitchFamily="34" charset="-128"/>
              </a:rPr>
              <a:t>;</a:t>
            </a:r>
            <a:endParaRPr lang="en-US" sz="2400" i="1">
              <a:latin typeface="Arial Unicode MS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i="1"/>
              <a:t>		                    </a:t>
            </a:r>
            <a:r>
              <a:rPr lang="en-US" sz="2400" i="1">
                <a:latin typeface="Times New Roman" pitchFamily="18" charset="0"/>
              </a:rPr>
              <a:t>or in</a:t>
            </a:r>
            <a:r>
              <a:rPr lang="en-US" sz="2400" i="1"/>
              <a:t> </a:t>
            </a:r>
            <a:r>
              <a:rPr lang="en-US" sz="2400">
                <a:latin typeface="Arial Unicode MS" pitchFamily="34" charset="-128"/>
              </a:rPr>
              <a:t>data2[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</a:t>
            </a:r>
            <a:r>
              <a:rPr lang="en-US" sz="2400">
                <a:latin typeface="Times New Roman" pitchFamily="18" charset="0"/>
              </a:rPr>
              <a:t> = {</a:t>
            </a:r>
            <a:r>
              <a:rPr lang="en-US" sz="2400">
                <a:latin typeface="Arial Unicode MS" pitchFamily="34" charset="-128"/>
              </a:rPr>
              <a:t>el</a:t>
            </a:r>
            <a:r>
              <a:rPr lang="en-US" sz="2400"/>
              <a:t>: </a:t>
            </a:r>
            <a:r>
              <a:rPr lang="en-US" sz="2400">
                <a:latin typeface="Arial Unicode MS" pitchFamily="34" charset="-128"/>
              </a:rPr>
              <a:t>el</a:t>
            </a:r>
            <a:r>
              <a:rPr lang="en-US" sz="2400"/>
              <a:t> ≥ </a:t>
            </a:r>
            <a:r>
              <a:rPr lang="en-US" sz="2400">
                <a:latin typeface="Arial Unicode MS" pitchFamily="34" charset="-128"/>
              </a:rPr>
              <a:t>pivot</a:t>
            </a:r>
            <a:r>
              <a:rPr lang="en-US" sz="2400">
                <a:latin typeface="Courier New" pitchFamily="49" charset="0"/>
              </a:rPr>
              <a:t>}</a:t>
            </a:r>
            <a:r>
              <a:rPr lang="en-US" sz="2400">
                <a:latin typeface="Arial Unicode MS" pitchFamily="34" charset="-128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  </a:t>
            </a:r>
            <a:r>
              <a:rPr lang="en-US" sz="2400">
                <a:latin typeface="Arial Unicode MS" pitchFamily="34" charset="-128"/>
              </a:rPr>
              <a:t>quicksort(data1[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>
                <a:latin typeface="Courier New" pitchFamily="49" charset="0"/>
              </a:rPr>
              <a:t>		    </a:t>
            </a:r>
            <a:r>
              <a:rPr lang="en-US" sz="2400">
                <a:latin typeface="Arial Unicode MS" pitchFamily="34" charset="-128"/>
              </a:rPr>
              <a:t>quicksort(data2[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]);</a:t>
            </a:r>
          </a:p>
        </p:txBody>
      </p:sp>
      <p:sp>
        <p:nvSpPr>
          <p:cNvPr id="18436" name="AutoShape 4"/>
          <p:cNvSpPr>
            <a:spLocks/>
          </p:cNvSpPr>
          <p:nvPr/>
        </p:nvSpPr>
        <p:spPr bwMode="auto">
          <a:xfrm>
            <a:off x="1500188" y="2314575"/>
            <a:ext cx="133350" cy="1958975"/>
          </a:xfrm>
          <a:prstGeom prst="leftBrace">
            <a:avLst>
              <a:gd name="adj1" fmla="val 12242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 rot="-5400000">
            <a:off x="306388" y="3105150"/>
            <a:ext cx="1728787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partitioning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44463" y="4930775"/>
            <a:ext cx="1346200" cy="3794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no merging</a:t>
            </a:r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 flipH="1">
            <a:off x="1576388" y="5124450"/>
            <a:ext cx="258762" cy="1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77850" y="101600"/>
            <a:ext cx="8026400" cy="561975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Quicksort: implementation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7850" y="838200"/>
            <a:ext cx="8064500" cy="57785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private &lt;T extends Comparable&lt;? super T&gt;&gt; 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void quicksort(T[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000">
                <a:latin typeface="Arial Unicode MS" pitchFamily="34" charset="-128"/>
              </a:rPr>
              <a:t>] data, int first, int last) {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int </a:t>
            </a:r>
            <a:r>
              <a:rPr lang="en-US" sz="2000">
                <a:solidFill>
                  <a:srgbClr val="FF0000"/>
                </a:solidFill>
                <a:latin typeface="Arial Unicode MS" pitchFamily="34" charset="-128"/>
              </a:rPr>
              <a:t>lower</a:t>
            </a:r>
            <a:r>
              <a:rPr lang="en-US" sz="2000">
                <a:latin typeface="Arial Unicode MS" pitchFamily="34" charset="-128"/>
              </a:rPr>
              <a:t> = first + 1, 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 = last;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swap(data,first,(first+last)/2);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T pivot = data[first];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while (</a:t>
            </a:r>
            <a:r>
              <a:rPr lang="en-US" sz="2000">
                <a:solidFill>
                  <a:srgbClr val="FF0000"/>
                </a:solidFill>
                <a:latin typeface="Arial Unicode MS" pitchFamily="34" charset="-128"/>
              </a:rPr>
              <a:t>lower</a:t>
            </a:r>
            <a:r>
              <a:rPr lang="en-US" sz="2000">
                <a:latin typeface="Arial Unicode MS" pitchFamily="34" charset="-128"/>
              </a:rPr>
              <a:t> &lt;= 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) {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while (pivot.compareTo(data[</a:t>
            </a:r>
            <a:r>
              <a:rPr lang="en-US" sz="2000">
                <a:solidFill>
                  <a:srgbClr val="FF0000"/>
                </a:solidFill>
                <a:latin typeface="Arial Unicode MS" pitchFamily="34" charset="-128"/>
              </a:rPr>
              <a:t>lower</a:t>
            </a:r>
            <a:r>
              <a:rPr lang="en-US" sz="2000">
                <a:latin typeface="Arial Unicode MS" pitchFamily="34" charset="-128"/>
              </a:rPr>
              <a:t>]) &gt; 0)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     </a:t>
            </a:r>
            <a:r>
              <a:rPr lang="en-US" sz="2000">
                <a:solidFill>
                  <a:srgbClr val="FF0000"/>
                </a:solidFill>
                <a:latin typeface="Arial Unicode MS" pitchFamily="34" charset="-128"/>
              </a:rPr>
              <a:t>lower</a:t>
            </a:r>
            <a:r>
              <a:rPr lang="en-US" sz="2000">
                <a:latin typeface="Arial Unicode MS" pitchFamily="34" charset="-128"/>
              </a:rPr>
              <a:t>++;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while (pivot.compareTo(data[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]) &lt; 0)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     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--;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if (</a:t>
            </a:r>
            <a:r>
              <a:rPr lang="en-US" sz="2000">
                <a:solidFill>
                  <a:srgbClr val="FF0000"/>
                </a:solidFill>
                <a:latin typeface="Arial Unicode MS" pitchFamily="34" charset="-128"/>
              </a:rPr>
              <a:t>lower</a:t>
            </a:r>
            <a:r>
              <a:rPr lang="en-US" sz="2000">
                <a:latin typeface="Arial Unicode MS" pitchFamily="34" charset="-128"/>
              </a:rPr>
              <a:t> &lt; 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)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     swap(data,</a:t>
            </a:r>
            <a:r>
              <a:rPr lang="en-US" sz="2000">
                <a:solidFill>
                  <a:srgbClr val="FF0000"/>
                </a:solidFill>
                <a:latin typeface="Arial Unicode MS" pitchFamily="34" charset="-128"/>
              </a:rPr>
              <a:t>lower</a:t>
            </a:r>
            <a:r>
              <a:rPr lang="en-US" sz="2000">
                <a:latin typeface="Arial Unicode MS" pitchFamily="34" charset="-128"/>
              </a:rPr>
              <a:t>++,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--);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else </a:t>
            </a:r>
            <a:r>
              <a:rPr lang="en-US" sz="2000">
                <a:solidFill>
                  <a:srgbClr val="FF0000"/>
                </a:solidFill>
                <a:latin typeface="Arial Unicode MS" pitchFamily="34" charset="-128"/>
              </a:rPr>
              <a:t>lower</a:t>
            </a:r>
            <a:r>
              <a:rPr lang="en-US" sz="2000">
                <a:latin typeface="Arial Unicode MS" pitchFamily="34" charset="-128"/>
              </a:rPr>
              <a:t>++;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}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swap(data,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,first);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if (first &lt; 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-1)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quicksort(data,first,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-1);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if (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+1 &lt; last)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        quicksort(data,</a:t>
            </a:r>
            <a:r>
              <a:rPr lang="en-US" sz="2000">
                <a:solidFill>
                  <a:srgbClr val="3333CC"/>
                </a:solidFill>
                <a:latin typeface="Arial Unicode MS" pitchFamily="34" charset="-128"/>
              </a:rPr>
              <a:t>upper</a:t>
            </a:r>
            <a:r>
              <a:rPr lang="en-US" sz="2000">
                <a:latin typeface="Arial Unicode MS" pitchFamily="34" charset="-128"/>
              </a:rPr>
              <a:t>+1,last);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    }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>
                <a:latin typeface="Arial Unicode MS" pitchFamily="34" charset="-128"/>
              </a:rPr>
              <a:t>		}</a:t>
            </a:r>
          </a:p>
        </p:txBody>
      </p:sp>
      <p:sp>
        <p:nvSpPr>
          <p:cNvPr id="19460" name="AutoShape 4"/>
          <p:cNvSpPr>
            <a:spLocks/>
          </p:cNvSpPr>
          <p:nvPr/>
        </p:nvSpPr>
        <p:spPr bwMode="auto">
          <a:xfrm>
            <a:off x="1401763" y="1431925"/>
            <a:ext cx="98425" cy="3455988"/>
          </a:xfrm>
          <a:prstGeom prst="leftBrace">
            <a:avLst>
              <a:gd name="adj1" fmla="val 29260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 rot="-5400000">
            <a:off x="95250" y="2989263"/>
            <a:ext cx="1728788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partitioning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75" name="Line 127"/>
          <p:cNvSpPr>
            <a:spLocks noChangeShapeType="1"/>
          </p:cNvSpPr>
          <p:nvPr/>
        </p:nvSpPr>
        <p:spPr bwMode="auto">
          <a:xfrm>
            <a:off x="769938" y="1931988"/>
            <a:ext cx="0" cy="576262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7" name="Line 129"/>
          <p:cNvSpPr>
            <a:spLocks noChangeShapeType="1"/>
          </p:cNvSpPr>
          <p:nvPr/>
        </p:nvSpPr>
        <p:spPr bwMode="auto">
          <a:xfrm flipH="1">
            <a:off x="2095500" y="1931988"/>
            <a:ext cx="0" cy="33401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82" name="Line 134"/>
          <p:cNvSpPr>
            <a:spLocks noChangeShapeType="1"/>
          </p:cNvSpPr>
          <p:nvPr/>
        </p:nvSpPr>
        <p:spPr bwMode="auto">
          <a:xfrm>
            <a:off x="1173163" y="1931988"/>
            <a:ext cx="0" cy="1497012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9" name="Line 161"/>
          <p:cNvSpPr>
            <a:spLocks noChangeShapeType="1"/>
          </p:cNvSpPr>
          <p:nvPr/>
        </p:nvSpPr>
        <p:spPr bwMode="auto">
          <a:xfrm flipH="1">
            <a:off x="1633538" y="1931988"/>
            <a:ext cx="0" cy="241935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Rectangle 4"/>
          <p:cNvSpPr>
            <a:spLocks noChangeArrowheads="1"/>
          </p:cNvSpPr>
          <p:nvPr/>
        </p:nvSpPr>
        <p:spPr bwMode="auto">
          <a:xfrm>
            <a:off x="77788" y="125413"/>
            <a:ext cx="5414962" cy="561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800">
                <a:solidFill>
                  <a:srgbClr val="3333CC"/>
                </a:solidFill>
                <a:latin typeface="Times New Roman" pitchFamily="18" charset="0"/>
              </a:rPr>
              <a:t>Quicksort: implementation, one pass</a:t>
            </a:r>
          </a:p>
        </p:txBody>
      </p:sp>
      <p:graphicFrame>
        <p:nvGraphicFramePr>
          <p:cNvPr id="53463" name="Group 215"/>
          <p:cNvGraphicFramePr>
            <a:graphicFrameLocks noGrp="1"/>
          </p:cNvGraphicFramePr>
          <p:nvPr>
            <p:ph/>
          </p:nvPr>
        </p:nvGraphicFramePr>
        <p:xfrm>
          <a:off x="596900" y="836613"/>
          <a:ext cx="6510338" cy="341364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351" name="Group 103"/>
          <p:cNvGraphicFramePr>
            <a:graphicFrameLocks noGrp="1"/>
          </p:cNvGraphicFramePr>
          <p:nvPr/>
        </p:nvGraphicFramePr>
        <p:xfrm>
          <a:off x="596900" y="1585913"/>
          <a:ext cx="6510338" cy="341364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6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≤ p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p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19" name="Text Box 89"/>
          <p:cNvSpPr txBox="1">
            <a:spLocks noChangeArrowheads="1"/>
          </p:cNvSpPr>
          <p:nvPr/>
        </p:nvSpPr>
        <p:spPr bwMode="auto">
          <a:xfrm>
            <a:off x="7683500" y="803275"/>
            <a:ext cx="1103313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first step</a:t>
            </a:r>
          </a:p>
        </p:txBody>
      </p:sp>
      <p:sp>
        <p:nvSpPr>
          <p:cNvPr id="20520" name="Line 90"/>
          <p:cNvSpPr>
            <a:spLocks noChangeShapeType="1"/>
          </p:cNvSpPr>
          <p:nvPr/>
        </p:nvSpPr>
        <p:spPr bwMode="auto">
          <a:xfrm>
            <a:off x="7164388" y="1009650"/>
            <a:ext cx="461962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2" name="Line 124"/>
          <p:cNvSpPr>
            <a:spLocks noChangeShapeType="1"/>
          </p:cNvSpPr>
          <p:nvPr/>
        </p:nvSpPr>
        <p:spPr bwMode="auto">
          <a:xfrm>
            <a:off x="2728913" y="1989138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3" name="Line 125"/>
          <p:cNvSpPr>
            <a:spLocks noChangeShapeType="1"/>
          </p:cNvSpPr>
          <p:nvPr/>
        </p:nvSpPr>
        <p:spPr bwMode="auto">
          <a:xfrm>
            <a:off x="5262563" y="1989138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80" name="Line 132"/>
          <p:cNvSpPr>
            <a:spLocks noChangeShapeType="1"/>
          </p:cNvSpPr>
          <p:nvPr/>
        </p:nvSpPr>
        <p:spPr bwMode="auto">
          <a:xfrm>
            <a:off x="3046413" y="292576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81" name="Line 133"/>
          <p:cNvSpPr>
            <a:spLocks noChangeShapeType="1"/>
          </p:cNvSpPr>
          <p:nvPr/>
        </p:nvSpPr>
        <p:spPr bwMode="auto">
          <a:xfrm>
            <a:off x="5003800" y="2911475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376" name="Text Box 128"/>
          <p:cNvSpPr txBox="1">
            <a:spLocks noChangeArrowheads="1"/>
          </p:cNvSpPr>
          <p:nvPr/>
        </p:nvSpPr>
        <p:spPr bwMode="auto">
          <a:xfrm>
            <a:off x="884238" y="2030413"/>
            <a:ext cx="1382712" cy="361950"/>
          </a:xfrm>
          <a:prstGeom prst="rect">
            <a:avLst/>
          </a:prstGeom>
          <a:solidFill>
            <a:srgbClr val="FFFF00"/>
          </a:solidFill>
          <a:ln w="19050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" tIns="18288" rIns="18288" bIns="18288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>
                <a:latin typeface="Arial" charset="0"/>
              </a:rPr>
              <a:t>b &lt; p, e &gt; p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53496" name="Group 248"/>
          <p:cNvGraphicFramePr>
            <a:graphicFrameLocks noGrp="1"/>
          </p:cNvGraphicFramePr>
          <p:nvPr/>
        </p:nvGraphicFramePr>
        <p:xfrm>
          <a:off x="596900" y="2508250"/>
          <a:ext cx="6510338" cy="344488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6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≤ p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p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386" name="Text Box 138"/>
          <p:cNvSpPr txBox="1">
            <a:spLocks noChangeArrowheads="1"/>
          </p:cNvSpPr>
          <p:nvPr/>
        </p:nvSpPr>
        <p:spPr bwMode="auto">
          <a:xfrm>
            <a:off x="1287463" y="2952750"/>
            <a:ext cx="1382712" cy="361950"/>
          </a:xfrm>
          <a:prstGeom prst="rect">
            <a:avLst/>
          </a:prstGeom>
          <a:solidFill>
            <a:srgbClr val="FFFF00"/>
          </a:solidFill>
          <a:ln w="19050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" tIns="18288" rIns="18288" bIns="18288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>
                <a:latin typeface="Arial" charset="0"/>
              </a:rPr>
              <a:t>b &lt; p, e ≤ p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53411" name="Group 163"/>
          <p:cNvGraphicFramePr>
            <a:graphicFrameLocks noGrp="1"/>
          </p:cNvGraphicFramePr>
          <p:nvPr/>
        </p:nvGraphicFramePr>
        <p:xfrm>
          <a:off x="596900" y="3429000"/>
          <a:ext cx="6510338" cy="344488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6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≤ p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p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07" name="Line 159"/>
          <p:cNvSpPr>
            <a:spLocks noChangeShapeType="1"/>
          </p:cNvSpPr>
          <p:nvPr/>
        </p:nvSpPr>
        <p:spPr bwMode="auto">
          <a:xfrm>
            <a:off x="3046413" y="3817938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08" name="Line 160"/>
          <p:cNvSpPr>
            <a:spLocks noChangeShapeType="1"/>
          </p:cNvSpPr>
          <p:nvPr/>
        </p:nvSpPr>
        <p:spPr bwMode="auto">
          <a:xfrm>
            <a:off x="5262563" y="3832225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10" name="Text Box 162"/>
          <p:cNvSpPr txBox="1">
            <a:spLocks noChangeArrowheads="1"/>
          </p:cNvSpPr>
          <p:nvPr/>
        </p:nvSpPr>
        <p:spPr bwMode="auto">
          <a:xfrm>
            <a:off x="136525" y="3889375"/>
            <a:ext cx="1382713" cy="361950"/>
          </a:xfrm>
          <a:prstGeom prst="rect">
            <a:avLst/>
          </a:prstGeom>
          <a:solidFill>
            <a:srgbClr val="FFFF00"/>
          </a:solidFill>
          <a:ln w="19050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" tIns="18288" rIns="18288" bIns="18288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>
                <a:latin typeface="Arial" charset="0"/>
              </a:rPr>
              <a:t>b ≥ p, e &gt; p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53412" name="Group 164"/>
          <p:cNvGraphicFramePr>
            <a:graphicFrameLocks noGrp="1"/>
          </p:cNvGraphicFramePr>
          <p:nvPr/>
        </p:nvGraphicFramePr>
        <p:xfrm>
          <a:off x="596900" y="4351338"/>
          <a:ext cx="6510338" cy="344487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6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≤ p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p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32" name="Line 184"/>
          <p:cNvSpPr>
            <a:spLocks noChangeShapeType="1"/>
          </p:cNvSpPr>
          <p:nvPr/>
        </p:nvSpPr>
        <p:spPr bwMode="auto">
          <a:xfrm>
            <a:off x="2728913" y="475456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3" name="Line 185"/>
          <p:cNvSpPr>
            <a:spLocks noChangeShapeType="1"/>
          </p:cNvSpPr>
          <p:nvPr/>
        </p:nvSpPr>
        <p:spPr bwMode="auto">
          <a:xfrm>
            <a:off x="5003800" y="4754563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34" name="Text Box 186"/>
          <p:cNvSpPr txBox="1">
            <a:spLocks noChangeArrowheads="1"/>
          </p:cNvSpPr>
          <p:nvPr/>
        </p:nvSpPr>
        <p:spPr bwMode="auto">
          <a:xfrm>
            <a:off x="596900" y="4811713"/>
            <a:ext cx="1382713" cy="361950"/>
          </a:xfrm>
          <a:prstGeom prst="rect">
            <a:avLst/>
          </a:prstGeom>
          <a:solidFill>
            <a:srgbClr val="FFFF00"/>
          </a:solidFill>
          <a:ln w="19050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" tIns="18288" rIns="18288" bIns="18288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>
                <a:latin typeface="Arial" charset="0"/>
              </a:rPr>
              <a:t>b ≥ p, e ≤ p</a:t>
            </a:r>
            <a:endParaRPr lang="en-US" sz="1800">
              <a:latin typeface="Arial" charset="0"/>
            </a:endParaRPr>
          </a:p>
        </p:txBody>
      </p:sp>
      <p:graphicFrame>
        <p:nvGraphicFramePr>
          <p:cNvPr id="53458" name="Group 210"/>
          <p:cNvGraphicFramePr>
            <a:graphicFrameLocks noGrp="1"/>
          </p:cNvGraphicFramePr>
          <p:nvPr/>
        </p:nvGraphicFramePr>
        <p:xfrm>
          <a:off x="596900" y="5272088"/>
          <a:ext cx="6510338" cy="344487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6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≤ p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p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55" name="Line 207"/>
          <p:cNvSpPr>
            <a:spLocks noChangeShapeType="1"/>
          </p:cNvSpPr>
          <p:nvPr/>
        </p:nvSpPr>
        <p:spPr bwMode="auto">
          <a:xfrm>
            <a:off x="3044825" y="567531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56" name="Line 208"/>
          <p:cNvSpPr>
            <a:spLocks noChangeShapeType="1"/>
          </p:cNvSpPr>
          <p:nvPr/>
        </p:nvSpPr>
        <p:spPr bwMode="auto">
          <a:xfrm>
            <a:off x="4975225" y="5676900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3488" name="Group 240"/>
          <p:cNvGraphicFramePr>
            <a:graphicFrameLocks noGrp="1"/>
          </p:cNvGraphicFramePr>
          <p:nvPr/>
        </p:nvGraphicFramePr>
        <p:xfrm>
          <a:off x="596900" y="6083300"/>
          <a:ext cx="6510338" cy="341364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9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≤ p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≥ p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89" name="Text Box 241"/>
          <p:cNvSpPr txBox="1">
            <a:spLocks noChangeArrowheads="1"/>
          </p:cNvSpPr>
          <p:nvPr/>
        </p:nvSpPr>
        <p:spPr bwMode="auto">
          <a:xfrm>
            <a:off x="7683500" y="6021388"/>
            <a:ext cx="1103313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last step</a:t>
            </a:r>
          </a:p>
        </p:txBody>
      </p:sp>
      <p:sp>
        <p:nvSpPr>
          <p:cNvPr id="53490" name="Line 242"/>
          <p:cNvSpPr>
            <a:spLocks noChangeShapeType="1"/>
          </p:cNvSpPr>
          <p:nvPr/>
        </p:nvSpPr>
        <p:spPr bwMode="auto">
          <a:xfrm>
            <a:off x="7164388" y="6227763"/>
            <a:ext cx="461962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1" name="Text Box 243"/>
          <p:cNvSpPr txBox="1">
            <a:spLocks noChangeArrowheads="1"/>
          </p:cNvSpPr>
          <p:nvPr/>
        </p:nvSpPr>
        <p:spPr bwMode="auto">
          <a:xfrm>
            <a:off x="7683500" y="1470025"/>
            <a:ext cx="1381125" cy="6540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intermediate step</a:t>
            </a:r>
          </a:p>
        </p:txBody>
      </p:sp>
      <p:sp>
        <p:nvSpPr>
          <p:cNvPr id="53492" name="Line 244"/>
          <p:cNvSpPr>
            <a:spLocks noChangeShapeType="1"/>
          </p:cNvSpPr>
          <p:nvPr/>
        </p:nvSpPr>
        <p:spPr bwMode="auto">
          <a:xfrm>
            <a:off x="7164388" y="1792288"/>
            <a:ext cx="461962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493" name="Rectangle 245"/>
          <p:cNvSpPr>
            <a:spLocks noChangeArrowheads="1"/>
          </p:cNvSpPr>
          <p:nvPr/>
        </p:nvSpPr>
        <p:spPr bwMode="auto">
          <a:xfrm>
            <a:off x="596900" y="790575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latin typeface="Arial" charset="0"/>
              </a:rPr>
              <a:t>a</a:t>
            </a:r>
          </a:p>
        </p:txBody>
      </p:sp>
      <p:sp>
        <p:nvSpPr>
          <p:cNvPr id="53495" name="Rectangle 247"/>
          <p:cNvSpPr>
            <a:spLocks noChangeArrowheads="1"/>
          </p:cNvSpPr>
          <p:nvPr/>
        </p:nvSpPr>
        <p:spPr bwMode="auto">
          <a:xfrm>
            <a:off x="3592513" y="785813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latin typeface="Arial" charset="0"/>
              </a:rPr>
              <a:t>p</a:t>
            </a:r>
          </a:p>
        </p:txBody>
      </p:sp>
      <p:sp>
        <p:nvSpPr>
          <p:cNvPr id="53497" name="AutoShape 249"/>
          <p:cNvSpPr>
            <a:spLocks/>
          </p:cNvSpPr>
          <p:nvPr/>
        </p:nvSpPr>
        <p:spPr bwMode="auto">
          <a:xfrm rot="-5400000">
            <a:off x="1980407" y="5098256"/>
            <a:ext cx="114300" cy="2881313"/>
          </a:xfrm>
          <a:prstGeom prst="leftBrace">
            <a:avLst>
              <a:gd name="adj1" fmla="val 210069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498" name="AutoShape 250"/>
          <p:cNvSpPr>
            <a:spLocks/>
          </p:cNvSpPr>
          <p:nvPr/>
        </p:nvSpPr>
        <p:spPr bwMode="auto">
          <a:xfrm rot="-5400000">
            <a:off x="5235576" y="4724400"/>
            <a:ext cx="114300" cy="3629025"/>
          </a:xfrm>
          <a:prstGeom prst="leftBrace">
            <a:avLst>
              <a:gd name="adj1" fmla="val 26458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499" name="Rectangle 251"/>
          <p:cNvSpPr>
            <a:spLocks noChangeArrowheads="1"/>
          </p:cNvSpPr>
          <p:nvPr/>
        </p:nvSpPr>
        <p:spPr bwMode="auto">
          <a:xfrm>
            <a:off x="3189288" y="6078538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latin typeface="Arial" charset="0"/>
              </a:rPr>
              <a:t>f</a:t>
            </a:r>
          </a:p>
        </p:txBody>
      </p:sp>
      <p:sp>
        <p:nvSpPr>
          <p:cNvPr id="53500" name="Rectangle 252"/>
          <p:cNvSpPr>
            <a:spLocks noChangeArrowheads="1"/>
          </p:cNvSpPr>
          <p:nvPr/>
        </p:nvSpPr>
        <p:spPr bwMode="auto">
          <a:xfrm>
            <a:off x="596900" y="602138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latin typeface="Arial" charset="0"/>
              </a:rPr>
              <a:t>p</a:t>
            </a:r>
          </a:p>
        </p:txBody>
      </p:sp>
      <p:sp>
        <p:nvSpPr>
          <p:cNvPr id="53501" name="AutoShape 253"/>
          <p:cNvSpPr>
            <a:spLocks/>
          </p:cNvSpPr>
          <p:nvPr/>
        </p:nvSpPr>
        <p:spPr bwMode="auto">
          <a:xfrm rot="-5400000">
            <a:off x="1791494" y="5257006"/>
            <a:ext cx="203200" cy="2592388"/>
          </a:xfrm>
          <a:prstGeom prst="leftBrace">
            <a:avLst>
              <a:gd name="adj1" fmla="val 106315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38" name="Rectangle 255"/>
          <p:cNvSpPr>
            <a:spLocks noChangeArrowheads="1"/>
          </p:cNvSpPr>
          <p:nvPr/>
        </p:nvSpPr>
        <p:spPr bwMode="auto">
          <a:xfrm>
            <a:off x="5686425" y="120650"/>
            <a:ext cx="3417888" cy="658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/>
            <a:r>
              <a:rPr lang="en-US"/>
              <a:t>while (pivot.compareTo(data[</a:t>
            </a:r>
            <a:r>
              <a:rPr lang="en-US">
                <a:solidFill>
                  <a:srgbClr val="FF0000"/>
                </a:solidFill>
              </a:rPr>
              <a:t>lower</a:t>
            </a:r>
            <a:r>
              <a:rPr lang="en-US"/>
              <a:t>]) &gt; 0)</a:t>
            </a:r>
          </a:p>
          <a:p>
            <a:pPr marL="342900" indent="-342900"/>
            <a:r>
              <a:rPr lang="en-US"/>
              <a:t>      </a:t>
            </a:r>
            <a:r>
              <a:rPr lang="en-US">
                <a:solidFill>
                  <a:srgbClr val="FF0000"/>
                </a:solidFill>
              </a:rPr>
              <a:t>lower</a:t>
            </a:r>
            <a:r>
              <a:rPr lang="en-US"/>
              <a:t>++;</a:t>
            </a:r>
          </a:p>
          <a:p>
            <a:pPr marL="342900" indent="-342900"/>
            <a:r>
              <a:rPr lang="en-US"/>
              <a:t>while (pivot.compareTo(data[</a:t>
            </a:r>
            <a:r>
              <a:rPr lang="en-US">
                <a:solidFill>
                  <a:srgbClr val="3333CC"/>
                </a:solidFill>
              </a:rPr>
              <a:t>upper</a:t>
            </a:r>
            <a:r>
              <a:rPr lang="en-US"/>
              <a:t>]) &lt; 0)</a:t>
            </a:r>
          </a:p>
          <a:p>
            <a:pPr marL="342900" indent="-342900"/>
            <a:r>
              <a:rPr lang="en-US"/>
              <a:t>      </a:t>
            </a:r>
            <a:r>
              <a:rPr lang="en-US">
                <a:solidFill>
                  <a:srgbClr val="3333CC"/>
                </a:solidFill>
              </a:rPr>
              <a:t>upper</a:t>
            </a:r>
            <a:r>
              <a:rPr lang="en-US"/>
              <a:t>--;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46 0.0037 C -0.06076 0.02682 -0.10955 0.04994 -0.16181 0.05041 C -0.21406 0.05087 -0.26979 0.02844 -0.32552 0.00601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53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12" y="235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5.54913E-6 C 0.0625 -0.02752 0.125 -0.05504 0.17951 -0.05504 C 0.23402 -0.05504 0.28055 -0.02752 0.32708 -5.54913E-6 " pathEditMode="relative" ptsTypes="aaA">
                                      <p:cBhvr>
                                        <p:cTn id="8" dur="2000" fill="hold"/>
                                        <p:tgtEl>
                                          <p:spTgt spid="534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54335E-6 C 0.04635 0.02728 0.09271 0.05456 0.13976 0.05503 C 0.18681 0.05549 0.23472 0.02867 0.28264 0.00208 " pathEditMode="relative" ptsTypes="aaA">
                                      <p:cBhvr>
                                        <p:cTn id="96" dur="2000" fill="hold"/>
                                        <p:tgtEl>
                                          <p:spTgt spid="53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31214E-7 C -0.04618 -0.03283 -0.09236 -0.06543 -0.13976 -0.06543 C -0.18715 -0.06543 -0.23576 -0.03283 -0.2842 2.31214E-7 " pathEditMode="relative" ptsTypes="aaA">
                                      <p:cBhvr>
                                        <p:cTn id="98" dur="2000" fill="hold"/>
                                        <p:tgtEl>
                                          <p:spTgt spid="53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75" grpId="0" animBg="1"/>
      <p:bldP spid="53377" grpId="0" animBg="1"/>
      <p:bldP spid="53382" grpId="0" animBg="1"/>
      <p:bldP spid="53409" grpId="0" animBg="1"/>
      <p:bldP spid="53372" grpId="0" animBg="1"/>
      <p:bldP spid="53373" grpId="0" animBg="1"/>
      <p:bldP spid="53380" grpId="0" animBg="1"/>
      <p:bldP spid="53381" grpId="0" animBg="1"/>
      <p:bldP spid="53376" grpId="0" animBg="1"/>
      <p:bldP spid="53386" grpId="0" animBg="1"/>
      <p:bldP spid="53407" grpId="0" animBg="1"/>
      <p:bldP spid="53408" grpId="0" animBg="1"/>
      <p:bldP spid="53410" grpId="0" animBg="1"/>
      <p:bldP spid="53432" grpId="0" animBg="1"/>
      <p:bldP spid="53433" grpId="0" animBg="1"/>
      <p:bldP spid="53434" grpId="0" animBg="1"/>
      <p:bldP spid="53455" grpId="0" animBg="1"/>
      <p:bldP spid="53456" grpId="0" animBg="1"/>
      <p:bldP spid="53489" grpId="0" animBg="1"/>
      <p:bldP spid="53490" grpId="0" animBg="1"/>
      <p:bldP spid="53491" grpId="0" animBg="1"/>
      <p:bldP spid="53492" grpId="0" animBg="1"/>
      <p:bldP spid="53493" grpId="0"/>
      <p:bldP spid="53495" grpId="0"/>
      <p:bldP spid="53497" grpId="0" animBg="1"/>
      <p:bldP spid="53497" grpId="1" animBg="1"/>
      <p:bldP spid="53498" grpId="0" animBg="1"/>
      <p:bldP spid="53499" grpId="0"/>
      <p:bldP spid="53499" grpId="1"/>
      <p:bldP spid="53500" grpId="0"/>
      <p:bldP spid="53500" grpId="1"/>
      <p:bldP spid="5350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65100"/>
            <a:ext cx="8229600" cy="541338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Quicksort: example</a:t>
            </a:r>
          </a:p>
        </p:txBody>
      </p:sp>
      <p:graphicFrame>
        <p:nvGraphicFramePr>
          <p:cNvPr id="40355" name="Group 419"/>
          <p:cNvGraphicFramePr>
            <a:graphicFrameLocks noGrp="1"/>
          </p:cNvGraphicFramePr>
          <p:nvPr>
            <p:ph idx="1"/>
          </p:nvPr>
        </p:nvGraphicFramePr>
        <p:xfrm>
          <a:off x="3338513" y="893763"/>
          <a:ext cx="2651125" cy="341364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2" marB="1828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992" name="Text Box 56"/>
          <p:cNvSpPr txBox="1">
            <a:spLocks noChangeArrowheads="1"/>
          </p:cNvSpPr>
          <p:nvPr/>
        </p:nvSpPr>
        <p:spPr bwMode="auto">
          <a:xfrm>
            <a:off x="5703888" y="873125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sp>
        <p:nvSpPr>
          <p:cNvPr id="39993" name="Text Box 57"/>
          <p:cNvSpPr txBox="1">
            <a:spLocks noChangeArrowheads="1"/>
          </p:cNvSpPr>
          <p:nvPr/>
        </p:nvSpPr>
        <p:spPr bwMode="auto">
          <a:xfrm>
            <a:off x="3849688" y="863600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9</a:t>
            </a:r>
          </a:p>
        </p:txBody>
      </p:sp>
      <p:sp>
        <p:nvSpPr>
          <p:cNvPr id="39995" name="Line 59"/>
          <p:cNvSpPr>
            <a:spLocks noChangeShapeType="1"/>
          </p:cNvSpPr>
          <p:nvPr/>
        </p:nvSpPr>
        <p:spPr bwMode="auto">
          <a:xfrm>
            <a:off x="3995738" y="1355725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6" name="Text Box 60"/>
          <p:cNvSpPr txBox="1">
            <a:spLocks noChangeArrowheads="1"/>
          </p:cNvSpPr>
          <p:nvPr/>
        </p:nvSpPr>
        <p:spPr bwMode="auto">
          <a:xfrm>
            <a:off x="6637338" y="893763"/>
            <a:ext cx="2159000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largest to the last cell</a:t>
            </a:r>
          </a:p>
        </p:txBody>
      </p:sp>
      <p:sp>
        <p:nvSpPr>
          <p:cNvPr id="39997" name="Line 61"/>
          <p:cNvSpPr>
            <a:spLocks noChangeShapeType="1"/>
          </p:cNvSpPr>
          <p:nvPr/>
        </p:nvSpPr>
        <p:spPr bwMode="auto">
          <a:xfrm>
            <a:off x="6069013" y="1066800"/>
            <a:ext cx="461962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98" name="Text Box 62"/>
          <p:cNvSpPr txBox="1">
            <a:spLocks noChangeArrowheads="1"/>
          </p:cNvSpPr>
          <p:nvPr/>
        </p:nvSpPr>
        <p:spPr bwMode="auto">
          <a:xfrm>
            <a:off x="6646863" y="893763"/>
            <a:ext cx="2189162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pivot to the first cell</a:t>
            </a:r>
          </a:p>
        </p:txBody>
      </p:sp>
      <p:sp>
        <p:nvSpPr>
          <p:cNvPr id="39999" name="Line 63"/>
          <p:cNvSpPr>
            <a:spLocks noChangeShapeType="1"/>
          </p:cNvSpPr>
          <p:nvPr/>
        </p:nvSpPr>
        <p:spPr bwMode="auto">
          <a:xfrm>
            <a:off x="4572000" y="1355725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00" name="Text Box 64"/>
          <p:cNvSpPr txBox="1">
            <a:spLocks noChangeArrowheads="1"/>
          </p:cNvSpPr>
          <p:nvPr/>
        </p:nvSpPr>
        <p:spPr bwMode="auto">
          <a:xfrm>
            <a:off x="3305175" y="865188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sp>
        <p:nvSpPr>
          <p:cNvPr id="40001" name="Text Box 65"/>
          <p:cNvSpPr txBox="1">
            <a:spLocks noChangeArrowheads="1"/>
          </p:cNvSpPr>
          <p:nvPr/>
        </p:nvSpPr>
        <p:spPr bwMode="auto">
          <a:xfrm>
            <a:off x="4398963" y="865188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5</a:t>
            </a:r>
          </a:p>
        </p:txBody>
      </p:sp>
      <p:graphicFrame>
        <p:nvGraphicFramePr>
          <p:cNvPr id="40311" name="Group 375"/>
          <p:cNvGraphicFramePr>
            <a:graphicFrameLocks noGrp="1"/>
          </p:cNvGraphicFramePr>
          <p:nvPr/>
        </p:nvGraphicFramePr>
        <p:xfrm>
          <a:off x="3362325" y="1444625"/>
          <a:ext cx="2651125" cy="344488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024" name="Line 88"/>
          <p:cNvSpPr>
            <a:spLocks noChangeShapeType="1"/>
          </p:cNvSpPr>
          <p:nvPr/>
        </p:nvSpPr>
        <p:spPr bwMode="auto">
          <a:xfrm>
            <a:off x="3765550" y="1905000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5" name="Line 89"/>
          <p:cNvSpPr>
            <a:spLocks noChangeShapeType="1"/>
          </p:cNvSpPr>
          <p:nvPr/>
        </p:nvSpPr>
        <p:spPr bwMode="auto">
          <a:xfrm>
            <a:off x="4052888" y="1905000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6" name="Line 90"/>
          <p:cNvSpPr>
            <a:spLocks noChangeShapeType="1"/>
          </p:cNvSpPr>
          <p:nvPr/>
        </p:nvSpPr>
        <p:spPr bwMode="auto">
          <a:xfrm>
            <a:off x="4284663" y="1905000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7" name="Line 91"/>
          <p:cNvSpPr>
            <a:spLocks noChangeShapeType="1"/>
          </p:cNvSpPr>
          <p:nvPr/>
        </p:nvSpPr>
        <p:spPr bwMode="auto">
          <a:xfrm>
            <a:off x="5321300" y="1905000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8" name="Line 92"/>
          <p:cNvSpPr>
            <a:spLocks noChangeShapeType="1"/>
          </p:cNvSpPr>
          <p:nvPr/>
        </p:nvSpPr>
        <p:spPr bwMode="auto">
          <a:xfrm>
            <a:off x="5091113" y="1905000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29" name="Text Box 93"/>
          <p:cNvSpPr txBox="1">
            <a:spLocks noChangeArrowheads="1"/>
          </p:cNvSpPr>
          <p:nvPr/>
        </p:nvSpPr>
        <p:spPr bwMode="auto">
          <a:xfrm>
            <a:off x="4141788" y="1436688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5</a:t>
            </a:r>
          </a:p>
        </p:txBody>
      </p:sp>
      <p:sp>
        <p:nvSpPr>
          <p:cNvPr id="40030" name="Text Box 94"/>
          <p:cNvSpPr txBox="1">
            <a:spLocks noChangeArrowheads="1"/>
          </p:cNvSpPr>
          <p:nvPr/>
        </p:nvSpPr>
        <p:spPr bwMode="auto">
          <a:xfrm>
            <a:off x="4918075" y="1436688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3</a:t>
            </a:r>
          </a:p>
        </p:txBody>
      </p:sp>
      <p:sp>
        <p:nvSpPr>
          <p:cNvPr id="40034" name="Line 98"/>
          <p:cNvSpPr>
            <a:spLocks noChangeShapeType="1"/>
          </p:cNvSpPr>
          <p:nvPr/>
        </p:nvSpPr>
        <p:spPr bwMode="auto">
          <a:xfrm>
            <a:off x="4802188" y="1905000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5" name="Line 99"/>
          <p:cNvSpPr>
            <a:spLocks noChangeShapeType="1"/>
          </p:cNvSpPr>
          <p:nvPr/>
        </p:nvSpPr>
        <p:spPr bwMode="auto">
          <a:xfrm>
            <a:off x="4572000" y="1905000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6" name="Line 100"/>
          <p:cNvSpPr>
            <a:spLocks noChangeShapeType="1"/>
          </p:cNvSpPr>
          <p:nvPr/>
        </p:nvSpPr>
        <p:spPr bwMode="auto">
          <a:xfrm>
            <a:off x="4859338" y="1905000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37" name="Line 101"/>
          <p:cNvSpPr>
            <a:spLocks noChangeShapeType="1"/>
          </p:cNvSpPr>
          <p:nvPr/>
        </p:nvSpPr>
        <p:spPr bwMode="auto">
          <a:xfrm>
            <a:off x="4572000" y="1905000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0" name="Text Box 104"/>
          <p:cNvSpPr txBox="1">
            <a:spLocks noChangeArrowheads="1"/>
          </p:cNvSpPr>
          <p:nvPr/>
        </p:nvSpPr>
        <p:spPr bwMode="auto">
          <a:xfrm>
            <a:off x="6704013" y="1444625"/>
            <a:ext cx="1325562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partitioning</a:t>
            </a:r>
          </a:p>
        </p:txBody>
      </p:sp>
      <p:sp>
        <p:nvSpPr>
          <p:cNvPr id="40041" name="Line 105"/>
          <p:cNvSpPr>
            <a:spLocks noChangeShapeType="1"/>
          </p:cNvSpPr>
          <p:nvPr/>
        </p:nvSpPr>
        <p:spPr bwMode="auto">
          <a:xfrm>
            <a:off x="6069013" y="1643063"/>
            <a:ext cx="519112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42" name="Text Box 106"/>
          <p:cNvSpPr txBox="1">
            <a:spLocks noChangeArrowheads="1"/>
          </p:cNvSpPr>
          <p:nvPr/>
        </p:nvSpPr>
        <p:spPr bwMode="auto">
          <a:xfrm>
            <a:off x="6704013" y="1431925"/>
            <a:ext cx="1843087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pivot to final cell</a:t>
            </a:r>
          </a:p>
        </p:txBody>
      </p:sp>
      <p:sp>
        <p:nvSpPr>
          <p:cNvPr id="40043" name="Text Box 107"/>
          <p:cNvSpPr txBox="1">
            <a:spLocks noChangeArrowheads="1"/>
          </p:cNvSpPr>
          <p:nvPr/>
        </p:nvSpPr>
        <p:spPr bwMode="auto">
          <a:xfrm>
            <a:off x="4386263" y="1412875"/>
            <a:ext cx="346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>
                <a:latin typeface="Arial" charset="0"/>
              </a:rPr>
              <a:t>2</a:t>
            </a:r>
          </a:p>
        </p:txBody>
      </p:sp>
      <p:sp>
        <p:nvSpPr>
          <p:cNvPr id="40044" name="Text Box 108"/>
          <p:cNvSpPr txBox="1">
            <a:spLocks noChangeArrowheads="1"/>
          </p:cNvSpPr>
          <p:nvPr/>
        </p:nvSpPr>
        <p:spPr bwMode="auto">
          <a:xfrm>
            <a:off x="3362325" y="1422400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>
                <a:latin typeface="Arial" charset="0"/>
              </a:rPr>
              <a:t>5</a:t>
            </a:r>
          </a:p>
        </p:txBody>
      </p:sp>
      <p:graphicFrame>
        <p:nvGraphicFramePr>
          <p:cNvPr id="40124" name="Group 188"/>
          <p:cNvGraphicFramePr>
            <a:graphicFrameLocks noGrp="1"/>
          </p:cNvGraphicFramePr>
          <p:nvPr/>
        </p:nvGraphicFramePr>
        <p:xfrm>
          <a:off x="1460500" y="2398713"/>
          <a:ext cx="1060450" cy="374650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317" name="Group 381"/>
          <p:cNvGraphicFramePr>
            <a:graphicFrameLocks noGrp="1"/>
          </p:cNvGraphicFramePr>
          <p:nvPr/>
        </p:nvGraphicFramePr>
        <p:xfrm>
          <a:off x="6484938" y="2428875"/>
          <a:ext cx="1060450" cy="344488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081" name="Line 145"/>
          <p:cNvSpPr>
            <a:spLocks noChangeShapeType="1"/>
          </p:cNvSpPr>
          <p:nvPr/>
        </p:nvSpPr>
        <p:spPr bwMode="auto">
          <a:xfrm flipH="1">
            <a:off x="2613025" y="1873250"/>
            <a:ext cx="74930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2" name="Line 146"/>
          <p:cNvSpPr>
            <a:spLocks noChangeShapeType="1"/>
          </p:cNvSpPr>
          <p:nvPr/>
        </p:nvSpPr>
        <p:spPr bwMode="auto">
          <a:xfrm>
            <a:off x="5665788" y="1873250"/>
            <a:ext cx="922337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4" name="Text Box 148"/>
          <p:cNvSpPr txBox="1">
            <a:spLocks noChangeArrowheads="1"/>
          </p:cNvSpPr>
          <p:nvPr/>
        </p:nvSpPr>
        <p:spPr bwMode="auto">
          <a:xfrm>
            <a:off x="3305175" y="2422525"/>
            <a:ext cx="2073275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pivot to the first cell</a:t>
            </a:r>
          </a:p>
        </p:txBody>
      </p:sp>
      <p:sp>
        <p:nvSpPr>
          <p:cNvPr id="40085" name="Line 149"/>
          <p:cNvSpPr>
            <a:spLocks noChangeShapeType="1"/>
          </p:cNvSpPr>
          <p:nvPr/>
        </p:nvSpPr>
        <p:spPr bwMode="auto">
          <a:xfrm>
            <a:off x="2786063" y="2628900"/>
            <a:ext cx="346075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086" name="Text Box 150"/>
          <p:cNvSpPr txBox="1">
            <a:spLocks noChangeArrowheads="1"/>
          </p:cNvSpPr>
          <p:nvPr/>
        </p:nvSpPr>
        <p:spPr bwMode="auto">
          <a:xfrm>
            <a:off x="1692275" y="2405063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4</a:t>
            </a:r>
          </a:p>
        </p:txBody>
      </p:sp>
      <p:sp>
        <p:nvSpPr>
          <p:cNvPr id="40087" name="Text Box 151"/>
          <p:cNvSpPr txBox="1">
            <a:spLocks noChangeArrowheads="1"/>
          </p:cNvSpPr>
          <p:nvPr/>
        </p:nvSpPr>
        <p:spPr bwMode="auto">
          <a:xfrm>
            <a:off x="1443038" y="2398713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graphicFrame>
        <p:nvGraphicFramePr>
          <p:cNvPr id="40109" name="Group 173"/>
          <p:cNvGraphicFramePr>
            <a:graphicFrameLocks noGrp="1"/>
          </p:cNvGraphicFramePr>
          <p:nvPr/>
        </p:nvGraphicFramePr>
        <p:xfrm>
          <a:off x="1460500" y="2916238"/>
          <a:ext cx="1060450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100" name="Text Box 164"/>
          <p:cNvSpPr txBox="1">
            <a:spLocks noChangeArrowheads="1"/>
          </p:cNvSpPr>
          <p:nvPr/>
        </p:nvSpPr>
        <p:spPr bwMode="auto">
          <a:xfrm>
            <a:off x="3305175" y="2916238"/>
            <a:ext cx="1325563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partitioning</a:t>
            </a:r>
          </a:p>
        </p:txBody>
      </p:sp>
      <p:sp>
        <p:nvSpPr>
          <p:cNvPr id="40101" name="Line 165"/>
          <p:cNvSpPr>
            <a:spLocks noChangeShapeType="1"/>
          </p:cNvSpPr>
          <p:nvPr/>
        </p:nvSpPr>
        <p:spPr bwMode="auto">
          <a:xfrm>
            <a:off x="2786063" y="3146425"/>
            <a:ext cx="346075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2" name="Line 166"/>
          <p:cNvSpPr>
            <a:spLocks noChangeShapeType="1"/>
          </p:cNvSpPr>
          <p:nvPr/>
        </p:nvSpPr>
        <p:spPr bwMode="auto">
          <a:xfrm>
            <a:off x="1863725" y="337661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3" name="Line 167"/>
          <p:cNvSpPr>
            <a:spLocks noChangeShapeType="1"/>
          </p:cNvSpPr>
          <p:nvPr/>
        </p:nvSpPr>
        <p:spPr bwMode="auto">
          <a:xfrm>
            <a:off x="2095500" y="337661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4" name="Line 168"/>
          <p:cNvSpPr>
            <a:spLocks noChangeShapeType="1"/>
          </p:cNvSpPr>
          <p:nvPr/>
        </p:nvSpPr>
        <p:spPr bwMode="auto">
          <a:xfrm>
            <a:off x="2382838" y="337661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5" name="Line 169"/>
          <p:cNvSpPr>
            <a:spLocks noChangeShapeType="1"/>
          </p:cNvSpPr>
          <p:nvPr/>
        </p:nvSpPr>
        <p:spPr bwMode="auto">
          <a:xfrm>
            <a:off x="2439988" y="3376613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06" name="Text Box 170"/>
          <p:cNvSpPr txBox="1">
            <a:spLocks noChangeArrowheads="1"/>
          </p:cNvSpPr>
          <p:nvPr/>
        </p:nvSpPr>
        <p:spPr bwMode="auto">
          <a:xfrm>
            <a:off x="3305175" y="2916238"/>
            <a:ext cx="1843088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pivot to final cell</a:t>
            </a:r>
          </a:p>
        </p:txBody>
      </p:sp>
      <p:sp>
        <p:nvSpPr>
          <p:cNvPr id="40107" name="Text Box 171"/>
          <p:cNvSpPr txBox="1">
            <a:spLocks noChangeArrowheads="1"/>
          </p:cNvSpPr>
          <p:nvPr/>
        </p:nvSpPr>
        <p:spPr bwMode="auto">
          <a:xfrm>
            <a:off x="1447800" y="2887663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4</a:t>
            </a:r>
          </a:p>
        </p:txBody>
      </p:sp>
      <p:sp>
        <p:nvSpPr>
          <p:cNvPr id="40108" name="Text Box 172"/>
          <p:cNvSpPr txBox="1">
            <a:spLocks noChangeArrowheads="1"/>
          </p:cNvSpPr>
          <p:nvPr/>
        </p:nvSpPr>
        <p:spPr bwMode="auto">
          <a:xfrm>
            <a:off x="2224088" y="2887663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3</a:t>
            </a:r>
          </a:p>
        </p:txBody>
      </p:sp>
      <p:graphicFrame>
        <p:nvGraphicFramePr>
          <p:cNvPr id="40122" name="Group 186"/>
          <p:cNvGraphicFramePr>
            <a:graphicFrameLocks noGrp="1"/>
          </p:cNvGraphicFramePr>
          <p:nvPr/>
        </p:nvGraphicFramePr>
        <p:xfrm>
          <a:off x="539750" y="3908425"/>
          <a:ext cx="795338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123" name="Line 187"/>
          <p:cNvSpPr>
            <a:spLocks noChangeShapeType="1"/>
          </p:cNvSpPr>
          <p:nvPr/>
        </p:nvSpPr>
        <p:spPr bwMode="auto">
          <a:xfrm flipH="1">
            <a:off x="1116013" y="3371850"/>
            <a:ext cx="346075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5" name="Text Box 189"/>
          <p:cNvSpPr txBox="1">
            <a:spLocks noChangeArrowheads="1"/>
          </p:cNvSpPr>
          <p:nvPr/>
        </p:nvSpPr>
        <p:spPr bwMode="auto">
          <a:xfrm>
            <a:off x="1979613" y="3908425"/>
            <a:ext cx="2092325" cy="3794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pivot to the first cell</a:t>
            </a:r>
          </a:p>
        </p:txBody>
      </p:sp>
      <p:sp>
        <p:nvSpPr>
          <p:cNvPr id="40126" name="Line 190"/>
          <p:cNvSpPr>
            <a:spLocks noChangeShapeType="1"/>
          </p:cNvSpPr>
          <p:nvPr/>
        </p:nvSpPr>
        <p:spPr bwMode="auto">
          <a:xfrm>
            <a:off x="1460500" y="4114800"/>
            <a:ext cx="346075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27" name="Text Box 191"/>
          <p:cNvSpPr txBox="1">
            <a:spLocks noChangeArrowheads="1"/>
          </p:cNvSpPr>
          <p:nvPr/>
        </p:nvSpPr>
        <p:spPr bwMode="auto">
          <a:xfrm>
            <a:off x="769938" y="3889375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graphicFrame>
        <p:nvGraphicFramePr>
          <p:cNvPr id="40134" name="Group 198"/>
          <p:cNvGraphicFramePr>
            <a:graphicFrameLocks noGrp="1"/>
          </p:cNvGraphicFramePr>
          <p:nvPr/>
        </p:nvGraphicFramePr>
        <p:xfrm>
          <a:off x="539750" y="4425950"/>
          <a:ext cx="795338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144" name="Text Box 208"/>
          <p:cNvSpPr txBox="1">
            <a:spLocks noChangeArrowheads="1"/>
          </p:cNvSpPr>
          <p:nvPr/>
        </p:nvSpPr>
        <p:spPr bwMode="auto">
          <a:xfrm>
            <a:off x="1979613" y="4392613"/>
            <a:ext cx="1325562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partitioning</a:t>
            </a:r>
          </a:p>
        </p:txBody>
      </p:sp>
      <p:sp>
        <p:nvSpPr>
          <p:cNvPr id="40145" name="Line 209"/>
          <p:cNvSpPr>
            <a:spLocks noChangeShapeType="1"/>
          </p:cNvSpPr>
          <p:nvPr/>
        </p:nvSpPr>
        <p:spPr bwMode="auto">
          <a:xfrm>
            <a:off x="1460500" y="4598988"/>
            <a:ext cx="346075" cy="0"/>
          </a:xfrm>
          <a:prstGeom prst="line">
            <a:avLst/>
          </a:prstGeom>
          <a:noFill/>
          <a:ln w="9525">
            <a:solidFill>
              <a:srgbClr val="33CC33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46" name="Line 210"/>
          <p:cNvSpPr>
            <a:spLocks noChangeShapeType="1"/>
          </p:cNvSpPr>
          <p:nvPr/>
        </p:nvSpPr>
        <p:spPr bwMode="auto">
          <a:xfrm>
            <a:off x="942975" y="488791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47" name="Line 211"/>
          <p:cNvSpPr>
            <a:spLocks noChangeShapeType="1"/>
          </p:cNvSpPr>
          <p:nvPr/>
        </p:nvSpPr>
        <p:spPr bwMode="auto">
          <a:xfrm>
            <a:off x="1230313" y="4887913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52" name="Text Box 216"/>
          <p:cNvSpPr txBox="1">
            <a:spLocks noChangeArrowheads="1"/>
          </p:cNvSpPr>
          <p:nvPr/>
        </p:nvSpPr>
        <p:spPr bwMode="auto">
          <a:xfrm>
            <a:off x="500063" y="3889375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3</a:t>
            </a:r>
          </a:p>
        </p:txBody>
      </p:sp>
      <p:sp>
        <p:nvSpPr>
          <p:cNvPr id="40154" name="Text Box 218"/>
          <p:cNvSpPr txBox="1">
            <a:spLocks noChangeArrowheads="1"/>
          </p:cNvSpPr>
          <p:nvPr/>
        </p:nvSpPr>
        <p:spPr bwMode="auto">
          <a:xfrm>
            <a:off x="1058863" y="4394200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sp>
        <p:nvSpPr>
          <p:cNvPr id="40155" name="Text Box 219"/>
          <p:cNvSpPr txBox="1">
            <a:spLocks noChangeArrowheads="1"/>
          </p:cNvSpPr>
          <p:nvPr/>
        </p:nvSpPr>
        <p:spPr bwMode="auto">
          <a:xfrm>
            <a:off x="795338" y="4408488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3</a:t>
            </a:r>
          </a:p>
        </p:txBody>
      </p:sp>
      <p:sp>
        <p:nvSpPr>
          <p:cNvPr id="40168" name="Line 232"/>
          <p:cNvSpPr>
            <a:spLocks noChangeShapeType="1"/>
          </p:cNvSpPr>
          <p:nvPr/>
        </p:nvSpPr>
        <p:spPr bwMode="auto">
          <a:xfrm flipH="1">
            <a:off x="539750" y="4868863"/>
            <a:ext cx="173038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180" name="Line 244"/>
          <p:cNvSpPr>
            <a:spLocks noChangeShapeType="1"/>
          </p:cNvSpPr>
          <p:nvPr/>
        </p:nvSpPr>
        <p:spPr bwMode="auto">
          <a:xfrm>
            <a:off x="1289050" y="4868863"/>
            <a:ext cx="114300" cy="346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181" name="Group 245"/>
          <p:cNvGraphicFramePr>
            <a:graphicFrameLocks noGrp="1"/>
          </p:cNvGraphicFramePr>
          <p:nvPr/>
        </p:nvGraphicFramePr>
        <p:xfrm>
          <a:off x="1368425" y="5329238"/>
          <a:ext cx="265113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187" name="Text Box 251"/>
          <p:cNvSpPr txBox="1">
            <a:spLocks noChangeArrowheads="1"/>
          </p:cNvSpPr>
          <p:nvPr/>
        </p:nvSpPr>
        <p:spPr bwMode="auto">
          <a:xfrm>
            <a:off x="1979613" y="4392613"/>
            <a:ext cx="1843087" cy="3794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pivot to final cell</a:t>
            </a:r>
          </a:p>
        </p:txBody>
      </p:sp>
      <p:sp>
        <p:nvSpPr>
          <p:cNvPr id="40205" name="Text Box 269"/>
          <p:cNvSpPr txBox="1">
            <a:spLocks noChangeArrowheads="1"/>
          </p:cNvSpPr>
          <p:nvPr/>
        </p:nvSpPr>
        <p:spPr bwMode="auto">
          <a:xfrm>
            <a:off x="539750" y="4398963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sp>
        <p:nvSpPr>
          <p:cNvPr id="40207" name="Text Box 271"/>
          <p:cNvSpPr txBox="1">
            <a:spLocks noChangeArrowheads="1"/>
          </p:cNvSpPr>
          <p:nvPr/>
        </p:nvSpPr>
        <p:spPr bwMode="auto">
          <a:xfrm>
            <a:off x="795338" y="4400550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2</a:t>
            </a:r>
          </a:p>
        </p:txBody>
      </p:sp>
      <p:graphicFrame>
        <p:nvGraphicFramePr>
          <p:cNvPr id="40214" name="Group 278"/>
          <p:cNvGraphicFramePr>
            <a:graphicFrameLocks noGrp="1"/>
          </p:cNvGraphicFramePr>
          <p:nvPr/>
        </p:nvGraphicFramePr>
        <p:xfrm>
          <a:off x="423863" y="5329238"/>
          <a:ext cx="265112" cy="346075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220" name="Line 284"/>
          <p:cNvSpPr>
            <a:spLocks noChangeShapeType="1"/>
          </p:cNvSpPr>
          <p:nvPr/>
        </p:nvSpPr>
        <p:spPr bwMode="auto">
          <a:xfrm>
            <a:off x="1230313" y="488791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21" name="Line 285"/>
          <p:cNvSpPr>
            <a:spLocks noChangeShapeType="1"/>
          </p:cNvSpPr>
          <p:nvPr/>
        </p:nvSpPr>
        <p:spPr bwMode="auto">
          <a:xfrm>
            <a:off x="942975" y="4887913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33" name="Text Box 297"/>
          <p:cNvSpPr txBox="1">
            <a:spLocks noChangeArrowheads="1"/>
          </p:cNvSpPr>
          <p:nvPr/>
        </p:nvSpPr>
        <p:spPr bwMode="auto">
          <a:xfrm>
            <a:off x="6723063" y="2411413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5</a:t>
            </a:r>
          </a:p>
        </p:txBody>
      </p:sp>
      <p:sp>
        <p:nvSpPr>
          <p:cNvPr id="40234" name="Text Box 298"/>
          <p:cNvSpPr txBox="1">
            <a:spLocks noChangeArrowheads="1"/>
          </p:cNvSpPr>
          <p:nvPr/>
        </p:nvSpPr>
        <p:spPr bwMode="auto">
          <a:xfrm>
            <a:off x="6472238" y="2392363"/>
            <a:ext cx="2873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6</a:t>
            </a:r>
          </a:p>
        </p:txBody>
      </p:sp>
      <p:graphicFrame>
        <p:nvGraphicFramePr>
          <p:cNvPr id="40320" name="Group 384"/>
          <p:cNvGraphicFramePr>
            <a:graphicFrameLocks noGrp="1"/>
          </p:cNvGraphicFramePr>
          <p:nvPr/>
        </p:nvGraphicFramePr>
        <p:xfrm>
          <a:off x="6484938" y="2917825"/>
          <a:ext cx="1060450" cy="344488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246" name="Line 310"/>
          <p:cNvSpPr>
            <a:spLocks noChangeShapeType="1"/>
          </p:cNvSpPr>
          <p:nvPr/>
        </p:nvSpPr>
        <p:spPr bwMode="auto">
          <a:xfrm>
            <a:off x="6877050" y="337661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47" name="Line 311"/>
          <p:cNvSpPr>
            <a:spLocks noChangeShapeType="1"/>
          </p:cNvSpPr>
          <p:nvPr/>
        </p:nvSpPr>
        <p:spPr bwMode="auto">
          <a:xfrm>
            <a:off x="7164388" y="3376613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48" name="Line 312"/>
          <p:cNvSpPr>
            <a:spLocks noChangeShapeType="1"/>
          </p:cNvSpPr>
          <p:nvPr/>
        </p:nvSpPr>
        <p:spPr bwMode="auto">
          <a:xfrm>
            <a:off x="6934200" y="3376613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49" name="Line 313"/>
          <p:cNvSpPr>
            <a:spLocks noChangeShapeType="1"/>
          </p:cNvSpPr>
          <p:nvPr/>
        </p:nvSpPr>
        <p:spPr bwMode="auto">
          <a:xfrm>
            <a:off x="6645275" y="3376613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50" name="Line 314"/>
          <p:cNvSpPr>
            <a:spLocks noChangeShapeType="1"/>
          </p:cNvSpPr>
          <p:nvPr/>
        </p:nvSpPr>
        <p:spPr bwMode="auto">
          <a:xfrm>
            <a:off x="6877050" y="3371850"/>
            <a:ext cx="403225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323" name="Group 387"/>
          <p:cNvGraphicFramePr>
            <a:graphicFrameLocks noGrp="1"/>
          </p:cNvGraphicFramePr>
          <p:nvPr/>
        </p:nvGraphicFramePr>
        <p:xfrm>
          <a:off x="7048500" y="3908425"/>
          <a:ext cx="795338" cy="344488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262" name="Line 326"/>
          <p:cNvSpPr>
            <a:spLocks noChangeShapeType="1"/>
          </p:cNvSpPr>
          <p:nvPr/>
        </p:nvSpPr>
        <p:spPr bwMode="auto">
          <a:xfrm>
            <a:off x="7451725" y="4829175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63" name="Line 327"/>
          <p:cNvSpPr>
            <a:spLocks noChangeShapeType="1"/>
          </p:cNvSpPr>
          <p:nvPr/>
        </p:nvSpPr>
        <p:spPr bwMode="auto">
          <a:xfrm>
            <a:off x="7451725" y="4829175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64" name="Text Box 328"/>
          <p:cNvSpPr txBox="1">
            <a:spLocks noChangeArrowheads="1"/>
          </p:cNvSpPr>
          <p:nvPr/>
        </p:nvSpPr>
        <p:spPr bwMode="auto">
          <a:xfrm>
            <a:off x="7280275" y="3889375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7</a:t>
            </a:r>
          </a:p>
        </p:txBody>
      </p:sp>
      <p:sp>
        <p:nvSpPr>
          <p:cNvPr id="40265" name="Text Box 329"/>
          <p:cNvSpPr txBox="1">
            <a:spLocks noChangeArrowheads="1"/>
          </p:cNvSpPr>
          <p:nvPr/>
        </p:nvSpPr>
        <p:spPr bwMode="auto">
          <a:xfrm>
            <a:off x="7029450" y="3895725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6</a:t>
            </a:r>
          </a:p>
        </p:txBody>
      </p:sp>
      <p:sp>
        <p:nvSpPr>
          <p:cNvPr id="40266" name="Line 330"/>
          <p:cNvSpPr>
            <a:spLocks noChangeShapeType="1"/>
          </p:cNvSpPr>
          <p:nvPr/>
        </p:nvSpPr>
        <p:spPr bwMode="auto">
          <a:xfrm flipH="1">
            <a:off x="6991350" y="4829175"/>
            <a:ext cx="173038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267" name="Group 331"/>
          <p:cNvGraphicFramePr>
            <a:graphicFrameLocks noGrp="1"/>
          </p:cNvGraphicFramePr>
          <p:nvPr/>
        </p:nvGraphicFramePr>
        <p:xfrm>
          <a:off x="6818313" y="5291138"/>
          <a:ext cx="265112" cy="346075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350" name="Group 414"/>
          <p:cNvGraphicFramePr>
            <a:graphicFrameLocks noGrp="1"/>
          </p:cNvGraphicFramePr>
          <p:nvPr/>
        </p:nvGraphicFramePr>
        <p:xfrm>
          <a:off x="3305175" y="6196013"/>
          <a:ext cx="2651125" cy="344487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296" name="Line 360"/>
          <p:cNvSpPr>
            <a:spLocks noChangeShapeType="1"/>
          </p:cNvSpPr>
          <p:nvPr/>
        </p:nvSpPr>
        <p:spPr bwMode="auto">
          <a:xfrm>
            <a:off x="539750" y="5734050"/>
            <a:ext cx="2879725" cy="4603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97" name="Line 361"/>
          <p:cNvSpPr>
            <a:spLocks noChangeShapeType="1"/>
          </p:cNvSpPr>
          <p:nvPr/>
        </p:nvSpPr>
        <p:spPr bwMode="auto">
          <a:xfrm>
            <a:off x="1519238" y="5675313"/>
            <a:ext cx="2476500" cy="5191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98" name="Line 362"/>
          <p:cNvSpPr>
            <a:spLocks noChangeShapeType="1"/>
          </p:cNvSpPr>
          <p:nvPr/>
        </p:nvSpPr>
        <p:spPr bwMode="auto">
          <a:xfrm flipV="1">
            <a:off x="5032375" y="5675313"/>
            <a:ext cx="1901825" cy="5191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299" name="Line 363"/>
          <p:cNvSpPr>
            <a:spLocks noChangeShapeType="1"/>
          </p:cNvSpPr>
          <p:nvPr/>
        </p:nvSpPr>
        <p:spPr bwMode="auto">
          <a:xfrm flipV="1">
            <a:off x="4745038" y="3255963"/>
            <a:ext cx="1843087" cy="29384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00" name="Line 364"/>
          <p:cNvSpPr>
            <a:spLocks noChangeShapeType="1"/>
          </p:cNvSpPr>
          <p:nvPr/>
        </p:nvSpPr>
        <p:spPr bwMode="auto">
          <a:xfrm flipV="1">
            <a:off x="4514850" y="1816100"/>
            <a:ext cx="57150" cy="437832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01" name="Line 365"/>
          <p:cNvSpPr>
            <a:spLocks noChangeShapeType="1"/>
          </p:cNvSpPr>
          <p:nvPr/>
        </p:nvSpPr>
        <p:spPr bwMode="auto">
          <a:xfrm flipH="1" flipV="1">
            <a:off x="2382838" y="3255963"/>
            <a:ext cx="1844675" cy="29384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03" name="Freeform 367"/>
          <p:cNvSpPr>
            <a:spLocks/>
          </p:cNvSpPr>
          <p:nvPr/>
        </p:nvSpPr>
        <p:spPr bwMode="auto">
          <a:xfrm>
            <a:off x="914400" y="4754563"/>
            <a:ext cx="2794000" cy="1439862"/>
          </a:xfrm>
          <a:custGeom>
            <a:avLst/>
            <a:gdLst>
              <a:gd name="T0" fmla="*/ 2147483647 w 1760"/>
              <a:gd name="T1" fmla="*/ 2147483647 h 907"/>
              <a:gd name="T2" fmla="*/ 1600300013 w 1760"/>
              <a:gd name="T3" fmla="*/ 1736386260 h 907"/>
              <a:gd name="T4" fmla="*/ 320060638 w 1760"/>
              <a:gd name="T5" fmla="*/ 1461690117 h 907"/>
              <a:gd name="T6" fmla="*/ 45362813 w 1760"/>
              <a:gd name="T7" fmla="*/ 821570652 h 907"/>
              <a:gd name="T8" fmla="*/ 45362813 w 1760"/>
              <a:gd name="T9" fmla="*/ 0 h 90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60" h="907">
                <a:moveTo>
                  <a:pt x="1760" y="907"/>
                </a:moveTo>
                <a:cubicBezTo>
                  <a:pt x="1333" y="825"/>
                  <a:pt x="907" y="743"/>
                  <a:pt x="635" y="689"/>
                </a:cubicBezTo>
                <a:cubicBezTo>
                  <a:pt x="363" y="635"/>
                  <a:pt x="230" y="640"/>
                  <a:pt x="127" y="580"/>
                </a:cubicBezTo>
                <a:cubicBezTo>
                  <a:pt x="24" y="520"/>
                  <a:pt x="36" y="423"/>
                  <a:pt x="18" y="326"/>
                </a:cubicBezTo>
                <a:cubicBezTo>
                  <a:pt x="0" y="229"/>
                  <a:pt x="9" y="114"/>
                  <a:pt x="1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06" name="Line 370"/>
          <p:cNvSpPr>
            <a:spLocks noChangeShapeType="1"/>
          </p:cNvSpPr>
          <p:nvPr/>
        </p:nvSpPr>
        <p:spPr bwMode="auto">
          <a:xfrm>
            <a:off x="1863725" y="2852738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07" name="Line 371"/>
          <p:cNvSpPr>
            <a:spLocks noChangeShapeType="1"/>
          </p:cNvSpPr>
          <p:nvPr/>
        </p:nvSpPr>
        <p:spPr bwMode="auto">
          <a:xfrm>
            <a:off x="2613025" y="3371850"/>
            <a:ext cx="0" cy="2301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08" name="Line 372"/>
          <p:cNvSpPr>
            <a:spLocks noChangeShapeType="1"/>
          </p:cNvSpPr>
          <p:nvPr/>
        </p:nvSpPr>
        <p:spPr bwMode="auto">
          <a:xfrm>
            <a:off x="942975" y="4351338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324" name="Group 388"/>
          <p:cNvGraphicFramePr>
            <a:graphicFrameLocks noGrp="1"/>
          </p:cNvGraphicFramePr>
          <p:nvPr/>
        </p:nvGraphicFramePr>
        <p:xfrm>
          <a:off x="7740650" y="5272088"/>
          <a:ext cx="265113" cy="346075"/>
        </p:xfrm>
        <a:graphic>
          <a:graphicData uri="http://schemas.openxmlformats.org/drawingml/2006/table">
            <a:tbl>
              <a:tblPr/>
              <a:tblGrid>
                <a:gridCol w="265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330" name="Line 394"/>
          <p:cNvSpPr>
            <a:spLocks noChangeShapeType="1"/>
          </p:cNvSpPr>
          <p:nvPr/>
        </p:nvSpPr>
        <p:spPr bwMode="auto">
          <a:xfrm>
            <a:off x="7740650" y="4811713"/>
            <a:ext cx="114300" cy="403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31" name="Line 395"/>
          <p:cNvSpPr>
            <a:spLocks noChangeShapeType="1"/>
          </p:cNvSpPr>
          <p:nvPr/>
        </p:nvSpPr>
        <p:spPr bwMode="auto">
          <a:xfrm>
            <a:off x="5619750" y="1931988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32" name="Line 396"/>
          <p:cNvSpPr>
            <a:spLocks noChangeShapeType="1"/>
          </p:cNvSpPr>
          <p:nvPr/>
        </p:nvSpPr>
        <p:spPr bwMode="auto">
          <a:xfrm>
            <a:off x="7451725" y="3371850"/>
            <a:ext cx="0" cy="230188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33" name="Line 397"/>
          <p:cNvSpPr>
            <a:spLocks noChangeShapeType="1"/>
          </p:cNvSpPr>
          <p:nvPr/>
        </p:nvSpPr>
        <p:spPr bwMode="auto">
          <a:xfrm>
            <a:off x="6877050" y="2852738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334" name="Group 398"/>
          <p:cNvGraphicFramePr>
            <a:graphicFrameLocks noGrp="1"/>
          </p:cNvGraphicFramePr>
          <p:nvPr/>
        </p:nvGraphicFramePr>
        <p:xfrm>
          <a:off x="7059613" y="4410075"/>
          <a:ext cx="795337" cy="344488"/>
        </p:xfrm>
        <a:graphic>
          <a:graphicData uri="http://schemas.openxmlformats.org/drawingml/2006/table">
            <a:tbl>
              <a:tblPr/>
              <a:tblGrid>
                <a:gridCol w="265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18288" marR="18288"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344" name="Text Box 408"/>
          <p:cNvSpPr txBox="1">
            <a:spLocks noChangeArrowheads="1"/>
          </p:cNvSpPr>
          <p:nvPr/>
        </p:nvSpPr>
        <p:spPr bwMode="auto">
          <a:xfrm>
            <a:off x="7299325" y="4402138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6</a:t>
            </a:r>
          </a:p>
        </p:txBody>
      </p:sp>
      <p:sp>
        <p:nvSpPr>
          <p:cNvPr id="40345" name="Text Box 409"/>
          <p:cNvSpPr txBox="1">
            <a:spLocks noChangeArrowheads="1"/>
          </p:cNvSpPr>
          <p:nvPr/>
        </p:nvSpPr>
        <p:spPr bwMode="auto">
          <a:xfrm>
            <a:off x="7048500" y="4408488"/>
            <a:ext cx="2873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7</a:t>
            </a:r>
          </a:p>
        </p:txBody>
      </p:sp>
      <p:sp>
        <p:nvSpPr>
          <p:cNvPr id="40346" name="Line 410"/>
          <p:cNvSpPr>
            <a:spLocks noChangeShapeType="1"/>
          </p:cNvSpPr>
          <p:nvPr/>
        </p:nvSpPr>
        <p:spPr bwMode="auto">
          <a:xfrm>
            <a:off x="7451725" y="4351338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47" name="Line 411"/>
          <p:cNvSpPr>
            <a:spLocks noChangeShapeType="1"/>
          </p:cNvSpPr>
          <p:nvPr/>
        </p:nvSpPr>
        <p:spPr bwMode="auto">
          <a:xfrm>
            <a:off x="7740650" y="4811713"/>
            <a:ext cx="0" cy="230187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51" name="Line 415"/>
          <p:cNvSpPr>
            <a:spLocks noChangeShapeType="1"/>
          </p:cNvSpPr>
          <p:nvPr/>
        </p:nvSpPr>
        <p:spPr bwMode="auto">
          <a:xfrm flipV="1">
            <a:off x="5551488" y="5675313"/>
            <a:ext cx="2303462" cy="51911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52" name="Freeform 416"/>
          <p:cNvSpPr>
            <a:spLocks/>
          </p:cNvSpPr>
          <p:nvPr/>
        </p:nvSpPr>
        <p:spPr bwMode="auto">
          <a:xfrm>
            <a:off x="5262563" y="4754563"/>
            <a:ext cx="2198687" cy="1439862"/>
          </a:xfrm>
          <a:custGeom>
            <a:avLst/>
            <a:gdLst>
              <a:gd name="T0" fmla="*/ 0 w 1203"/>
              <a:gd name="T1" fmla="*/ 2147483647 h 907"/>
              <a:gd name="T2" fmla="*/ 2147483647 w 1203"/>
              <a:gd name="T3" fmla="*/ 1554935073 h 907"/>
              <a:gd name="T4" fmla="*/ 2147483647 w 1203"/>
              <a:gd name="T5" fmla="*/ 821570652 h 907"/>
              <a:gd name="T6" fmla="*/ 2147483647 w 1203"/>
              <a:gd name="T7" fmla="*/ 0 h 90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03" h="907">
                <a:moveTo>
                  <a:pt x="0" y="907"/>
                </a:moveTo>
                <a:cubicBezTo>
                  <a:pt x="375" y="810"/>
                  <a:pt x="750" y="714"/>
                  <a:pt x="943" y="617"/>
                </a:cubicBezTo>
                <a:cubicBezTo>
                  <a:pt x="1136" y="520"/>
                  <a:pt x="1119" y="429"/>
                  <a:pt x="1161" y="326"/>
                </a:cubicBezTo>
                <a:cubicBezTo>
                  <a:pt x="1203" y="223"/>
                  <a:pt x="1200" y="111"/>
                  <a:pt x="1197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53" name="Freeform 417"/>
          <p:cNvSpPr>
            <a:spLocks/>
          </p:cNvSpPr>
          <p:nvPr/>
        </p:nvSpPr>
        <p:spPr bwMode="auto">
          <a:xfrm>
            <a:off x="5838825" y="1758950"/>
            <a:ext cx="2708275" cy="4435475"/>
          </a:xfrm>
          <a:custGeom>
            <a:avLst/>
            <a:gdLst>
              <a:gd name="T0" fmla="*/ 0 w 1706"/>
              <a:gd name="T1" fmla="*/ 2147483647 h 2794"/>
              <a:gd name="T2" fmla="*/ 2147483647 w 1706"/>
              <a:gd name="T3" fmla="*/ 2147483647 h 2794"/>
              <a:gd name="T4" fmla="*/ 2147483647 w 1706"/>
              <a:gd name="T5" fmla="*/ 2147483647 h 2794"/>
              <a:gd name="T6" fmla="*/ 2147483647 w 1706"/>
              <a:gd name="T7" fmla="*/ 730845313 h 2794"/>
              <a:gd name="T8" fmla="*/ 0 w 1706"/>
              <a:gd name="T9" fmla="*/ 0 h 27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06" h="2794">
                <a:moveTo>
                  <a:pt x="0" y="2794"/>
                </a:moveTo>
                <a:cubicBezTo>
                  <a:pt x="599" y="2770"/>
                  <a:pt x="1198" y="2746"/>
                  <a:pt x="1452" y="2540"/>
                </a:cubicBezTo>
                <a:cubicBezTo>
                  <a:pt x="1706" y="2334"/>
                  <a:pt x="1584" y="1935"/>
                  <a:pt x="1524" y="1560"/>
                </a:cubicBezTo>
                <a:cubicBezTo>
                  <a:pt x="1464" y="1185"/>
                  <a:pt x="1343" y="550"/>
                  <a:pt x="1089" y="290"/>
                </a:cubicBezTo>
                <a:cubicBezTo>
                  <a:pt x="835" y="30"/>
                  <a:pt x="417" y="15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54" name="Line 418"/>
          <p:cNvSpPr>
            <a:spLocks noChangeShapeType="1"/>
          </p:cNvSpPr>
          <p:nvPr/>
        </p:nvSpPr>
        <p:spPr bwMode="auto">
          <a:xfrm>
            <a:off x="7683500" y="4811713"/>
            <a:ext cx="0" cy="2301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56" name="Rectangle 420"/>
          <p:cNvSpPr>
            <a:spLocks noChangeArrowheads="1"/>
          </p:cNvSpPr>
          <p:nvPr/>
        </p:nvSpPr>
        <p:spPr bwMode="auto">
          <a:xfrm>
            <a:off x="39688" y="1119188"/>
            <a:ext cx="3265487" cy="658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marL="342900" indent="-342900"/>
            <a:r>
              <a:rPr lang="en-US"/>
              <a:t>while (pivot.compareTo(data[</a:t>
            </a:r>
            <a:r>
              <a:rPr lang="en-US">
                <a:solidFill>
                  <a:srgbClr val="FF0000"/>
                </a:solidFill>
              </a:rPr>
              <a:t>lower</a:t>
            </a:r>
            <a:r>
              <a:rPr lang="en-US"/>
              <a:t>]) &gt; 0)</a:t>
            </a:r>
          </a:p>
          <a:p>
            <a:pPr marL="342900" indent="-342900"/>
            <a:r>
              <a:rPr lang="en-US"/>
              <a:t>      </a:t>
            </a:r>
            <a:r>
              <a:rPr lang="en-US">
                <a:solidFill>
                  <a:srgbClr val="FF0000"/>
                </a:solidFill>
              </a:rPr>
              <a:t>lower</a:t>
            </a:r>
            <a:r>
              <a:rPr lang="en-US"/>
              <a:t>++;</a:t>
            </a:r>
          </a:p>
          <a:p>
            <a:pPr marL="342900" indent="-342900"/>
            <a:r>
              <a:rPr lang="en-US"/>
              <a:t>while (pivot.compareTo(data[</a:t>
            </a:r>
            <a:r>
              <a:rPr lang="en-US">
                <a:solidFill>
                  <a:srgbClr val="3333CC"/>
                </a:solidFill>
              </a:rPr>
              <a:t>upper</a:t>
            </a:r>
            <a:r>
              <a:rPr lang="en-US"/>
              <a:t>]) &lt; 0)</a:t>
            </a:r>
          </a:p>
          <a:p>
            <a:pPr marL="342900" indent="-342900"/>
            <a:r>
              <a:rPr lang="en-US"/>
              <a:t>      </a:t>
            </a:r>
            <a:r>
              <a:rPr lang="en-US">
                <a:solidFill>
                  <a:srgbClr val="3333CC"/>
                </a:solidFill>
              </a:rPr>
              <a:t>upper</a:t>
            </a:r>
            <a:r>
              <a:rPr lang="en-US"/>
              <a:t>--;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046 C 0.03472 0.02176 0.06927 0.04398 0.10295 0.04398 C 0.13681 0.04398 0.16945 0.02176 0.20226 -0.00046 " pathEditMode="relative" rAng="0" ptsTypes="aaA">
                                      <p:cBhvr>
                                        <p:cTn id="14" dur="2000" fill="hold"/>
                                        <p:tgtEl>
                                          <p:spTgt spid="399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87" y="222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2.77556E-17 C -0.03194 -0.01505 -0.06597 -0.02963 -0.1 -0.02963 C -0.13438 -0.02963 -0.16858 -0.01505 -0.20243 2.77556E-17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399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43" y="-148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0.00208 C -0.02222 0.01898 -0.04219 0.03588 -0.06146 0.03588 C -0.08073 0.03588 -0.09913 0.01898 -0.11754 0.00208 " pathEditMode="relative" rAng="0" ptsTypes="aaA">
                                      <p:cBhvr>
                                        <p:cTn id="31" dur="2000" fill="hold"/>
                                        <p:tgtEl>
                                          <p:spTgt spid="40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4" y="169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5.95376E-6 C 0.02101 -0.01294 0.04219 -0.02589 0.06181 -0.02543 C 0.08143 -0.02496 0.10816 -0.00207 0.11736 0.00209 " pathEditMode="relative" ptsTypes="aaA">
                                      <p:cBhvr>
                                        <p:cTn id="33" dur="2000" fill="hold"/>
                                        <p:tgtEl>
                                          <p:spTgt spid="400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 -0.00254 C 0.01893 0.02431 0.03733 0.05139 0.05156 0.05162 C 0.0658 0.05185 0.07604 0.02547 0.08646 -0.00092 " pathEditMode="relative" rAng="0" ptsTypes="aaA">
                                      <p:cBhvr>
                                        <p:cTn id="94" dur="2000" fill="hold"/>
                                        <p:tgtEl>
                                          <p:spTgt spid="40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8" y="2708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0.00533 C -0.01406 -0.0176 -0.0276 -0.02963 -0.04166 -0.0294 C -0.05573 -0.02894 -0.07014 -0.01598 -0.0842 -0.00255 " pathEditMode="relative" rAng="0" ptsTypes="aaA">
                                      <p:cBhvr>
                                        <p:cTn id="96" dur="2000" fill="hold"/>
                                        <p:tgtEl>
                                          <p:spTgt spid="40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19" y="-10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979 0.01919 0.03975 0.03838 0.05885 0.03815 C 0.07795 0.03792 0.09618 0.01781 0.11441 -0.00208 " pathEditMode="relative" ptsTypes="aaA">
                                      <p:cBhvr>
                                        <p:cTn id="131" dur="2000" fill="hold"/>
                                        <p:tgtEl>
                                          <p:spTgt spid="400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0.00347 C -0.01875 -0.01759 -0.0375 -0.03171 -0.05712 -0.03101 C -0.07673 -0.03032 -0.09722 -0.01481 -0.11753 0.0007 " pathEditMode="relative" rAng="0" ptsTypes="aaA">
                                      <p:cBhvr>
                                        <p:cTn id="133" dur="2000" fill="hold"/>
                                        <p:tgtEl>
                                          <p:spTgt spid="400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85" y="-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82 0.01896 0.00764 0.03792 0.01267 0.03792 C 0.01771 0.03792 0.02379 0.01896 0.03004 0 " pathEditMode="relative" rAng="0" ptsTypes="aaA">
                                      <p:cBhvr>
                                        <p:cTn id="170" dur="2000" fill="hold"/>
                                        <p:tgtEl>
                                          <p:spTgt spid="400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16 -0.02035 -0.00816 -0.04046 -0.01267 -0.04023 C -0.01718 -0.04 -0.02205 -0.01896 -0.02691 0.00208 " pathEditMode="relative" ptsTypes="aaA">
                                      <p:cBhvr>
                                        <p:cTn id="172" dur="2000" fill="hold"/>
                                        <p:tgtEl>
                                          <p:spTgt spid="400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1597 0.02544 -0.03177 0.05087 -0.046 0.05087 C -0.06024 0.05087 -0.07291 0.02544 -0.08559 0 " pathEditMode="relative" ptsTypes="aaA">
                                      <p:cBhvr>
                                        <p:cTn id="225" dur="2000" fill="hold"/>
                                        <p:tgtEl>
                                          <p:spTgt spid="40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1719 -0.0148 0.03455 -0.0296 0.04913 -0.0296 C 0.06372 -0.0296 0.08073 -0.00532 0.08715 0 " pathEditMode="relative" ptsTypes="aaA">
                                      <p:cBhvr>
                                        <p:cTn id="227" dur="2000" fill="hold"/>
                                        <p:tgtEl>
                                          <p:spTgt spid="40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 nodeType="clickPar">
                      <p:stCondLst>
                        <p:cond delay="indefinite"/>
                      </p:stCondLst>
                      <p:childTnLst>
                        <p:par>
                          <p:cTn id="2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 nodeType="clickPar">
                      <p:stCondLst>
                        <p:cond delay="indefinite"/>
                      </p:stCondLst>
                      <p:childTnLst>
                        <p:par>
                          <p:cTn id="2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044 C 0.00764 0.01852 0.01545 0.03264 0.02066 0.03195 C 0.02587 0.03125 0.02882 0.01575 0.03177 0.00024 " pathEditMode="relative" rAng="0" ptsTypes="aaA">
                                      <p:cBhvr>
                                        <p:cTn id="258" dur="2000" fill="hold"/>
                                        <p:tgtEl>
                                          <p:spTgt spid="40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0" y="1204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555 -0.01919 -0.01111 -0.03838 -0.0158 -0.03792 C -0.02048 -0.03745 -0.02448 -0.0178 -0.02847 0.00208 " pathEditMode="relative" ptsTypes="aaA">
                                      <p:cBhvr>
                                        <p:cTn id="260" dur="2000" fill="hold"/>
                                        <p:tgtEl>
                                          <p:spTgt spid="40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 nodeType="clickPar">
                      <p:stCondLst>
                        <p:cond delay="indefinite"/>
                      </p:stCondLst>
                      <p:childTnLst>
                        <p:par>
                          <p:cTn id="2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 nodeType="clickPar">
                      <p:stCondLst>
                        <p:cond delay="indefinite"/>
                      </p:stCondLst>
                      <p:childTnLst>
                        <p:par>
                          <p:cTn id="2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0162 C 0.00608 0.01574 0.01389 0.02986 0.0191 0.02917 C 0.02431 0.02847 0.02726 0.01296 0.03021 -0.00255 " pathEditMode="relative" rAng="0" ptsTypes="aaA">
                                      <p:cBhvr>
                                        <p:cTn id="293" dur="2000" fill="hold"/>
                                        <p:tgtEl>
                                          <p:spTgt spid="401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0" y="1204"/>
                                    </p:animMotion>
                                  </p:childTnLst>
                                </p:cTn>
                              </p:par>
                              <p:par>
                                <p:cTn id="29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555 -0.01919 -0.01111 -0.03838 -0.0158 -0.03792 C -0.02048 -0.03745 -0.02448 -0.0178 -0.02847 0.00208 " pathEditMode="relative" ptsTypes="aaA">
                                      <p:cBhvr>
                                        <p:cTn id="295" dur="2000" fill="hold"/>
                                        <p:tgtEl>
                                          <p:spTgt spid="40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556 0.02312 0.01129 0.04624 0.0158 0.04647 C 0.02031 0.0467 0.02361 0.02428 0.02691 0.00208 " pathEditMode="relative" ptsTypes="aaA">
                                      <p:cBhvr>
                                        <p:cTn id="320" dur="2000" fill="hold"/>
                                        <p:tgtEl>
                                          <p:spTgt spid="402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16 -0.02035 -0.00816 -0.04046 -0.01267 -0.04023 C -0.01718 -0.04 -0.02205 -0.01896 -0.02691 0.00208 " pathEditMode="relative" ptsTypes="aaA">
                                      <p:cBhvr>
                                        <p:cTn id="322" dur="2000" fill="hold"/>
                                        <p:tgtEl>
                                          <p:spTgt spid="402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 nodeType="clickPar">
                      <p:stCondLst>
                        <p:cond delay="indefinite"/>
                      </p:stCondLst>
                      <p:childTnLst>
                        <p:par>
                          <p:cTn id="3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 nodeType="clickPar">
                      <p:stCondLst>
                        <p:cond delay="indefinite"/>
                      </p:stCondLst>
                      <p:childTnLst>
                        <p:par>
                          <p:cTn id="3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82 0.01896 0.00764 0.03792 0.01267 0.03792 C 0.01771 0.03792 0.02379 0.01896 0.03004 0 " pathEditMode="relative" rAng="0" ptsTypes="aaA">
                                      <p:cBhvr>
                                        <p:cTn id="344" dur="2000" fill="hold"/>
                                        <p:tgtEl>
                                          <p:spTgt spid="402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16 -0.02035 -0.00816 -0.04046 -0.01267 -0.04023 C -0.01718 -0.04 -0.02205 -0.01896 -0.02691 0.00208 " pathEditMode="relative" ptsTypes="aaA">
                                      <p:cBhvr>
                                        <p:cTn id="346" dur="2000" fill="hold"/>
                                        <p:tgtEl>
                                          <p:spTgt spid="40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 nodeType="clickPar">
                      <p:stCondLst>
                        <p:cond delay="indefinite"/>
                      </p:stCondLst>
                      <p:childTnLst>
                        <p:par>
                          <p:cTn id="3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 nodeType="clickPar">
                      <p:stCondLst>
                        <p:cond delay="indefinite"/>
                      </p:stCondLst>
                      <p:childTnLst>
                        <p:par>
                          <p:cTn id="3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 nodeType="clickPar">
                      <p:stCondLst>
                        <p:cond delay="indefinite"/>
                      </p:stCondLst>
                      <p:childTnLst>
                        <p:par>
                          <p:cTn id="3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 nodeType="clickPar">
                      <p:stCondLst>
                        <p:cond delay="indefinite"/>
                      </p:stCondLst>
                      <p:childTnLst>
                        <p:par>
                          <p:cTn id="3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 nodeType="clickPar">
                      <p:stCondLst>
                        <p:cond delay="indefinite"/>
                      </p:stCondLst>
                      <p:childTnLst>
                        <p:par>
                          <p:cTn id="3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 nodeType="clickPar">
                      <p:stCondLst>
                        <p:cond delay="indefinite"/>
                      </p:stCondLst>
                      <p:childTnLst>
                        <p:par>
                          <p:cTn id="3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 nodeType="clickPar">
                      <p:stCondLst>
                        <p:cond delay="indefinite"/>
                      </p:stCondLst>
                      <p:childTnLst>
                        <p:par>
                          <p:cTn id="3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 nodeType="clickPar">
                      <p:stCondLst>
                        <p:cond delay="indefinite"/>
                      </p:stCondLst>
                      <p:childTnLst>
                        <p:par>
                          <p:cTn id="3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82 0.01896 0.00764 0.03792 0.01267 0.03792 C 0.01771 0.03792 0.02379 0.01896 0.03004 0 " pathEditMode="relative" rAng="0" ptsTypes="aaA">
                                      <p:cBhvr>
                                        <p:cTn id="399" dur="2000" fill="hold"/>
                                        <p:tgtEl>
                                          <p:spTgt spid="40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16 -0.02035 -0.00816 -0.04046 -0.01267 -0.04023 C -0.01718 -0.04 -0.02205 -0.01896 -0.02691 0.00208 " pathEditMode="relative" ptsTypes="aaA">
                                      <p:cBhvr>
                                        <p:cTn id="401" dur="2000" fill="hold"/>
                                        <p:tgtEl>
                                          <p:spTgt spid="402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 nodeType="clickPar">
                      <p:stCondLst>
                        <p:cond delay="indefinite"/>
                      </p:stCondLst>
                      <p:childTnLst>
                        <p:par>
                          <p:cTn id="4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 nodeType="clickPar">
                      <p:stCondLst>
                        <p:cond delay="indefinite"/>
                      </p:stCondLst>
                      <p:childTnLst>
                        <p:par>
                          <p:cTn id="4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 nodeType="clickPar">
                      <p:stCondLst>
                        <p:cond delay="indefinite"/>
                      </p:stCondLst>
                      <p:childTnLst>
                        <p:par>
                          <p:cTn id="4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 nodeType="clickPar">
                      <p:stCondLst>
                        <p:cond delay="indefinite"/>
                      </p:stCondLst>
                      <p:childTnLst>
                        <p:par>
                          <p:cTn id="4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 nodeType="clickPar">
                      <p:stCondLst>
                        <p:cond delay="indefinite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382 0.01896 0.00764 0.03792 0.01267 0.03792 C 0.01771 0.03792 0.02379 0.01896 0.03004 0 " pathEditMode="relative" rAng="0" ptsTypes="aaA">
                                      <p:cBhvr>
                                        <p:cTn id="436" dur="2000" fill="hold"/>
                                        <p:tgtEl>
                                          <p:spTgt spid="403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0416 -0.02035 -0.00816 -0.04046 -0.01267 -0.04023 C -0.01718 -0.04 -0.02205 -0.01896 -0.02691 0.00208 " pathEditMode="relative" ptsTypes="aaA">
                                      <p:cBhvr>
                                        <p:cTn id="438" dur="2000" fill="hold"/>
                                        <p:tgtEl>
                                          <p:spTgt spid="40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 nodeType="clickPar">
                      <p:stCondLst>
                        <p:cond delay="indefinite"/>
                      </p:stCondLst>
                      <p:childTnLst>
                        <p:par>
                          <p:cTn id="4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 nodeType="clickPar">
                      <p:stCondLst>
                        <p:cond delay="indefinite"/>
                      </p:stCondLst>
                      <p:childTnLst>
                        <p:par>
                          <p:cTn id="4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92" grpId="0"/>
      <p:bldP spid="39993" grpId="0"/>
      <p:bldP spid="39995" grpId="0" animBg="1"/>
      <p:bldP spid="39995" grpId="1" animBg="1"/>
      <p:bldP spid="39996" grpId="0" animBg="1"/>
      <p:bldP spid="39996" grpId="1" animBg="1"/>
      <p:bldP spid="39997" grpId="0" animBg="1"/>
      <p:bldP spid="39997" grpId="1" animBg="1"/>
      <p:bldP spid="39998" grpId="0" animBg="1"/>
      <p:bldP spid="39998" grpId="1" animBg="1"/>
      <p:bldP spid="39999" grpId="0" animBg="1"/>
      <p:bldP spid="39999" grpId="1" animBg="1"/>
      <p:bldP spid="40000" grpId="0"/>
      <p:bldP spid="40001" grpId="0"/>
      <p:bldP spid="40024" grpId="0" animBg="1"/>
      <p:bldP spid="40024" grpId="1" animBg="1"/>
      <p:bldP spid="40025" grpId="0" animBg="1"/>
      <p:bldP spid="40025" grpId="1" animBg="1"/>
      <p:bldP spid="40026" grpId="0" animBg="1"/>
      <p:bldP spid="40026" grpId="1" animBg="1"/>
      <p:bldP spid="40027" grpId="0" animBg="1"/>
      <p:bldP spid="40027" grpId="1" animBg="1"/>
      <p:bldP spid="40028" grpId="0" animBg="1"/>
      <p:bldP spid="40028" grpId="1" animBg="1"/>
      <p:bldP spid="40029" grpId="0"/>
      <p:bldP spid="40029" grpId="1"/>
      <p:bldP spid="40030" grpId="0"/>
      <p:bldP spid="40030" grpId="1"/>
      <p:bldP spid="40034" grpId="0" animBg="1"/>
      <p:bldP spid="40034" grpId="1" animBg="1"/>
      <p:bldP spid="40035" grpId="0" animBg="1"/>
      <p:bldP spid="40035" grpId="1" animBg="1"/>
      <p:bldP spid="40036" grpId="0" animBg="1"/>
      <p:bldP spid="40036" grpId="1" animBg="1"/>
      <p:bldP spid="40037" grpId="0" animBg="1"/>
      <p:bldP spid="40037" grpId="1" animBg="1"/>
      <p:bldP spid="40040" grpId="0" animBg="1"/>
      <p:bldP spid="40040" grpId="1" animBg="1"/>
      <p:bldP spid="40040" grpId="2" animBg="1"/>
      <p:bldP spid="40041" grpId="0" animBg="1"/>
      <p:bldP spid="40041" grpId="1" animBg="1"/>
      <p:bldP spid="40042" grpId="0" animBg="1"/>
      <p:bldP spid="40042" grpId="1" animBg="1"/>
      <p:bldP spid="40043" grpId="0"/>
      <p:bldP spid="40043" grpId="1"/>
      <p:bldP spid="40044" grpId="0"/>
      <p:bldP spid="40044" grpId="1"/>
      <p:bldP spid="40081" grpId="0" animBg="1"/>
      <p:bldP spid="40082" grpId="0" animBg="1"/>
      <p:bldP spid="40084" grpId="0" animBg="1"/>
      <p:bldP spid="40084" grpId="1" animBg="1"/>
      <p:bldP spid="40085" grpId="0" animBg="1"/>
      <p:bldP spid="40085" grpId="1" animBg="1"/>
      <p:bldP spid="40086" grpId="0"/>
      <p:bldP spid="40087" grpId="0"/>
      <p:bldP spid="40100" grpId="0" animBg="1"/>
      <p:bldP spid="40100" grpId="1" animBg="1"/>
      <p:bldP spid="40101" grpId="0" animBg="1"/>
      <p:bldP spid="40101" grpId="1" animBg="1"/>
      <p:bldP spid="40102" grpId="0" animBg="1"/>
      <p:bldP spid="40102" grpId="1" animBg="1"/>
      <p:bldP spid="40103" grpId="0" animBg="1"/>
      <p:bldP spid="40103" grpId="1" animBg="1"/>
      <p:bldP spid="40104" grpId="0" animBg="1"/>
      <p:bldP spid="40104" grpId="1" animBg="1"/>
      <p:bldP spid="40105" grpId="0" animBg="1"/>
      <p:bldP spid="40105" grpId="1" animBg="1"/>
      <p:bldP spid="40106" grpId="0" animBg="1"/>
      <p:bldP spid="40106" grpId="1" animBg="1"/>
      <p:bldP spid="40107" grpId="0"/>
      <p:bldP spid="40108" grpId="0"/>
      <p:bldP spid="40123" grpId="0" animBg="1"/>
      <p:bldP spid="40125" grpId="0" animBg="1"/>
      <p:bldP spid="40125" grpId="1" animBg="1"/>
      <p:bldP spid="40126" grpId="0" animBg="1"/>
      <p:bldP spid="40126" grpId="1" animBg="1"/>
      <p:bldP spid="40127" grpId="0"/>
      <p:bldP spid="40144" grpId="0" animBg="1"/>
      <p:bldP spid="40144" grpId="1" animBg="1"/>
      <p:bldP spid="40145" grpId="0" animBg="1"/>
      <p:bldP spid="40145" grpId="1" animBg="1"/>
      <p:bldP spid="40146" grpId="0" animBg="1"/>
      <p:bldP spid="40146" grpId="1" animBg="1"/>
      <p:bldP spid="40147" grpId="0" animBg="1"/>
      <p:bldP spid="40147" grpId="1" animBg="1"/>
      <p:bldP spid="40152" grpId="0"/>
      <p:bldP spid="40154" grpId="0"/>
      <p:bldP spid="40154" grpId="1"/>
      <p:bldP spid="40155" grpId="0"/>
      <p:bldP spid="40168" grpId="0" animBg="1"/>
      <p:bldP spid="40180" grpId="0" animBg="1"/>
      <p:bldP spid="40187" grpId="0" animBg="1"/>
      <p:bldP spid="40187" grpId="1" animBg="1"/>
      <p:bldP spid="40205" grpId="0"/>
      <p:bldP spid="40207" grpId="0"/>
      <p:bldP spid="40220" grpId="0" animBg="1"/>
      <p:bldP spid="40220" grpId="1" animBg="1"/>
      <p:bldP spid="40221" grpId="0" animBg="1"/>
      <p:bldP spid="40221" grpId="1" animBg="1"/>
      <p:bldP spid="40234" grpId="0"/>
      <p:bldP spid="40246" grpId="0" animBg="1"/>
      <p:bldP spid="40246" grpId="1" animBg="1"/>
      <p:bldP spid="40247" grpId="0" animBg="1"/>
      <p:bldP spid="40247" grpId="1" animBg="1"/>
      <p:bldP spid="40248" grpId="0" animBg="1"/>
      <p:bldP spid="40248" grpId="1" animBg="1"/>
      <p:bldP spid="40249" grpId="0" animBg="1"/>
      <p:bldP spid="40249" grpId="1" animBg="1"/>
      <p:bldP spid="40250" grpId="0" animBg="1"/>
      <p:bldP spid="40262" grpId="0" animBg="1"/>
      <p:bldP spid="40262" grpId="1" animBg="1"/>
      <p:bldP spid="40263" grpId="0" animBg="1"/>
      <p:bldP spid="40263" grpId="1" animBg="1"/>
      <p:bldP spid="40265" grpId="0"/>
      <p:bldP spid="40266" grpId="0" animBg="1"/>
      <p:bldP spid="40296" grpId="0" animBg="1"/>
      <p:bldP spid="40297" grpId="0" animBg="1"/>
      <p:bldP spid="40298" grpId="0" animBg="1"/>
      <p:bldP spid="40299" grpId="0" animBg="1"/>
      <p:bldP spid="40300" grpId="0" animBg="1"/>
      <p:bldP spid="40301" grpId="0" animBg="1"/>
      <p:bldP spid="40303" grpId="0" animBg="1"/>
      <p:bldP spid="40306" grpId="0" animBg="1"/>
      <p:bldP spid="40306" grpId="1" animBg="1"/>
      <p:bldP spid="40307" grpId="0" animBg="1"/>
      <p:bldP spid="40307" grpId="1" animBg="1"/>
      <p:bldP spid="40308" grpId="0" animBg="1"/>
      <p:bldP spid="40308" grpId="1" animBg="1"/>
      <p:bldP spid="40330" grpId="0" animBg="1"/>
      <p:bldP spid="40331" grpId="0" animBg="1"/>
      <p:bldP spid="40331" grpId="1" animBg="1"/>
      <p:bldP spid="40332" grpId="0" animBg="1"/>
      <p:bldP spid="40332" grpId="1" animBg="1"/>
      <p:bldP spid="40333" grpId="0" animBg="1"/>
      <p:bldP spid="40333" grpId="1" animBg="1"/>
      <p:bldP spid="40345" grpId="0"/>
      <p:bldP spid="40346" grpId="0" animBg="1"/>
      <p:bldP spid="40346" grpId="1" animBg="1"/>
      <p:bldP spid="40347" grpId="0" animBg="1"/>
      <p:bldP spid="40347" grpId="1" animBg="1"/>
      <p:bldP spid="40351" grpId="0" animBg="1"/>
      <p:bldP spid="40352" grpId="0" animBg="1"/>
      <p:bldP spid="40353" grpId="0" animBg="1"/>
      <p:bldP spid="40354" grpId="0" animBg="1"/>
      <p:bldP spid="40354" grpId="1" animBg="1"/>
      <p:bldP spid="40356" grpId="0" animBg="1"/>
      <p:bldP spid="4035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9125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Quicksort: computational complexity</a:t>
            </a:r>
          </a:p>
        </p:txBody>
      </p:sp>
      <p:graphicFrame>
        <p:nvGraphicFramePr>
          <p:cNvPr id="42065" name="Group 81"/>
          <p:cNvGraphicFramePr>
            <a:graphicFrameLocks noGrp="1"/>
          </p:cNvGraphicFramePr>
          <p:nvPr>
            <p:ph idx="1"/>
          </p:nvPr>
        </p:nvGraphicFramePr>
        <p:xfrm>
          <a:off x="769938" y="3082925"/>
          <a:ext cx="3398837" cy="341364"/>
        </p:xfrm>
        <a:graphic>
          <a:graphicData uri="http://schemas.openxmlformats.org/drawingml/2006/table">
            <a:tbl>
              <a:tblPr/>
              <a:tblGrid>
                <a:gridCol w="3398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827088" y="1489075"/>
            <a:ext cx="3340100" cy="1479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best case: partitioning into two even-size arrays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Number of comparisons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(approximations):</a:t>
            </a:r>
          </a:p>
        </p:txBody>
      </p:sp>
      <p:graphicFrame>
        <p:nvGraphicFramePr>
          <p:cNvPr id="42155" name="Group 171"/>
          <p:cNvGraphicFramePr>
            <a:graphicFrameLocks noGrp="1"/>
          </p:cNvGraphicFramePr>
          <p:nvPr/>
        </p:nvGraphicFramePr>
        <p:xfrm>
          <a:off x="769938" y="3543300"/>
          <a:ext cx="1670050" cy="346075"/>
        </p:xfrm>
        <a:graphic>
          <a:graphicData uri="http://schemas.openxmlformats.org/drawingml/2006/table">
            <a:tbl>
              <a:tblPr/>
              <a:tblGrid>
                <a:gridCol w="167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/2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06" name="Group 22"/>
          <p:cNvGraphicFramePr>
            <a:graphicFrameLocks noGrp="1"/>
          </p:cNvGraphicFramePr>
          <p:nvPr/>
        </p:nvGraphicFramePr>
        <p:xfrm>
          <a:off x="2555875" y="3543300"/>
          <a:ext cx="1612900" cy="341364"/>
        </p:xfrm>
        <a:graphic>
          <a:graphicData uri="http://schemas.openxmlformats.org/drawingml/2006/table">
            <a:tbl>
              <a:tblPr/>
              <a:tblGrid>
                <a:gridCol w="161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/2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12" name="Group 28"/>
          <p:cNvGraphicFramePr>
            <a:graphicFrameLocks noGrp="1"/>
          </p:cNvGraphicFramePr>
          <p:nvPr/>
        </p:nvGraphicFramePr>
        <p:xfrm>
          <a:off x="3419475" y="4003675"/>
          <a:ext cx="749300" cy="341364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/4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18" name="Group 34"/>
          <p:cNvGraphicFramePr>
            <a:graphicFrameLocks noGrp="1"/>
          </p:cNvGraphicFramePr>
          <p:nvPr/>
        </p:nvGraphicFramePr>
        <p:xfrm>
          <a:off x="2555875" y="4003675"/>
          <a:ext cx="749300" cy="341364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/4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36" name="Group 52"/>
          <p:cNvGraphicFramePr>
            <a:graphicFrameLocks noGrp="1"/>
          </p:cNvGraphicFramePr>
          <p:nvPr/>
        </p:nvGraphicFramePr>
        <p:xfrm>
          <a:off x="1690688" y="4003675"/>
          <a:ext cx="749300" cy="346075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/4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30" name="Group 46"/>
          <p:cNvGraphicFramePr>
            <a:graphicFrameLocks noGrp="1"/>
          </p:cNvGraphicFramePr>
          <p:nvPr/>
        </p:nvGraphicFramePr>
        <p:xfrm>
          <a:off x="769938" y="4003675"/>
          <a:ext cx="749300" cy="341364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/4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43" name="Group 59"/>
          <p:cNvGraphicFramePr>
            <a:graphicFrameLocks noGrp="1"/>
          </p:cNvGraphicFramePr>
          <p:nvPr/>
        </p:nvGraphicFramePr>
        <p:xfrm>
          <a:off x="3938588" y="4926013"/>
          <a:ext cx="230187" cy="341364"/>
        </p:xfrm>
        <a:graphic>
          <a:graphicData uri="http://schemas.openxmlformats.org/drawingml/2006/table">
            <a:tbl>
              <a:tblPr/>
              <a:tblGrid>
                <a:gridCol w="23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44" name="Group 60"/>
          <p:cNvGraphicFramePr>
            <a:graphicFrameLocks noGrp="1"/>
          </p:cNvGraphicFramePr>
          <p:nvPr/>
        </p:nvGraphicFramePr>
        <p:xfrm>
          <a:off x="3592513" y="4926013"/>
          <a:ext cx="230187" cy="341364"/>
        </p:xfrm>
        <a:graphic>
          <a:graphicData uri="http://schemas.openxmlformats.org/drawingml/2006/table">
            <a:tbl>
              <a:tblPr/>
              <a:tblGrid>
                <a:gridCol w="23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63" name="Group 79"/>
          <p:cNvGraphicFramePr>
            <a:graphicFrameLocks noGrp="1"/>
          </p:cNvGraphicFramePr>
          <p:nvPr/>
        </p:nvGraphicFramePr>
        <p:xfrm>
          <a:off x="827088" y="4926013"/>
          <a:ext cx="230187" cy="346075"/>
        </p:xfrm>
        <a:graphic>
          <a:graphicData uri="http://schemas.openxmlformats.org/drawingml/2006/table">
            <a:tbl>
              <a:tblPr/>
              <a:tblGrid>
                <a:gridCol w="23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8288" marR="18288" marT="18288" marB="18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056" name="Group 72"/>
          <p:cNvGraphicFramePr>
            <a:graphicFrameLocks noGrp="1"/>
          </p:cNvGraphicFramePr>
          <p:nvPr/>
        </p:nvGraphicFramePr>
        <p:xfrm>
          <a:off x="1173163" y="4926013"/>
          <a:ext cx="230187" cy="341364"/>
        </p:xfrm>
        <a:graphic>
          <a:graphicData uri="http://schemas.openxmlformats.org/drawingml/2006/table">
            <a:tbl>
              <a:tblPr/>
              <a:tblGrid>
                <a:gridCol w="23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62" name="Text Box 78"/>
          <p:cNvSpPr txBox="1">
            <a:spLocks noChangeArrowheads="1"/>
          </p:cNvSpPr>
          <p:nvPr/>
        </p:nvSpPr>
        <p:spPr bwMode="auto">
          <a:xfrm>
            <a:off x="1519238" y="4868863"/>
            <a:ext cx="19002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Arial" charset="0"/>
              </a:rPr>
              <a:t>……………….</a:t>
            </a:r>
          </a:p>
        </p:txBody>
      </p:sp>
      <p:sp>
        <p:nvSpPr>
          <p:cNvPr id="42064" name="Text Box 80"/>
          <p:cNvSpPr txBox="1">
            <a:spLocks noChangeArrowheads="1"/>
          </p:cNvSpPr>
          <p:nvPr/>
        </p:nvSpPr>
        <p:spPr bwMode="auto">
          <a:xfrm>
            <a:off x="712788" y="4406900"/>
            <a:ext cx="34559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Arial" charset="0"/>
              </a:rPr>
              <a:t>………………………………..</a:t>
            </a:r>
          </a:p>
        </p:txBody>
      </p:sp>
      <p:sp>
        <p:nvSpPr>
          <p:cNvPr id="42066" name="Text Box 82"/>
          <p:cNvSpPr txBox="1">
            <a:spLocks noChangeArrowheads="1"/>
          </p:cNvSpPr>
          <p:nvPr/>
        </p:nvSpPr>
        <p:spPr bwMode="auto">
          <a:xfrm>
            <a:off x="1173163" y="5734050"/>
            <a:ext cx="20748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 i="1">
                <a:latin typeface="Arial" charset="0"/>
              </a:rPr>
              <a:t>n + n + … + n =</a:t>
            </a:r>
          </a:p>
        </p:txBody>
      </p:sp>
      <p:graphicFrame>
        <p:nvGraphicFramePr>
          <p:cNvPr id="42072" name="Group 88"/>
          <p:cNvGraphicFramePr>
            <a:graphicFrameLocks noGrp="1"/>
          </p:cNvGraphicFramePr>
          <p:nvPr/>
        </p:nvGraphicFramePr>
        <p:xfrm>
          <a:off x="4975225" y="3082925"/>
          <a:ext cx="3398838" cy="341364"/>
        </p:xfrm>
        <a:graphic>
          <a:graphicData uri="http://schemas.openxmlformats.org/drawingml/2006/table">
            <a:tbl>
              <a:tblPr/>
              <a:tblGrid>
                <a:gridCol w="3398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–1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78" name="Text Box 94"/>
          <p:cNvSpPr txBox="1">
            <a:spLocks noChangeArrowheads="1"/>
          </p:cNvSpPr>
          <p:nvPr/>
        </p:nvSpPr>
        <p:spPr bwMode="auto">
          <a:xfrm>
            <a:off x="5032375" y="1489075"/>
            <a:ext cx="3340100" cy="14795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worst case: one array after partitioning is empty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Times New Roman" pitchFamily="18" charset="0"/>
              </a:rPr>
              <a:t>Number of comparisons: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endParaRPr lang="en-US" sz="1800">
              <a:latin typeface="Times New Roman" pitchFamily="18" charset="0"/>
            </a:endParaRPr>
          </a:p>
        </p:txBody>
      </p:sp>
      <p:graphicFrame>
        <p:nvGraphicFramePr>
          <p:cNvPr id="42148" name="Group 164"/>
          <p:cNvGraphicFramePr>
            <a:graphicFrameLocks noGrp="1"/>
          </p:cNvGraphicFramePr>
          <p:nvPr/>
        </p:nvGraphicFramePr>
        <p:xfrm>
          <a:off x="5148263" y="3543300"/>
          <a:ext cx="3225800" cy="341364"/>
        </p:xfrm>
        <a:graphic>
          <a:graphicData uri="http://schemas.openxmlformats.org/drawingml/2006/table">
            <a:tbl>
              <a:tblPr/>
              <a:tblGrid>
                <a:gridCol w="32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–2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149" name="Group 165"/>
          <p:cNvGraphicFramePr>
            <a:graphicFrameLocks noGrp="1"/>
          </p:cNvGraphicFramePr>
          <p:nvPr/>
        </p:nvGraphicFramePr>
        <p:xfrm>
          <a:off x="5321300" y="4003675"/>
          <a:ext cx="3052763" cy="341364"/>
        </p:xfrm>
        <a:graphic>
          <a:graphicData uri="http://schemas.openxmlformats.org/drawingml/2006/table">
            <a:tbl>
              <a:tblPr/>
              <a:tblGrid>
                <a:gridCol w="3052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–3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115" name="Group 131"/>
          <p:cNvGraphicFramePr>
            <a:graphicFrameLocks noGrp="1"/>
          </p:cNvGraphicFramePr>
          <p:nvPr/>
        </p:nvGraphicFramePr>
        <p:xfrm>
          <a:off x="8143875" y="4926013"/>
          <a:ext cx="230188" cy="341364"/>
        </p:xfrm>
        <a:graphic>
          <a:graphicData uri="http://schemas.openxmlformats.org/drawingml/2006/table">
            <a:tbl>
              <a:tblPr/>
              <a:tblGrid>
                <a:gridCol w="230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18288" marR="18288" marT="18282" marB="1828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140" name="Text Box 156"/>
          <p:cNvSpPr txBox="1">
            <a:spLocks noChangeArrowheads="1"/>
          </p:cNvSpPr>
          <p:nvPr/>
        </p:nvSpPr>
        <p:spPr bwMode="auto">
          <a:xfrm>
            <a:off x="5551488" y="4406900"/>
            <a:ext cx="2822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latin typeface="Arial" charset="0"/>
              </a:rPr>
              <a:t>…………………………..</a:t>
            </a:r>
          </a:p>
        </p:txBody>
      </p:sp>
      <p:sp>
        <p:nvSpPr>
          <p:cNvPr id="42143" name="Text Box 159"/>
          <p:cNvSpPr txBox="1">
            <a:spLocks noChangeArrowheads="1"/>
          </p:cNvSpPr>
          <p:nvPr/>
        </p:nvSpPr>
        <p:spPr bwMode="auto">
          <a:xfrm>
            <a:off x="4284663" y="5740400"/>
            <a:ext cx="37433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>
                <a:latin typeface="Arial" charset="0"/>
              </a:rPr>
              <a:t>(</a:t>
            </a:r>
            <a:r>
              <a:rPr lang="en-US" sz="2000" i="1">
                <a:latin typeface="Arial" charset="0"/>
              </a:rPr>
              <a:t>n</a:t>
            </a:r>
            <a:r>
              <a:rPr lang="en-US" sz="2000">
                <a:latin typeface="Arial" charset="0"/>
              </a:rPr>
              <a:t>–1) </a:t>
            </a:r>
            <a:r>
              <a:rPr lang="en-US" sz="2000" i="1">
                <a:latin typeface="Arial" charset="0"/>
              </a:rPr>
              <a:t>+</a:t>
            </a:r>
            <a:r>
              <a:rPr lang="en-US" sz="2000">
                <a:latin typeface="Arial" charset="0"/>
              </a:rPr>
              <a:t> (</a:t>
            </a:r>
            <a:r>
              <a:rPr lang="en-US" sz="2000" i="1">
                <a:latin typeface="Arial" charset="0"/>
              </a:rPr>
              <a:t>n</a:t>
            </a:r>
            <a:r>
              <a:rPr lang="en-US" sz="2000">
                <a:latin typeface="Arial" charset="0"/>
              </a:rPr>
              <a:t>–2) </a:t>
            </a:r>
            <a:r>
              <a:rPr lang="en-US" sz="2000" i="1">
                <a:latin typeface="Arial" charset="0"/>
              </a:rPr>
              <a:t>+</a:t>
            </a:r>
            <a:r>
              <a:rPr lang="en-US" sz="2000">
                <a:latin typeface="Arial" charset="0"/>
              </a:rPr>
              <a:t> (</a:t>
            </a:r>
            <a:r>
              <a:rPr lang="en-US" sz="2000" i="1">
                <a:latin typeface="Arial" charset="0"/>
              </a:rPr>
              <a:t>n</a:t>
            </a:r>
            <a:r>
              <a:rPr lang="en-US" sz="2000">
                <a:latin typeface="Arial" charset="0"/>
              </a:rPr>
              <a:t>–3) + … + 1 =</a:t>
            </a:r>
          </a:p>
        </p:txBody>
      </p:sp>
      <p:sp>
        <p:nvSpPr>
          <p:cNvPr id="42145" name="Text Box 161"/>
          <p:cNvSpPr txBox="1">
            <a:spLocks noChangeArrowheads="1"/>
          </p:cNvSpPr>
          <p:nvPr/>
        </p:nvSpPr>
        <p:spPr bwMode="auto">
          <a:xfrm>
            <a:off x="7913688" y="5502275"/>
            <a:ext cx="92075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  <a:latin typeface="Arial" charset="0"/>
              </a:rPr>
              <a:t>(</a:t>
            </a:r>
            <a:r>
              <a:rPr lang="en-US" sz="2000" i="1">
                <a:solidFill>
                  <a:srgbClr val="FF0000"/>
                </a:solidFill>
                <a:latin typeface="Arial" charset="0"/>
              </a:rPr>
              <a:t>n</a:t>
            </a:r>
            <a:r>
              <a:rPr lang="en-US" sz="1800">
                <a:solidFill>
                  <a:srgbClr val="FF0000"/>
                </a:solidFill>
                <a:latin typeface="Arial" charset="0"/>
              </a:rPr>
              <a:t>–1)</a:t>
            </a:r>
            <a:r>
              <a:rPr lang="en-US" sz="1800" i="1">
                <a:solidFill>
                  <a:srgbClr val="FF0000"/>
                </a:solidFill>
                <a:latin typeface="Arial" charset="0"/>
              </a:rPr>
              <a:t>n</a:t>
            </a:r>
          </a:p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1800">
                <a:solidFill>
                  <a:srgbClr val="FF0000"/>
                </a:solidFill>
                <a:latin typeface="Arial" charset="0"/>
              </a:rPr>
              <a:t>2</a:t>
            </a:r>
            <a:endParaRPr lang="en-US" sz="200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42153" name="Line 169"/>
          <p:cNvSpPr>
            <a:spLocks noChangeShapeType="1"/>
          </p:cNvSpPr>
          <p:nvPr/>
        </p:nvSpPr>
        <p:spPr bwMode="auto">
          <a:xfrm>
            <a:off x="8027988" y="5964238"/>
            <a:ext cx="7493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54" name="Text Box 170"/>
          <p:cNvSpPr txBox="1">
            <a:spLocks noChangeArrowheads="1"/>
          </p:cNvSpPr>
          <p:nvPr/>
        </p:nvSpPr>
        <p:spPr bwMode="auto">
          <a:xfrm>
            <a:off x="3132138" y="57404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 i="1">
                <a:solidFill>
                  <a:srgbClr val="FF0000"/>
                </a:solidFill>
                <a:latin typeface="Arial" charset="0"/>
              </a:rPr>
              <a:t>n</a:t>
            </a:r>
            <a:r>
              <a:rPr lang="en-US" sz="2000">
                <a:solidFill>
                  <a:srgbClr val="FF0000"/>
                </a:solidFill>
                <a:latin typeface="Arial" charset="0"/>
              </a:rPr>
              <a:t>lg</a:t>
            </a:r>
            <a:r>
              <a:rPr lang="en-US" sz="2000" i="1">
                <a:solidFill>
                  <a:srgbClr val="FF0000"/>
                </a:solidFill>
                <a:latin typeface="Arial" charset="0"/>
              </a:rPr>
              <a:t>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8" grpId="0" animBg="1"/>
      <p:bldP spid="42062" grpId="0"/>
      <p:bldP spid="42066" grpId="0"/>
      <p:bldP spid="42078" grpId="0" animBg="1"/>
      <p:bldP spid="42145" grpId="0"/>
      <p:bldP spid="42153" grpId="0" animBg="1"/>
      <p:bldP spid="421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301038" cy="542925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Heap sort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3863" y="1600200"/>
            <a:ext cx="8334375" cy="22225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Tx/>
              <a:buNone/>
            </a:pPr>
            <a:r>
              <a:rPr lang="en-US" sz="2400">
                <a:latin typeface="Arial Unicode MS" pitchFamily="34" charset="-128"/>
              </a:rPr>
              <a:t>heapsort(data[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])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  </a:t>
            </a:r>
            <a:r>
              <a:rPr lang="en-US" sz="2400" i="1">
                <a:latin typeface="Times New Roman" pitchFamily="18" charset="0"/>
              </a:rPr>
              <a:t>transform</a:t>
            </a:r>
            <a:r>
              <a:rPr lang="en-US" sz="2400"/>
              <a:t> </a:t>
            </a:r>
            <a:r>
              <a:rPr lang="en-US" sz="2400">
                <a:latin typeface="Arial Unicode MS" pitchFamily="34" charset="-128"/>
              </a:rPr>
              <a:t>data[</a:t>
            </a:r>
            <a:r>
              <a:rPr lang="en-US" sz="1000">
                <a:latin typeface="Arial Unicode MS" pitchFamily="34" charset="-128"/>
              </a:rPr>
              <a:t> </a:t>
            </a:r>
            <a:r>
              <a:rPr lang="en-US" sz="2400">
                <a:latin typeface="Arial Unicode MS" pitchFamily="34" charset="-128"/>
              </a:rPr>
              <a:t>]</a:t>
            </a:r>
            <a:r>
              <a:rPr lang="en-US" sz="2400"/>
              <a:t> </a:t>
            </a:r>
            <a:r>
              <a:rPr lang="en-US" sz="2400" i="1">
                <a:latin typeface="Times New Roman" pitchFamily="18" charset="0"/>
              </a:rPr>
              <a:t>into a heap</a:t>
            </a:r>
            <a:r>
              <a:rPr lang="en-US" sz="2400">
                <a:latin typeface="Arial Unicode MS" pitchFamily="34" charset="-128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  </a:t>
            </a:r>
            <a:r>
              <a:rPr lang="en-US" sz="2400">
                <a:latin typeface="Arial Unicode MS" pitchFamily="34" charset="-128"/>
              </a:rPr>
              <a:t>for</a:t>
            </a:r>
            <a:r>
              <a:rPr lang="en-US" sz="2400">
                <a:latin typeface="Times New Roman" pitchFamily="18" charset="0"/>
              </a:rPr>
              <a:t> </a:t>
            </a:r>
            <a:r>
              <a:rPr lang="en-US" sz="2400">
                <a:latin typeface="Arial Unicode MS" pitchFamily="34" charset="-128"/>
              </a:rPr>
              <a:t>i</a:t>
            </a:r>
            <a:r>
              <a:rPr lang="en-US" sz="2400">
                <a:latin typeface="Times New Roman" pitchFamily="18" charset="0"/>
              </a:rPr>
              <a:t> = </a:t>
            </a:r>
            <a:r>
              <a:rPr lang="en-US" sz="2400">
                <a:latin typeface="Arial Unicode MS" pitchFamily="34" charset="-128"/>
              </a:rPr>
              <a:t>data.length-1</a:t>
            </a:r>
            <a:r>
              <a:rPr lang="en-US" sz="2400" i="1">
                <a:latin typeface="Times New Roman" pitchFamily="18" charset="0"/>
              </a:rPr>
              <a:t> downto </a:t>
            </a:r>
            <a:r>
              <a:rPr lang="en-US" sz="2400">
                <a:latin typeface="Arial Unicode MS" pitchFamily="34" charset="-128"/>
              </a:rPr>
              <a:t>2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    </a:t>
            </a:r>
            <a:r>
              <a:rPr lang="en-US" sz="2400" i="1">
                <a:latin typeface="Times New Roman" pitchFamily="18" charset="0"/>
              </a:rPr>
              <a:t>swap the root with the element in position </a:t>
            </a:r>
            <a:r>
              <a:rPr lang="en-US" sz="2400">
                <a:latin typeface="Arial Unicode MS" pitchFamily="34" charset="-128"/>
              </a:rPr>
              <a:t>i;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Courier New" pitchFamily="49" charset="0"/>
              </a:rPr>
              <a:t>    </a:t>
            </a:r>
            <a:r>
              <a:rPr lang="en-US" sz="2400" i="1">
                <a:latin typeface="Times New Roman" pitchFamily="18" charset="0"/>
              </a:rPr>
              <a:t>restore the heap property for the tree </a:t>
            </a:r>
            <a:r>
              <a:rPr lang="en-US" sz="2400">
                <a:latin typeface="Arial Unicode MS" pitchFamily="34" charset="-128"/>
              </a:rPr>
              <a:t>data[0]</a:t>
            </a:r>
            <a:r>
              <a:rPr lang="en-US" sz="2400"/>
              <a:t>, …, </a:t>
            </a:r>
            <a:r>
              <a:rPr lang="en-US" sz="2400">
                <a:latin typeface="Arial Unicode MS" pitchFamily="34" charset="-128"/>
              </a:rPr>
              <a:t>data[i-1];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65100"/>
            <a:ext cx="8204200" cy="95885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Heap sort: example,</a:t>
            </a:r>
            <a:br>
              <a:rPr lang="en-US" sz="3200">
                <a:solidFill>
                  <a:srgbClr val="3333CC"/>
                </a:solidFill>
                <a:latin typeface="Times New Roman" pitchFamily="18" charset="0"/>
              </a:rPr>
            </a:br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transforming </a:t>
            </a:r>
            <a:r>
              <a:rPr lang="en-US" sz="3200">
                <a:solidFill>
                  <a:srgbClr val="3333CC"/>
                </a:solidFill>
                <a:latin typeface="Arial Unicode MS" pitchFamily="34" charset="-128"/>
              </a:rPr>
              <a:t>data</a:t>
            </a:r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 into a heap</a:t>
            </a:r>
          </a:p>
        </p:txBody>
      </p:sp>
      <p:graphicFrame>
        <p:nvGraphicFramePr>
          <p:cNvPr id="48292" name="Group 164"/>
          <p:cNvGraphicFramePr>
            <a:graphicFrameLocks noGrp="1"/>
          </p:cNvGraphicFramePr>
          <p:nvPr/>
        </p:nvGraphicFramePr>
        <p:xfrm>
          <a:off x="2030413" y="280035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595" name="Text Box 23"/>
          <p:cNvSpPr txBox="1">
            <a:spLocks noChangeArrowheads="1"/>
          </p:cNvSpPr>
          <p:nvPr/>
        </p:nvSpPr>
        <p:spPr bwMode="auto">
          <a:xfrm>
            <a:off x="2014538" y="112395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6   3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7 5 4</a:t>
            </a:r>
          </a:p>
        </p:txBody>
      </p:sp>
      <p:sp>
        <p:nvSpPr>
          <p:cNvPr id="24596" name="Line 24"/>
          <p:cNvSpPr>
            <a:spLocks noChangeShapeType="1"/>
          </p:cNvSpPr>
          <p:nvPr/>
        </p:nvSpPr>
        <p:spPr bwMode="auto">
          <a:xfrm flipH="1">
            <a:off x="2471738" y="150495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7" name="Line 25"/>
          <p:cNvSpPr>
            <a:spLocks noChangeShapeType="1"/>
          </p:cNvSpPr>
          <p:nvPr/>
        </p:nvSpPr>
        <p:spPr bwMode="auto">
          <a:xfrm>
            <a:off x="2852738" y="150495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8" name="Line 26"/>
          <p:cNvSpPr>
            <a:spLocks noChangeShapeType="1"/>
          </p:cNvSpPr>
          <p:nvPr/>
        </p:nvSpPr>
        <p:spPr bwMode="auto">
          <a:xfrm flipH="1">
            <a:off x="2243138" y="20383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9" name="Line 27"/>
          <p:cNvSpPr>
            <a:spLocks noChangeShapeType="1"/>
          </p:cNvSpPr>
          <p:nvPr/>
        </p:nvSpPr>
        <p:spPr bwMode="auto">
          <a:xfrm>
            <a:off x="2471738" y="20383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0" name="Line 28"/>
          <p:cNvSpPr>
            <a:spLocks noChangeShapeType="1"/>
          </p:cNvSpPr>
          <p:nvPr/>
        </p:nvSpPr>
        <p:spPr bwMode="auto">
          <a:xfrm flipH="1">
            <a:off x="3005138" y="20383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7" name="Line 29"/>
          <p:cNvSpPr>
            <a:spLocks noChangeShapeType="1"/>
          </p:cNvSpPr>
          <p:nvPr/>
        </p:nvSpPr>
        <p:spPr bwMode="auto">
          <a:xfrm>
            <a:off x="2563813" y="318135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58" name="Text Box 30"/>
          <p:cNvSpPr txBox="1">
            <a:spLocks noChangeArrowheads="1"/>
          </p:cNvSpPr>
          <p:nvPr/>
        </p:nvSpPr>
        <p:spPr bwMode="auto">
          <a:xfrm>
            <a:off x="1725613" y="3319463"/>
            <a:ext cx="175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000"/>
              <a:t>last nonleaf</a:t>
            </a:r>
          </a:p>
        </p:txBody>
      </p:sp>
      <p:sp>
        <p:nvSpPr>
          <p:cNvPr id="48159" name="Text Box 31"/>
          <p:cNvSpPr txBox="1">
            <a:spLocks noChangeArrowheads="1"/>
          </p:cNvSpPr>
          <p:nvPr/>
        </p:nvSpPr>
        <p:spPr bwMode="auto">
          <a:xfrm>
            <a:off x="3995738" y="112395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7 5 4</a:t>
            </a:r>
          </a:p>
        </p:txBody>
      </p:sp>
      <p:sp>
        <p:nvSpPr>
          <p:cNvPr id="48160" name="Line 32"/>
          <p:cNvSpPr>
            <a:spLocks noChangeShapeType="1"/>
          </p:cNvSpPr>
          <p:nvPr/>
        </p:nvSpPr>
        <p:spPr bwMode="auto">
          <a:xfrm flipH="1">
            <a:off x="4986338" y="20383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61" name="Freeform 33"/>
          <p:cNvSpPr>
            <a:spLocks/>
          </p:cNvSpPr>
          <p:nvPr/>
        </p:nvSpPr>
        <p:spPr bwMode="auto">
          <a:xfrm>
            <a:off x="5062538" y="1885950"/>
            <a:ext cx="254000" cy="533400"/>
          </a:xfrm>
          <a:custGeom>
            <a:avLst/>
            <a:gdLst>
              <a:gd name="T0" fmla="*/ 241935000 w 160"/>
              <a:gd name="T1" fmla="*/ 0 h 336"/>
              <a:gd name="T2" fmla="*/ 362902500 w 160"/>
              <a:gd name="T3" fmla="*/ 604837500 h 336"/>
              <a:gd name="T4" fmla="*/ 0 w 160"/>
              <a:gd name="T5" fmla="*/ 846772500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0" h="336">
                <a:moveTo>
                  <a:pt x="96" y="0"/>
                </a:moveTo>
                <a:cubicBezTo>
                  <a:pt x="128" y="92"/>
                  <a:pt x="160" y="184"/>
                  <a:pt x="144" y="240"/>
                </a:cubicBezTo>
                <a:cubicBezTo>
                  <a:pt x="128" y="296"/>
                  <a:pt x="64" y="316"/>
                  <a:pt x="0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296" name="Group 168"/>
          <p:cNvGraphicFramePr>
            <a:graphicFrameLocks noGrp="1"/>
          </p:cNvGraphicFramePr>
          <p:nvPr/>
        </p:nvGraphicFramePr>
        <p:xfrm>
          <a:off x="4071938" y="280035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180" name="Freeform 52"/>
          <p:cNvSpPr>
            <a:spLocks/>
          </p:cNvSpPr>
          <p:nvPr/>
        </p:nvSpPr>
        <p:spPr bwMode="auto">
          <a:xfrm>
            <a:off x="4605338" y="3181350"/>
            <a:ext cx="609600" cy="76200"/>
          </a:xfrm>
          <a:custGeom>
            <a:avLst/>
            <a:gdLst>
              <a:gd name="T0" fmla="*/ 0 w 384"/>
              <a:gd name="T1" fmla="*/ 0 h 48"/>
              <a:gd name="T2" fmla="*/ 483870000 w 384"/>
              <a:gd name="T3" fmla="*/ 120967500 h 48"/>
              <a:gd name="T4" fmla="*/ 967740000 w 384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48">
                <a:moveTo>
                  <a:pt x="0" y="0"/>
                </a:moveTo>
                <a:cubicBezTo>
                  <a:pt x="64" y="24"/>
                  <a:pt x="128" y="48"/>
                  <a:pt x="192" y="48"/>
                </a:cubicBezTo>
                <a:cubicBezTo>
                  <a:pt x="256" y="48"/>
                  <a:pt x="320" y="24"/>
                  <a:pt x="38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81" name="Text Box 53"/>
          <p:cNvSpPr txBox="1">
            <a:spLocks noChangeArrowheads="1"/>
          </p:cNvSpPr>
          <p:nvPr/>
        </p:nvSpPr>
        <p:spPr bwMode="auto">
          <a:xfrm>
            <a:off x="6662738" y="1657350"/>
            <a:ext cx="685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3</a:t>
            </a:r>
          </a:p>
        </p:txBody>
      </p:sp>
      <p:sp>
        <p:nvSpPr>
          <p:cNvPr id="48182" name="Line 54"/>
          <p:cNvSpPr>
            <a:spLocks noChangeShapeType="1"/>
          </p:cNvSpPr>
          <p:nvPr/>
        </p:nvSpPr>
        <p:spPr bwMode="auto">
          <a:xfrm flipH="1">
            <a:off x="6891338" y="20383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300" name="Group 172"/>
          <p:cNvGraphicFramePr>
            <a:graphicFrameLocks noGrp="1"/>
          </p:cNvGraphicFramePr>
          <p:nvPr/>
        </p:nvGraphicFramePr>
        <p:xfrm>
          <a:off x="5976938" y="280035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201" name="Line 73"/>
          <p:cNvSpPr>
            <a:spLocks noChangeShapeType="1"/>
          </p:cNvSpPr>
          <p:nvPr/>
        </p:nvSpPr>
        <p:spPr bwMode="auto">
          <a:xfrm flipH="1">
            <a:off x="6129338" y="20383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02" name="Line 74"/>
          <p:cNvSpPr>
            <a:spLocks noChangeShapeType="1"/>
          </p:cNvSpPr>
          <p:nvPr/>
        </p:nvSpPr>
        <p:spPr bwMode="auto">
          <a:xfrm>
            <a:off x="6357938" y="20383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03" name="Text Box 75"/>
          <p:cNvSpPr txBox="1">
            <a:spLocks noChangeArrowheads="1"/>
          </p:cNvSpPr>
          <p:nvPr/>
        </p:nvSpPr>
        <p:spPr bwMode="auto">
          <a:xfrm>
            <a:off x="5900738" y="1657350"/>
            <a:ext cx="838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7 5</a:t>
            </a:r>
          </a:p>
        </p:txBody>
      </p:sp>
      <p:sp>
        <p:nvSpPr>
          <p:cNvPr id="48204" name="Line 76"/>
          <p:cNvSpPr>
            <a:spLocks noChangeShapeType="1"/>
          </p:cNvSpPr>
          <p:nvPr/>
        </p:nvSpPr>
        <p:spPr bwMode="auto">
          <a:xfrm>
            <a:off x="6281738" y="318135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05" name="Freeform 77"/>
          <p:cNvSpPr>
            <a:spLocks/>
          </p:cNvSpPr>
          <p:nvPr/>
        </p:nvSpPr>
        <p:spPr bwMode="auto">
          <a:xfrm>
            <a:off x="5838825" y="1885950"/>
            <a:ext cx="342900" cy="533400"/>
          </a:xfrm>
          <a:custGeom>
            <a:avLst/>
            <a:gdLst>
              <a:gd name="T0" fmla="*/ 544353750 w 216"/>
              <a:gd name="T1" fmla="*/ 0 h 336"/>
              <a:gd name="T2" fmla="*/ 60483750 w 216"/>
              <a:gd name="T3" fmla="*/ 362902500 h 336"/>
              <a:gd name="T4" fmla="*/ 181451250 w 216"/>
              <a:gd name="T5" fmla="*/ 846772500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06" name="Text Box 78"/>
          <p:cNvSpPr txBox="1">
            <a:spLocks noChangeArrowheads="1"/>
          </p:cNvSpPr>
          <p:nvPr/>
        </p:nvSpPr>
        <p:spPr bwMode="auto">
          <a:xfrm>
            <a:off x="2395538" y="4552950"/>
            <a:ext cx="6858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3</a:t>
            </a:r>
          </a:p>
        </p:txBody>
      </p:sp>
      <p:sp>
        <p:nvSpPr>
          <p:cNvPr id="48207" name="Line 79"/>
          <p:cNvSpPr>
            <a:spLocks noChangeShapeType="1"/>
          </p:cNvSpPr>
          <p:nvPr/>
        </p:nvSpPr>
        <p:spPr bwMode="auto">
          <a:xfrm flipH="1">
            <a:off x="26241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304" name="Group 176"/>
          <p:cNvGraphicFramePr>
            <a:graphicFrameLocks noGrp="1"/>
          </p:cNvGraphicFramePr>
          <p:nvPr/>
        </p:nvGraphicFramePr>
        <p:xfrm>
          <a:off x="1709738" y="577215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226" name="Line 98"/>
          <p:cNvSpPr>
            <a:spLocks noChangeShapeType="1"/>
          </p:cNvSpPr>
          <p:nvPr/>
        </p:nvSpPr>
        <p:spPr bwMode="auto">
          <a:xfrm flipH="1">
            <a:off x="18621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27" name="Line 99"/>
          <p:cNvSpPr>
            <a:spLocks noChangeShapeType="1"/>
          </p:cNvSpPr>
          <p:nvPr/>
        </p:nvSpPr>
        <p:spPr bwMode="auto">
          <a:xfrm>
            <a:off x="20907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28" name="Text Box 100"/>
          <p:cNvSpPr txBox="1">
            <a:spLocks noChangeArrowheads="1"/>
          </p:cNvSpPr>
          <p:nvPr/>
        </p:nvSpPr>
        <p:spPr bwMode="auto">
          <a:xfrm>
            <a:off x="1633538" y="4552950"/>
            <a:ext cx="838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6 5</a:t>
            </a:r>
          </a:p>
        </p:txBody>
      </p:sp>
      <p:sp>
        <p:nvSpPr>
          <p:cNvPr id="48229" name="Freeform 101"/>
          <p:cNvSpPr>
            <a:spLocks/>
          </p:cNvSpPr>
          <p:nvPr/>
        </p:nvSpPr>
        <p:spPr bwMode="auto">
          <a:xfrm>
            <a:off x="6281738" y="3181350"/>
            <a:ext cx="457200" cy="76200"/>
          </a:xfrm>
          <a:custGeom>
            <a:avLst/>
            <a:gdLst>
              <a:gd name="T0" fmla="*/ 0 w 288"/>
              <a:gd name="T1" fmla="*/ 0 h 48"/>
              <a:gd name="T2" fmla="*/ 362902500 w 288"/>
              <a:gd name="T3" fmla="*/ 120967500 h 48"/>
              <a:gd name="T4" fmla="*/ 725805000 w 288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48">
                <a:moveTo>
                  <a:pt x="0" y="0"/>
                </a:moveTo>
                <a:cubicBezTo>
                  <a:pt x="48" y="24"/>
                  <a:pt x="96" y="48"/>
                  <a:pt x="144" y="48"/>
                </a:cubicBezTo>
                <a:cubicBezTo>
                  <a:pt x="192" y="48"/>
                  <a:pt x="240" y="24"/>
                  <a:pt x="28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0" name="Line 102"/>
          <p:cNvSpPr>
            <a:spLocks noChangeShapeType="1"/>
          </p:cNvSpPr>
          <p:nvPr/>
        </p:nvSpPr>
        <p:spPr bwMode="auto">
          <a:xfrm>
            <a:off x="1785938" y="607695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1" name="Text Box 103"/>
          <p:cNvSpPr txBox="1">
            <a:spLocks noChangeArrowheads="1"/>
          </p:cNvSpPr>
          <p:nvPr/>
        </p:nvSpPr>
        <p:spPr bwMode="auto">
          <a:xfrm>
            <a:off x="1633538" y="401955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4</a:t>
            </a:r>
          </a:p>
        </p:txBody>
      </p:sp>
      <p:sp>
        <p:nvSpPr>
          <p:cNvPr id="48232" name="Line 104"/>
          <p:cNvSpPr>
            <a:spLocks noChangeShapeType="1"/>
          </p:cNvSpPr>
          <p:nvPr/>
        </p:nvSpPr>
        <p:spPr bwMode="auto">
          <a:xfrm flipH="1">
            <a:off x="2090738" y="440055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3" name="Line 105"/>
          <p:cNvSpPr>
            <a:spLocks noChangeShapeType="1"/>
          </p:cNvSpPr>
          <p:nvPr/>
        </p:nvSpPr>
        <p:spPr bwMode="auto">
          <a:xfrm>
            <a:off x="2471738" y="440055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4" name="Freeform 106"/>
          <p:cNvSpPr>
            <a:spLocks/>
          </p:cNvSpPr>
          <p:nvPr/>
        </p:nvSpPr>
        <p:spPr bwMode="auto">
          <a:xfrm>
            <a:off x="1785938" y="4171950"/>
            <a:ext cx="457200" cy="457200"/>
          </a:xfrm>
          <a:custGeom>
            <a:avLst/>
            <a:gdLst>
              <a:gd name="T0" fmla="*/ 967740000 w 216"/>
              <a:gd name="T1" fmla="*/ 0 h 336"/>
              <a:gd name="T2" fmla="*/ 107526667 w 216"/>
              <a:gd name="T3" fmla="*/ 266622439 h 336"/>
              <a:gd name="T4" fmla="*/ 322580000 w 216"/>
              <a:gd name="T5" fmla="*/ 622118571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5" name="Freeform 107"/>
          <p:cNvSpPr>
            <a:spLocks/>
          </p:cNvSpPr>
          <p:nvPr/>
        </p:nvSpPr>
        <p:spPr bwMode="auto">
          <a:xfrm>
            <a:off x="1785938" y="6076950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6" name="Text Box 108"/>
          <p:cNvSpPr txBox="1">
            <a:spLocks noChangeArrowheads="1"/>
          </p:cNvSpPr>
          <p:nvPr/>
        </p:nvSpPr>
        <p:spPr bwMode="auto">
          <a:xfrm>
            <a:off x="3919538" y="401955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4   4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6 5 3</a:t>
            </a:r>
          </a:p>
        </p:txBody>
      </p:sp>
      <p:sp>
        <p:nvSpPr>
          <p:cNvPr id="48237" name="Line 109"/>
          <p:cNvSpPr>
            <a:spLocks noChangeShapeType="1"/>
          </p:cNvSpPr>
          <p:nvPr/>
        </p:nvSpPr>
        <p:spPr bwMode="auto">
          <a:xfrm flipH="1">
            <a:off x="4376738" y="440055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8" name="Line 110"/>
          <p:cNvSpPr>
            <a:spLocks noChangeShapeType="1"/>
          </p:cNvSpPr>
          <p:nvPr/>
        </p:nvSpPr>
        <p:spPr bwMode="auto">
          <a:xfrm>
            <a:off x="4757738" y="440055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39" name="Line 111"/>
          <p:cNvSpPr>
            <a:spLocks noChangeShapeType="1"/>
          </p:cNvSpPr>
          <p:nvPr/>
        </p:nvSpPr>
        <p:spPr bwMode="auto">
          <a:xfrm flipH="1">
            <a:off x="41481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40" name="Line 112"/>
          <p:cNvSpPr>
            <a:spLocks noChangeShapeType="1"/>
          </p:cNvSpPr>
          <p:nvPr/>
        </p:nvSpPr>
        <p:spPr bwMode="auto">
          <a:xfrm>
            <a:off x="43767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41" name="Line 113"/>
          <p:cNvSpPr>
            <a:spLocks noChangeShapeType="1"/>
          </p:cNvSpPr>
          <p:nvPr/>
        </p:nvSpPr>
        <p:spPr bwMode="auto">
          <a:xfrm flipH="1">
            <a:off x="49101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308" name="Group 180"/>
          <p:cNvGraphicFramePr>
            <a:graphicFrameLocks noGrp="1"/>
          </p:cNvGraphicFramePr>
          <p:nvPr/>
        </p:nvGraphicFramePr>
        <p:xfrm>
          <a:off x="3943350" y="577215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260" name="Freeform 132"/>
          <p:cNvSpPr>
            <a:spLocks/>
          </p:cNvSpPr>
          <p:nvPr/>
        </p:nvSpPr>
        <p:spPr bwMode="auto">
          <a:xfrm>
            <a:off x="3805238" y="4781550"/>
            <a:ext cx="342900" cy="533400"/>
          </a:xfrm>
          <a:custGeom>
            <a:avLst/>
            <a:gdLst>
              <a:gd name="T0" fmla="*/ 544353750 w 216"/>
              <a:gd name="T1" fmla="*/ 0 h 336"/>
              <a:gd name="T2" fmla="*/ 60483750 w 216"/>
              <a:gd name="T3" fmla="*/ 362902500 h 336"/>
              <a:gd name="T4" fmla="*/ 181451250 w 216"/>
              <a:gd name="T5" fmla="*/ 846772500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61" name="Freeform 133"/>
          <p:cNvSpPr>
            <a:spLocks/>
          </p:cNvSpPr>
          <p:nvPr/>
        </p:nvSpPr>
        <p:spPr bwMode="auto">
          <a:xfrm>
            <a:off x="4248150" y="6153150"/>
            <a:ext cx="457200" cy="76200"/>
          </a:xfrm>
          <a:custGeom>
            <a:avLst/>
            <a:gdLst>
              <a:gd name="T0" fmla="*/ 0 w 288"/>
              <a:gd name="T1" fmla="*/ 0 h 48"/>
              <a:gd name="T2" fmla="*/ 362902500 w 288"/>
              <a:gd name="T3" fmla="*/ 120967500 h 48"/>
              <a:gd name="T4" fmla="*/ 725805000 w 288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8" h="48">
                <a:moveTo>
                  <a:pt x="0" y="0"/>
                </a:moveTo>
                <a:cubicBezTo>
                  <a:pt x="48" y="24"/>
                  <a:pt x="96" y="48"/>
                  <a:pt x="144" y="48"/>
                </a:cubicBezTo>
                <a:cubicBezTo>
                  <a:pt x="192" y="48"/>
                  <a:pt x="240" y="24"/>
                  <a:pt x="288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62" name="Text Box 134"/>
          <p:cNvSpPr txBox="1">
            <a:spLocks noChangeArrowheads="1"/>
          </p:cNvSpPr>
          <p:nvPr/>
        </p:nvSpPr>
        <p:spPr bwMode="auto">
          <a:xfrm>
            <a:off x="6129338" y="4019550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6   4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4 5 3</a:t>
            </a:r>
          </a:p>
        </p:txBody>
      </p:sp>
      <p:sp>
        <p:nvSpPr>
          <p:cNvPr id="48263" name="Line 135"/>
          <p:cNvSpPr>
            <a:spLocks noChangeShapeType="1"/>
          </p:cNvSpPr>
          <p:nvPr/>
        </p:nvSpPr>
        <p:spPr bwMode="auto">
          <a:xfrm flipH="1">
            <a:off x="6586538" y="440055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64" name="Line 136"/>
          <p:cNvSpPr>
            <a:spLocks noChangeShapeType="1"/>
          </p:cNvSpPr>
          <p:nvPr/>
        </p:nvSpPr>
        <p:spPr bwMode="auto">
          <a:xfrm>
            <a:off x="6967538" y="440055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65" name="Line 137"/>
          <p:cNvSpPr>
            <a:spLocks noChangeShapeType="1"/>
          </p:cNvSpPr>
          <p:nvPr/>
        </p:nvSpPr>
        <p:spPr bwMode="auto">
          <a:xfrm flipH="1">
            <a:off x="63579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66" name="Line 138"/>
          <p:cNvSpPr>
            <a:spLocks noChangeShapeType="1"/>
          </p:cNvSpPr>
          <p:nvPr/>
        </p:nvSpPr>
        <p:spPr bwMode="auto">
          <a:xfrm>
            <a:off x="65865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67" name="Line 139"/>
          <p:cNvSpPr>
            <a:spLocks noChangeShapeType="1"/>
          </p:cNvSpPr>
          <p:nvPr/>
        </p:nvSpPr>
        <p:spPr bwMode="auto">
          <a:xfrm flipH="1">
            <a:off x="7119938" y="49339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312" name="Group 184"/>
          <p:cNvGraphicFramePr>
            <a:graphicFrameLocks noGrp="1"/>
          </p:cNvGraphicFramePr>
          <p:nvPr/>
        </p:nvGraphicFramePr>
        <p:xfrm>
          <a:off x="6153150" y="577215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286" name="Freeform 158"/>
          <p:cNvSpPr>
            <a:spLocks/>
          </p:cNvSpPr>
          <p:nvPr/>
        </p:nvSpPr>
        <p:spPr bwMode="auto">
          <a:xfrm>
            <a:off x="6129338" y="2571750"/>
            <a:ext cx="304800" cy="152400"/>
          </a:xfrm>
          <a:custGeom>
            <a:avLst/>
            <a:gdLst>
              <a:gd name="T0" fmla="*/ 0 w 144"/>
              <a:gd name="T1" fmla="*/ 0 h 96"/>
              <a:gd name="T2" fmla="*/ 430106667 w 144"/>
              <a:gd name="T3" fmla="*/ 241935000 h 96"/>
              <a:gd name="T4" fmla="*/ 6451600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87" name="Line 159"/>
          <p:cNvSpPr>
            <a:spLocks noChangeShapeType="1"/>
          </p:cNvSpPr>
          <p:nvPr/>
        </p:nvSpPr>
        <p:spPr bwMode="auto">
          <a:xfrm>
            <a:off x="2166938" y="478155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88" name="Freeform 160"/>
          <p:cNvSpPr>
            <a:spLocks/>
          </p:cNvSpPr>
          <p:nvPr/>
        </p:nvSpPr>
        <p:spPr bwMode="auto">
          <a:xfrm>
            <a:off x="4148138" y="5467350"/>
            <a:ext cx="304800" cy="152400"/>
          </a:xfrm>
          <a:custGeom>
            <a:avLst/>
            <a:gdLst>
              <a:gd name="T0" fmla="*/ 0 w 144"/>
              <a:gd name="T1" fmla="*/ 0 h 96"/>
              <a:gd name="T2" fmla="*/ 430106667 w 144"/>
              <a:gd name="T3" fmla="*/ 241935000 h 96"/>
              <a:gd name="T4" fmla="*/ 6451600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313" name="Freeform 185"/>
          <p:cNvSpPr>
            <a:spLocks/>
          </p:cNvSpPr>
          <p:nvPr/>
        </p:nvSpPr>
        <p:spPr bwMode="auto">
          <a:xfrm>
            <a:off x="6704013" y="3141663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314" name="Freeform 186"/>
          <p:cNvSpPr>
            <a:spLocks/>
          </p:cNvSpPr>
          <p:nvPr/>
        </p:nvSpPr>
        <p:spPr bwMode="auto">
          <a:xfrm>
            <a:off x="1979613" y="6099175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315" name="Freeform 187"/>
          <p:cNvSpPr>
            <a:spLocks/>
          </p:cNvSpPr>
          <p:nvPr/>
        </p:nvSpPr>
        <p:spPr bwMode="auto">
          <a:xfrm>
            <a:off x="4629150" y="6137275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316" name="Text Box 188"/>
          <p:cNvSpPr txBox="1">
            <a:spLocks noChangeArrowheads="1"/>
          </p:cNvSpPr>
          <p:nvPr/>
        </p:nvSpPr>
        <p:spPr bwMode="auto">
          <a:xfrm>
            <a:off x="6070600" y="1700213"/>
            <a:ext cx="403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57" grpId="0" animBg="1"/>
      <p:bldP spid="48158" grpId="0" autoUpdateAnimBg="0"/>
      <p:bldP spid="48159" grpId="0" autoUpdateAnimBg="0"/>
      <p:bldP spid="48160" grpId="0" animBg="1"/>
      <p:bldP spid="48161" grpId="0" animBg="1"/>
      <p:bldP spid="48180" grpId="0" animBg="1"/>
      <p:bldP spid="48181" grpId="0" autoUpdateAnimBg="0"/>
      <p:bldP spid="48182" grpId="0" animBg="1"/>
      <p:bldP spid="48201" grpId="0" animBg="1"/>
      <p:bldP spid="48202" grpId="0" animBg="1"/>
      <p:bldP spid="48203" grpId="0" autoUpdateAnimBg="0"/>
      <p:bldP spid="48204" grpId="0" animBg="1"/>
      <p:bldP spid="48205" grpId="0" animBg="1"/>
      <p:bldP spid="48206" grpId="0" autoUpdateAnimBg="0"/>
      <p:bldP spid="48207" grpId="0" animBg="1"/>
      <p:bldP spid="48226" grpId="0" animBg="1"/>
      <p:bldP spid="48227" grpId="0" animBg="1"/>
      <p:bldP spid="48228" grpId="0" autoUpdateAnimBg="0"/>
      <p:bldP spid="48229" grpId="0" animBg="1"/>
      <p:bldP spid="48230" grpId="0" animBg="1"/>
      <p:bldP spid="48231" grpId="0" autoUpdateAnimBg="0"/>
      <p:bldP spid="48232" grpId="0" animBg="1"/>
      <p:bldP spid="48233" grpId="0" animBg="1"/>
      <p:bldP spid="48234" grpId="0" animBg="1"/>
      <p:bldP spid="48235" grpId="0" animBg="1"/>
      <p:bldP spid="48236" grpId="0" autoUpdateAnimBg="0"/>
      <p:bldP spid="48237" grpId="0" animBg="1"/>
      <p:bldP spid="48238" grpId="0" animBg="1"/>
      <p:bldP spid="48239" grpId="0" animBg="1"/>
      <p:bldP spid="48240" grpId="0" animBg="1"/>
      <p:bldP spid="48241" grpId="0" animBg="1"/>
      <p:bldP spid="48260" grpId="0" animBg="1"/>
      <p:bldP spid="48261" grpId="0" animBg="1"/>
      <p:bldP spid="48262" grpId="0" autoUpdateAnimBg="0"/>
      <p:bldP spid="48263" grpId="0" animBg="1"/>
      <p:bldP spid="48264" grpId="0" animBg="1"/>
      <p:bldP spid="48265" grpId="0" animBg="1"/>
      <p:bldP spid="48266" grpId="0" animBg="1"/>
      <p:bldP spid="48267" grpId="0" animBg="1"/>
      <p:bldP spid="48286" grpId="0" animBg="1"/>
      <p:bldP spid="48286" grpId="1" animBg="1"/>
      <p:bldP spid="48287" grpId="0" animBg="1"/>
      <p:bldP spid="48287" grpId="1" animBg="1"/>
      <p:bldP spid="48288" grpId="0" animBg="1"/>
      <p:bldP spid="48288" grpId="1" animBg="1"/>
      <p:bldP spid="48313" grpId="0" animBg="1"/>
      <p:bldP spid="48313" grpId="1" animBg="1"/>
      <p:bldP spid="48314" grpId="0" animBg="1"/>
      <p:bldP spid="48314" grpId="1" animBg="1"/>
      <p:bldP spid="48315" grpId="0" animBg="1"/>
      <p:bldP spid="48315" grpId="1" animBg="1"/>
      <p:bldP spid="483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xfrm>
            <a:off x="573088" y="101600"/>
            <a:ext cx="8204200" cy="9652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Heap sort: example cont’d,</a:t>
            </a:r>
            <a:br>
              <a:rPr lang="en-US" sz="3200">
                <a:solidFill>
                  <a:srgbClr val="3333CC"/>
                </a:solidFill>
                <a:latin typeface="Times New Roman" pitchFamily="18" charset="0"/>
              </a:rPr>
            </a:br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sorting</a:t>
            </a:r>
          </a:p>
        </p:txBody>
      </p:sp>
      <p:sp>
        <p:nvSpPr>
          <p:cNvPr id="49258" name="Freeform 106"/>
          <p:cNvSpPr>
            <a:spLocks/>
          </p:cNvSpPr>
          <p:nvPr/>
        </p:nvSpPr>
        <p:spPr bwMode="auto">
          <a:xfrm>
            <a:off x="3016250" y="1527175"/>
            <a:ext cx="457200" cy="457200"/>
          </a:xfrm>
          <a:custGeom>
            <a:avLst/>
            <a:gdLst>
              <a:gd name="T0" fmla="*/ 967740000 w 216"/>
              <a:gd name="T1" fmla="*/ 0 h 336"/>
              <a:gd name="T2" fmla="*/ 107526667 w 216"/>
              <a:gd name="T3" fmla="*/ 266622439 h 336"/>
              <a:gd name="T4" fmla="*/ 322580000 w 216"/>
              <a:gd name="T5" fmla="*/ 622118571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259" name="Freeform 107"/>
          <p:cNvSpPr>
            <a:spLocks/>
          </p:cNvSpPr>
          <p:nvPr/>
        </p:nvSpPr>
        <p:spPr bwMode="auto">
          <a:xfrm>
            <a:off x="3076575" y="3392488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5" name="Text Box 134"/>
          <p:cNvSpPr txBox="1">
            <a:spLocks noChangeArrowheads="1"/>
          </p:cNvSpPr>
          <p:nvPr/>
        </p:nvSpPr>
        <p:spPr bwMode="auto">
          <a:xfrm>
            <a:off x="885825" y="1296988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7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6   4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4 5 3</a:t>
            </a:r>
          </a:p>
        </p:txBody>
      </p:sp>
      <p:sp>
        <p:nvSpPr>
          <p:cNvPr id="25606" name="Line 135"/>
          <p:cNvSpPr>
            <a:spLocks noChangeShapeType="1"/>
          </p:cNvSpPr>
          <p:nvPr/>
        </p:nvSpPr>
        <p:spPr bwMode="auto">
          <a:xfrm flipH="1">
            <a:off x="1343025" y="167798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Line 136"/>
          <p:cNvSpPr>
            <a:spLocks noChangeShapeType="1"/>
          </p:cNvSpPr>
          <p:nvPr/>
        </p:nvSpPr>
        <p:spPr bwMode="auto">
          <a:xfrm>
            <a:off x="1724025" y="1677988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Line 137"/>
          <p:cNvSpPr>
            <a:spLocks noChangeShapeType="1"/>
          </p:cNvSpPr>
          <p:nvPr/>
        </p:nvSpPr>
        <p:spPr bwMode="auto">
          <a:xfrm flipH="1">
            <a:off x="1114425" y="22113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Line 138"/>
          <p:cNvSpPr>
            <a:spLocks noChangeShapeType="1"/>
          </p:cNvSpPr>
          <p:nvPr/>
        </p:nvSpPr>
        <p:spPr bwMode="auto">
          <a:xfrm>
            <a:off x="1343025" y="22113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139"/>
          <p:cNvSpPr>
            <a:spLocks noChangeShapeType="1"/>
          </p:cNvSpPr>
          <p:nvPr/>
        </p:nvSpPr>
        <p:spPr bwMode="auto">
          <a:xfrm flipH="1">
            <a:off x="1876425" y="22113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317" name="Group 165"/>
          <p:cNvGraphicFramePr>
            <a:graphicFrameLocks noGrp="1"/>
          </p:cNvGraphicFramePr>
          <p:nvPr/>
        </p:nvGraphicFramePr>
        <p:xfrm>
          <a:off x="885825" y="3049588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311" name="Line 159"/>
          <p:cNvSpPr>
            <a:spLocks noChangeShapeType="1"/>
          </p:cNvSpPr>
          <p:nvPr/>
        </p:nvSpPr>
        <p:spPr bwMode="auto">
          <a:xfrm>
            <a:off x="3478213" y="2046288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12" name="Freeform 160"/>
          <p:cNvSpPr>
            <a:spLocks/>
          </p:cNvSpPr>
          <p:nvPr/>
        </p:nvSpPr>
        <p:spPr bwMode="auto">
          <a:xfrm>
            <a:off x="5091113" y="2738438"/>
            <a:ext cx="304800" cy="152400"/>
          </a:xfrm>
          <a:custGeom>
            <a:avLst/>
            <a:gdLst>
              <a:gd name="T0" fmla="*/ 0 w 144"/>
              <a:gd name="T1" fmla="*/ 0 h 96"/>
              <a:gd name="T2" fmla="*/ 430106667 w 144"/>
              <a:gd name="T3" fmla="*/ 241935000 h 96"/>
              <a:gd name="T4" fmla="*/ 6451600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18" name="Freeform 166"/>
          <p:cNvSpPr>
            <a:spLocks/>
          </p:cNvSpPr>
          <p:nvPr/>
        </p:nvSpPr>
        <p:spPr bwMode="auto">
          <a:xfrm>
            <a:off x="1806575" y="1470025"/>
            <a:ext cx="777875" cy="1152525"/>
          </a:xfrm>
          <a:custGeom>
            <a:avLst/>
            <a:gdLst>
              <a:gd name="T0" fmla="*/ 0 w 490"/>
              <a:gd name="T1" fmla="*/ 0 h 726"/>
              <a:gd name="T2" fmla="*/ 1189513750 w 490"/>
              <a:gd name="T3" fmla="*/ 1005543138 h 726"/>
              <a:gd name="T4" fmla="*/ 274697825 w 490"/>
              <a:gd name="T5" fmla="*/ 1829633438 h 72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90" h="726">
                <a:moveTo>
                  <a:pt x="0" y="0"/>
                </a:moveTo>
                <a:cubicBezTo>
                  <a:pt x="227" y="139"/>
                  <a:pt x="454" y="278"/>
                  <a:pt x="472" y="399"/>
                </a:cubicBezTo>
                <a:cubicBezTo>
                  <a:pt x="490" y="520"/>
                  <a:pt x="299" y="623"/>
                  <a:pt x="109" y="726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19" name="Freeform 167"/>
          <p:cNvSpPr>
            <a:spLocks/>
          </p:cNvSpPr>
          <p:nvPr/>
        </p:nvSpPr>
        <p:spPr bwMode="auto">
          <a:xfrm>
            <a:off x="1000125" y="3429000"/>
            <a:ext cx="979488" cy="115888"/>
          </a:xfrm>
          <a:custGeom>
            <a:avLst/>
            <a:gdLst>
              <a:gd name="T0" fmla="*/ 0 w 617"/>
              <a:gd name="T1" fmla="*/ 0 h 73"/>
              <a:gd name="T2" fmla="*/ 824092308 w 617"/>
              <a:gd name="T3" fmla="*/ 183972994 h 73"/>
              <a:gd name="T4" fmla="*/ 1554937994 w 617"/>
              <a:gd name="T5" fmla="*/ 0 h 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7" h="73">
                <a:moveTo>
                  <a:pt x="0" y="0"/>
                </a:moveTo>
                <a:cubicBezTo>
                  <a:pt x="112" y="36"/>
                  <a:pt x="224" y="73"/>
                  <a:pt x="327" y="73"/>
                </a:cubicBezTo>
                <a:cubicBezTo>
                  <a:pt x="430" y="73"/>
                  <a:pt x="523" y="36"/>
                  <a:pt x="617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20" name="Text Box 168"/>
          <p:cNvSpPr txBox="1">
            <a:spLocks noChangeArrowheads="1"/>
          </p:cNvSpPr>
          <p:nvPr/>
        </p:nvSpPr>
        <p:spPr bwMode="auto">
          <a:xfrm>
            <a:off x="2959100" y="1296988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6   4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4 5 7</a:t>
            </a:r>
          </a:p>
        </p:txBody>
      </p:sp>
      <p:sp>
        <p:nvSpPr>
          <p:cNvPr id="49321" name="Line 169"/>
          <p:cNvSpPr>
            <a:spLocks noChangeShapeType="1"/>
          </p:cNvSpPr>
          <p:nvPr/>
        </p:nvSpPr>
        <p:spPr bwMode="auto">
          <a:xfrm flipH="1">
            <a:off x="3416300" y="167798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22" name="Line 170"/>
          <p:cNvSpPr>
            <a:spLocks noChangeShapeType="1"/>
          </p:cNvSpPr>
          <p:nvPr/>
        </p:nvSpPr>
        <p:spPr bwMode="auto">
          <a:xfrm>
            <a:off x="3797300" y="1677988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23" name="Line 171"/>
          <p:cNvSpPr>
            <a:spLocks noChangeShapeType="1"/>
          </p:cNvSpPr>
          <p:nvPr/>
        </p:nvSpPr>
        <p:spPr bwMode="auto">
          <a:xfrm flipH="1">
            <a:off x="3187700" y="22113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24" name="Line 172"/>
          <p:cNvSpPr>
            <a:spLocks noChangeShapeType="1"/>
          </p:cNvSpPr>
          <p:nvPr/>
        </p:nvSpPr>
        <p:spPr bwMode="auto">
          <a:xfrm>
            <a:off x="3416300" y="22113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25" name="Line 173"/>
          <p:cNvSpPr>
            <a:spLocks noChangeShapeType="1"/>
          </p:cNvSpPr>
          <p:nvPr/>
        </p:nvSpPr>
        <p:spPr bwMode="auto">
          <a:xfrm flipH="1">
            <a:off x="3949700" y="22113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346" name="Group 194"/>
          <p:cNvGraphicFramePr>
            <a:graphicFrameLocks noGrp="1"/>
          </p:cNvGraphicFramePr>
          <p:nvPr/>
        </p:nvGraphicFramePr>
        <p:xfrm>
          <a:off x="2959100" y="3049588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349" name="Freeform 197"/>
          <p:cNvSpPr>
            <a:spLocks/>
          </p:cNvSpPr>
          <p:nvPr/>
        </p:nvSpPr>
        <p:spPr bwMode="auto">
          <a:xfrm>
            <a:off x="5205413" y="3371850"/>
            <a:ext cx="604837" cy="115888"/>
          </a:xfrm>
          <a:custGeom>
            <a:avLst/>
            <a:gdLst>
              <a:gd name="T0" fmla="*/ 0 w 144"/>
              <a:gd name="T1" fmla="*/ 0 h 96"/>
              <a:gd name="T2" fmla="*/ 1693648606 w 144"/>
              <a:gd name="T3" fmla="*/ 139896131 h 96"/>
              <a:gd name="T4" fmla="*/ 2147483647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1" name="Text Box 199"/>
          <p:cNvSpPr txBox="1">
            <a:spLocks noChangeArrowheads="1"/>
          </p:cNvSpPr>
          <p:nvPr/>
        </p:nvSpPr>
        <p:spPr bwMode="auto">
          <a:xfrm>
            <a:off x="4889500" y="1296988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3   4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4 5 </a:t>
            </a:r>
          </a:p>
        </p:txBody>
      </p:sp>
      <p:sp>
        <p:nvSpPr>
          <p:cNvPr id="49352" name="Line 200"/>
          <p:cNvSpPr>
            <a:spLocks noChangeShapeType="1"/>
          </p:cNvSpPr>
          <p:nvPr/>
        </p:nvSpPr>
        <p:spPr bwMode="auto">
          <a:xfrm flipH="1">
            <a:off x="5345113" y="1677988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3" name="Line 201"/>
          <p:cNvSpPr>
            <a:spLocks noChangeShapeType="1"/>
          </p:cNvSpPr>
          <p:nvPr/>
        </p:nvSpPr>
        <p:spPr bwMode="auto">
          <a:xfrm>
            <a:off x="5726113" y="1677988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4" name="Line 202"/>
          <p:cNvSpPr>
            <a:spLocks noChangeShapeType="1"/>
          </p:cNvSpPr>
          <p:nvPr/>
        </p:nvSpPr>
        <p:spPr bwMode="auto">
          <a:xfrm flipH="1">
            <a:off x="5116513" y="22113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55" name="Line 203"/>
          <p:cNvSpPr>
            <a:spLocks noChangeShapeType="1"/>
          </p:cNvSpPr>
          <p:nvPr/>
        </p:nvSpPr>
        <p:spPr bwMode="auto">
          <a:xfrm>
            <a:off x="5345113" y="2211388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357" name="Group 205"/>
          <p:cNvGraphicFramePr>
            <a:graphicFrameLocks noGrp="1"/>
          </p:cNvGraphicFramePr>
          <p:nvPr/>
        </p:nvGraphicFramePr>
        <p:xfrm>
          <a:off x="4887913" y="3049588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373" name="Freeform 221"/>
          <p:cNvSpPr>
            <a:spLocks/>
          </p:cNvSpPr>
          <p:nvPr/>
        </p:nvSpPr>
        <p:spPr bwMode="auto">
          <a:xfrm>
            <a:off x="5351463" y="2046288"/>
            <a:ext cx="373062" cy="519112"/>
          </a:xfrm>
          <a:custGeom>
            <a:avLst/>
            <a:gdLst>
              <a:gd name="T0" fmla="*/ 0 w 163"/>
              <a:gd name="T1" fmla="*/ 0 h 327"/>
              <a:gd name="T2" fmla="*/ 759547366 w 163"/>
              <a:gd name="T3" fmla="*/ 274695973 h 327"/>
              <a:gd name="T4" fmla="*/ 570970247 w 163"/>
              <a:gd name="T5" fmla="*/ 824089506 h 32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3" h="327">
                <a:moveTo>
                  <a:pt x="0" y="0"/>
                </a:moveTo>
                <a:cubicBezTo>
                  <a:pt x="63" y="27"/>
                  <a:pt x="127" y="55"/>
                  <a:pt x="145" y="109"/>
                </a:cubicBezTo>
                <a:cubicBezTo>
                  <a:pt x="163" y="163"/>
                  <a:pt x="136" y="245"/>
                  <a:pt x="109" y="327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76" name="Text Box 224"/>
          <p:cNvSpPr txBox="1">
            <a:spLocks noChangeArrowheads="1"/>
          </p:cNvSpPr>
          <p:nvPr/>
        </p:nvSpPr>
        <p:spPr bwMode="auto">
          <a:xfrm>
            <a:off x="6645275" y="1338263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6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5   4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4 3 </a:t>
            </a:r>
          </a:p>
        </p:txBody>
      </p:sp>
      <p:sp>
        <p:nvSpPr>
          <p:cNvPr id="49377" name="Line 225"/>
          <p:cNvSpPr>
            <a:spLocks noChangeShapeType="1"/>
          </p:cNvSpPr>
          <p:nvPr/>
        </p:nvSpPr>
        <p:spPr bwMode="auto">
          <a:xfrm flipH="1">
            <a:off x="7102475" y="169545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78" name="Line 226"/>
          <p:cNvSpPr>
            <a:spLocks noChangeShapeType="1"/>
          </p:cNvSpPr>
          <p:nvPr/>
        </p:nvSpPr>
        <p:spPr bwMode="auto">
          <a:xfrm>
            <a:off x="7483475" y="169545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79" name="Line 227"/>
          <p:cNvSpPr>
            <a:spLocks noChangeShapeType="1"/>
          </p:cNvSpPr>
          <p:nvPr/>
        </p:nvSpPr>
        <p:spPr bwMode="auto">
          <a:xfrm flipH="1">
            <a:off x="6873875" y="22288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380" name="Line 228"/>
          <p:cNvSpPr>
            <a:spLocks noChangeShapeType="1"/>
          </p:cNvSpPr>
          <p:nvPr/>
        </p:nvSpPr>
        <p:spPr bwMode="auto">
          <a:xfrm>
            <a:off x="7102475" y="222885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381" name="Group 229"/>
          <p:cNvGraphicFramePr>
            <a:graphicFrameLocks noGrp="1"/>
          </p:cNvGraphicFramePr>
          <p:nvPr/>
        </p:nvGraphicFramePr>
        <p:xfrm>
          <a:off x="6645275" y="306705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399" name="Freeform 247"/>
          <p:cNvSpPr>
            <a:spLocks/>
          </p:cNvSpPr>
          <p:nvPr/>
        </p:nvSpPr>
        <p:spPr bwMode="auto">
          <a:xfrm>
            <a:off x="7394575" y="1585913"/>
            <a:ext cx="892175" cy="1036637"/>
          </a:xfrm>
          <a:custGeom>
            <a:avLst/>
            <a:gdLst>
              <a:gd name="T0" fmla="*/ 274697825 w 562"/>
              <a:gd name="T1" fmla="*/ 0 h 653"/>
              <a:gd name="T2" fmla="*/ 1370965000 w 562"/>
              <a:gd name="T3" fmla="*/ 914815484 h 653"/>
              <a:gd name="T4" fmla="*/ 0 w 562"/>
              <a:gd name="T5" fmla="*/ 1645660444 h 65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62" h="653">
                <a:moveTo>
                  <a:pt x="109" y="0"/>
                </a:moveTo>
                <a:cubicBezTo>
                  <a:pt x="335" y="127"/>
                  <a:pt x="562" y="254"/>
                  <a:pt x="544" y="363"/>
                </a:cubicBezTo>
                <a:cubicBezTo>
                  <a:pt x="526" y="472"/>
                  <a:pt x="263" y="562"/>
                  <a:pt x="0" y="653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00" name="Freeform 248"/>
          <p:cNvSpPr>
            <a:spLocks/>
          </p:cNvSpPr>
          <p:nvPr/>
        </p:nvSpPr>
        <p:spPr bwMode="auto">
          <a:xfrm>
            <a:off x="6761163" y="3429000"/>
            <a:ext cx="806450" cy="115888"/>
          </a:xfrm>
          <a:custGeom>
            <a:avLst/>
            <a:gdLst>
              <a:gd name="T0" fmla="*/ 0 w 617"/>
              <a:gd name="T1" fmla="*/ 0 h 73"/>
              <a:gd name="T2" fmla="*/ 558639809 w 617"/>
              <a:gd name="T3" fmla="*/ 183972994 h 73"/>
              <a:gd name="T4" fmla="*/ 1054070669 w 617"/>
              <a:gd name="T5" fmla="*/ 0 h 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7" h="73">
                <a:moveTo>
                  <a:pt x="0" y="0"/>
                </a:moveTo>
                <a:cubicBezTo>
                  <a:pt x="112" y="36"/>
                  <a:pt x="224" y="73"/>
                  <a:pt x="327" y="73"/>
                </a:cubicBezTo>
                <a:cubicBezTo>
                  <a:pt x="430" y="73"/>
                  <a:pt x="523" y="36"/>
                  <a:pt x="617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01" name="Text Box 249"/>
          <p:cNvSpPr txBox="1">
            <a:spLocks noChangeArrowheads="1"/>
          </p:cNvSpPr>
          <p:nvPr/>
        </p:nvSpPr>
        <p:spPr bwMode="auto">
          <a:xfrm>
            <a:off x="885825" y="3889375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5   4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4 6 </a:t>
            </a:r>
          </a:p>
        </p:txBody>
      </p:sp>
      <p:sp>
        <p:nvSpPr>
          <p:cNvPr id="49402" name="Line 250"/>
          <p:cNvSpPr>
            <a:spLocks noChangeShapeType="1"/>
          </p:cNvSpPr>
          <p:nvPr/>
        </p:nvSpPr>
        <p:spPr bwMode="auto">
          <a:xfrm flipH="1">
            <a:off x="1343025" y="424656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03" name="Line 251"/>
          <p:cNvSpPr>
            <a:spLocks noChangeShapeType="1"/>
          </p:cNvSpPr>
          <p:nvPr/>
        </p:nvSpPr>
        <p:spPr bwMode="auto">
          <a:xfrm>
            <a:off x="1724025" y="4246563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04" name="Line 252"/>
          <p:cNvSpPr>
            <a:spLocks noChangeShapeType="1"/>
          </p:cNvSpPr>
          <p:nvPr/>
        </p:nvSpPr>
        <p:spPr bwMode="auto">
          <a:xfrm flipH="1">
            <a:off x="1114425" y="477996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05" name="Line 253"/>
          <p:cNvSpPr>
            <a:spLocks noChangeShapeType="1"/>
          </p:cNvSpPr>
          <p:nvPr/>
        </p:nvSpPr>
        <p:spPr bwMode="auto">
          <a:xfrm>
            <a:off x="1343025" y="477996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428" name="Group 276"/>
          <p:cNvGraphicFramePr>
            <a:graphicFrameLocks noGrp="1"/>
          </p:cNvGraphicFramePr>
          <p:nvPr/>
        </p:nvGraphicFramePr>
        <p:xfrm>
          <a:off x="885825" y="5618163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430" name="Line 278"/>
          <p:cNvSpPr>
            <a:spLocks noChangeShapeType="1"/>
          </p:cNvSpPr>
          <p:nvPr/>
        </p:nvSpPr>
        <p:spPr bwMode="auto">
          <a:xfrm>
            <a:off x="1406525" y="4638675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31" name="Freeform 279"/>
          <p:cNvSpPr>
            <a:spLocks/>
          </p:cNvSpPr>
          <p:nvPr/>
        </p:nvSpPr>
        <p:spPr bwMode="auto">
          <a:xfrm>
            <a:off x="1000125" y="4062413"/>
            <a:ext cx="457200" cy="457200"/>
          </a:xfrm>
          <a:custGeom>
            <a:avLst/>
            <a:gdLst>
              <a:gd name="T0" fmla="*/ 967740000 w 216"/>
              <a:gd name="T1" fmla="*/ 0 h 336"/>
              <a:gd name="T2" fmla="*/ 107526667 w 216"/>
              <a:gd name="T3" fmla="*/ 266622439 h 336"/>
              <a:gd name="T4" fmla="*/ 322580000 w 216"/>
              <a:gd name="T5" fmla="*/ 622118571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32" name="Freeform 280"/>
          <p:cNvSpPr>
            <a:spLocks/>
          </p:cNvSpPr>
          <p:nvPr/>
        </p:nvSpPr>
        <p:spPr bwMode="auto">
          <a:xfrm>
            <a:off x="942975" y="5964238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33" name="Text Box 281"/>
          <p:cNvSpPr txBox="1">
            <a:spLocks noChangeArrowheads="1"/>
          </p:cNvSpPr>
          <p:nvPr/>
        </p:nvSpPr>
        <p:spPr bwMode="auto">
          <a:xfrm>
            <a:off x="2959100" y="3913188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5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3   4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4 </a:t>
            </a:r>
          </a:p>
        </p:txBody>
      </p:sp>
      <p:sp>
        <p:nvSpPr>
          <p:cNvPr id="49434" name="Line 282"/>
          <p:cNvSpPr>
            <a:spLocks noChangeShapeType="1"/>
          </p:cNvSpPr>
          <p:nvPr/>
        </p:nvSpPr>
        <p:spPr bwMode="auto">
          <a:xfrm flipH="1">
            <a:off x="3416300" y="42672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35" name="Line 283"/>
          <p:cNvSpPr>
            <a:spLocks noChangeShapeType="1"/>
          </p:cNvSpPr>
          <p:nvPr/>
        </p:nvSpPr>
        <p:spPr bwMode="auto">
          <a:xfrm>
            <a:off x="3797300" y="42672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36" name="Line 284"/>
          <p:cNvSpPr>
            <a:spLocks noChangeShapeType="1"/>
          </p:cNvSpPr>
          <p:nvPr/>
        </p:nvSpPr>
        <p:spPr bwMode="auto">
          <a:xfrm flipH="1">
            <a:off x="3187700" y="48006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438" name="Group 286"/>
          <p:cNvGraphicFramePr>
            <a:graphicFrameLocks noGrp="1"/>
          </p:cNvGraphicFramePr>
          <p:nvPr/>
        </p:nvGraphicFramePr>
        <p:xfrm>
          <a:off x="2959100" y="56388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457" name="Freeform 305"/>
          <p:cNvSpPr>
            <a:spLocks/>
          </p:cNvSpPr>
          <p:nvPr/>
        </p:nvSpPr>
        <p:spPr bwMode="auto">
          <a:xfrm>
            <a:off x="2873375" y="4716463"/>
            <a:ext cx="315913" cy="403225"/>
          </a:xfrm>
          <a:custGeom>
            <a:avLst/>
            <a:gdLst>
              <a:gd name="T0" fmla="*/ 501512681 w 199"/>
              <a:gd name="T1" fmla="*/ 0 h 254"/>
              <a:gd name="T2" fmla="*/ 45362884 w 199"/>
              <a:gd name="T3" fmla="*/ 274697825 h 254"/>
              <a:gd name="T4" fmla="*/ 226814421 w 199"/>
              <a:gd name="T5" fmla="*/ 640119688 h 25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9" h="254">
                <a:moveTo>
                  <a:pt x="199" y="0"/>
                </a:moveTo>
                <a:cubicBezTo>
                  <a:pt x="117" y="33"/>
                  <a:pt x="36" y="67"/>
                  <a:pt x="18" y="109"/>
                </a:cubicBezTo>
                <a:cubicBezTo>
                  <a:pt x="0" y="151"/>
                  <a:pt x="45" y="202"/>
                  <a:pt x="90" y="25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58" name="Text Box 306"/>
          <p:cNvSpPr txBox="1">
            <a:spLocks noChangeArrowheads="1"/>
          </p:cNvSpPr>
          <p:nvPr/>
        </p:nvSpPr>
        <p:spPr bwMode="auto">
          <a:xfrm>
            <a:off x="4859338" y="3913188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5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4   4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3 </a:t>
            </a:r>
          </a:p>
        </p:txBody>
      </p:sp>
      <p:sp>
        <p:nvSpPr>
          <p:cNvPr id="49459" name="Line 307"/>
          <p:cNvSpPr>
            <a:spLocks noChangeShapeType="1"/>
          </p:cNvSpPr>
          <p:nvPr/>
        </p:nvSpPr>
        <p:spPr bwMode="auto">
          <a:xfrm flipH="1">
            <a:off x="5316538" y="42672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0" name="Line 308"/>
          <p:cNvSpPr>
            <a:spLocks noChangeShapeType="1"/>
          </p:cNvSpPr>
          <p:nvPr/>
        </p:nvSpPr>
        <p:spPr bwMode="auto">
          <a:xfrm>
            <a:off x="5697538" y="42672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61" name="Line 309"/>
          <p:cNvSpPr>
            <a:spLocks noChangeShapeType="1"/>
          </p:cNvSpPr>
          <p:nvPr/>
        </p:nvSpPr>
        <p:spPr bwMode="auto">
          <a:xfrm flipH="1">
            <a:off x="5087938" y="48006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462" name="Group 310"/>
          <p:cNvGraphicFramePr>
            <a:graphicFrameLocks noGrp="1"/>
          </p:cNvGraphicFramePr>
          <p:nvPr/>
        </p:nvGraphicFramePr>
        <p:xfrm>
          <a:off x="4859338" y="56388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479" name="Freeform 327"/>
          <p:cNvSpPr>
            <a:spLocks/>
          </p:cNvSpPr>
          <p:nvPr/>
        </p:nvSpPr>
        <p:spPr bwMode="auto">
          <a:xfrm>
            <a:off x="3246438" y="5983288"/>
            <a:ext cx="403225" cy="115887"/>
          </a:xfrm>
          <a:custGeom>
            <a:avLst/>
            <a:gdLst>
              <a:gd name="T0" fmla="*/ 0 w 144"/>
              <a:gd name="T1" fmla="*/ 0 h 96"/>
              <a:gd name="T2" fmla="*/ 752734270 w 144"/>
              <a:gd name="T3" fmla="*/ 139893716 h 96"/>
              <a:gd name="T4" fmla="*/ 1129100004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80" name="Freeform 328"/>
          <p:cNvSpPr>
            <a:spLocks/>
          </p:cNvSpPr>
          <p:nvPr/>
        </p:nvSpPr>
        <p:spPr bwMode="auto">
          <a:xfrm>
            <a:off x="5205413" y="4083050"/>
            <a:ext cx="1247775" cy="1093788"/>
          </a:xfrm>
          <a:custGeom>
            <a:avLst/>
            <a:gdLst>
              <a:gd name="T0" fmla="*/ 914817513 w 786"/>
              <a:gd name="T1" fmla="*/ 0 h 689"/>
              <a:gd name="T2" fmla="*/ 1829633438 w 786"/>
              <a:gd name="T3" fmla="*/ 914817931 h 689"/>
              <a:gd name="T4" fmla="*/ 0 w 786"/>
              <a:gd name="T5" fmla="*/ 1736389244 h 68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86" h="689">
                <a:moveTo>
                  <a:pt x="363" y="0"/>
                </a:moveTo>
                <a:cubicBezTo>
                  <a:pt x="574" y="124"/>
                  <a:pt x="786" y="248"/>
                  <a:pt x="726" y="363"/>
                </a:cubicBezTo>
                <a:cubicBezTo>
                  <a:pt x="666" y="478"/>
                  <a:pt x="333" y="583"/>
                  <a:pt x="0" y="689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81" name="Freeform 329"/>
          <p:cNvSpPr>
            <a:spLocks/>
          </p:cNvSpPr>
          <p:nvPr/>
        </p:nvSpPr>
        <p:spPr bwMode="auto">
          <a:xfrm>
            <a:off x="4975225" y="5983288"/>
            <a:ext cx="576263" cy="115887"/>
          </a:xfrm>
          <a:custGeom>
            <a:avLst/>
            <a:gdLst>
              <a:gd name="T0" fmla="*/ 0 w 617"/>
              <a:gd name="T1" fmla="*/ 0 h 73"/>
              <a:gd name="T2" fmla="*/ 285245515 w 617"/>
              <a:gd name="T3" fmla="*/ 183969819 h 73"/>
              <a:gd name="T4" fmla="*/ 538215632 w 617"/>
              <a:gd name="T5" fmla="*/ 0 h 7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7" h="73">
                <a:moveTo>
                  <a:pt x="0" y="0"/>
                </a:moveTo>
                <a:cubicBezTo>
                  <a:pt x="112" y="36"/>
                  <a:pt x="224" y="73"/>
                  <a:pt x="327" y="73"/>
                </a:cubicBezTo>
                <a:cubicBezTo>
                  <a:pt x="430" y="73"/>
                  <a:pt x="523" y="36"/>
                  <a:pt x="617" y="0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82" name="Text Box 330"/>
          <p:cNvSpPr txBox="1">
            <a:spLocks noChangeArrowheads="1"/>
          </p:cNvSpPr>
          <p:nvPr/>
        </p:nvSpPr>
        <p:spPr bwMode="auto">
          <a:xfrm>
            <a:off x="6588125" y="3910013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4   4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5 </a:t>
            </a:r>
          </a:p>
        </p:txBody>
      </p:sp>
      <p:sp>
        <p:nvSpPr>
          <p:cNvPr id="49483" name="Line 331"/>
          <p:cNvSpPr>
            <a:spLocks noChangeShapeType="1"/>
          </p:cNvSpPr>
          <p:nvPr/>
        </p:nvSpPr>
        <p:spPr bwMode="auto">
          <a:xfrm flipH="1">
            <a:off x="7045325" y="4267200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84" name="Line 332"/>
          <p:cNvSpPr>
            <a:spLocks noChangeShapeType="1"/>
          </p:cNvSpPr>
          <p:nvPr/>
        </p:nvSpPr>
        <p:spPr bwMode="auto">
          <a:xfrm>
            <a:off x="7426325" y="4267200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485" name="Line 333"/>
          <p:cNvSpPr>
            <a:spLocks noChangeShapeType="1"/>
          </p:cNvSpPr>
          <p:nvPr/>
        </p:nvSpPr>
        <p:spPr bwMode="auto">
          <a:xfrm flipH="1">
            <a:off x="6816725" y="4800600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9510" name="Group 358"/>
          <p:cNvGraphicFramePr>
            <a:graphicFrameLocks noGrp="1"/>
          </p:cNvGraphicFramePr>
          <p:nvPr/>
        </p:nvGraphicFramePr>
        <p:xfrm>
          <a:off x="6588125" y="5638800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503" name="Line 351"/>
          <p:cNvSpPr>
            <a:spLocks noChangeShapeType="1"/>
          </p:cNvSpPr>
          <p:nvPr/>
        </p:nvSpPr>
        <p:spPr bwMode="auto">
          <a:xfrm>
            <a:off x="7108825" y="4659313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504" name="Freeform 352"/>
          <p:cNvSpPr>
            <a:spLocks/>
          </p:cNvSpPr>
          <p:nvPr/>
        </p:nvSpPr>
        <p:spPr bwMode="auto">
          <a:xfrm>
            <a:off x="6702425" y="4083050"/>
            <a:ext cx="457200" cy="457200"/>
          </a:xfrm>
          <a:custGeom>
            <a:avLst/>
            <a:gdLst>
              <a:gd name="T0" fmla="*/ 967740000 w 216"/>
              <a:gd name="T1" fmla="*/ 0 h 336"/>
              <a:gd name="T2" fmla="*/ 107526667 w 216"/>
              <a:gd name="T3" fmla="*/ 266622439 h 336"/>
              <a:gd name="T4" fmla="*/ 322580000 w 216"/>
              <a:gd name="T5" fmla="*/ 622118571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505" name="Freeform 353"/>
          <p:cNvSpPr>
            <a:spLocks/>
          </p:cNvSpPr>
          <p:nvPr/>
        </p:nvSpPr>
        <p:spPr bwMode="auto">
          <a:xfrm>
            <a:off x="6645275" y="5984875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511" name="Freeform 359"/>
          <p:cNvSpPr>
            <a:spLocks/>
          </p:cNvSpPr>
          <p:nvPr/>
        </p:nvSpPr>
        <p:spPr bwMode="auto">
          <a:xfrm>
            <a:off x="3249613" y="3392488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512" name="Freeform 360"/>
          <p:cNvSpPr>
            <a:spLocks/>
          </p:cNvSpPr>
          <p:nvPr/>
        </p:nvSpPr>
        <p:spPr bwMode="auto">
          <a:xfrm>
            <a:off x="5608638" y="3392488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513" name="Freeform 361"/>
          <p:cNvSpPr>
            <a:spLocks/>
          </p:cNvSpPr>
          <p:nvPr/>
        </p:nvSpPr>
        <p:spPr bwMode="auto">
          <a:xfrm>
            <a:off x="1174750" y="5964238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514" name="Freeform 362"/>
          <p:cNvSpPr>
            <a:spLocks/>
          </p:cNvSpPr>
          <p:nvPr/>
        </p:nvSpPr>
        <p:spPr bwMode="auto">
          <a:xfrm>
            <a:off x="6877050" y="5984875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8" grpId="0" animBg="1"/>
      <p:bldP spid="49259" grpId="0" animBg="1"/>
      <p:bldP spid="49311" grpId="0" animBg="1"/>
      <p:bldP spid="49311" grpId="1" animBg="1"/>
      <p:bldP spid="49312" grpId="0" animBg="1"/>
      <p:bldP spid="49312" grpId="1" animBg="1"/>
      <p:bldP spid="49318" grpId="0" animBg="1"/>
      <p:bldP spid="49319" grpId="0" animBg="1"/>
      <p:bldP spid="49320" grpId="0"/>
      <p:bldP spid="49320" grpId="1"/>
      <p:bldP spid="49321" grpId="0" animBg="1"/>
      <p:bldP spid="49322" grpId="0" animBg="1"/>
      <p:bldP spid="49323" grpId="0" animBg="1"/>
      <p:bldP spid="49324" grpId="0" animBg="1"/>
      <p:bldP spid="49325" grpId="0" animBg="1"/>
      <p:bldP spid="49349" grpId="0" animBg="1"/>
      <p:bldP spid="49351" grpId="0"/>
      <p:bldP spid="49352" grpId="0" animBg="1"/>
      <p:bldP spid="49353" grpId="0" animBg="1"/>
      <p:bldP spid="49354" grpId="0" animBg="1"/>
      <p:bldP spid="49355" grpId="0" animBg="1"/>
      <p:bldP spid="49373" grpId="0" animBg="1"/>
      <p:bldP spid="49376" grpId="0"/>
      <p:bldP spid="49377" grpId="0" animBg="1"/>
      <p:bldP spid="49378" grpId="0" animBg="1"/>
      <p:bldP spid="49379" grpId="0" animBg="1"/>
      <p:bldP spid="49380" grpId="0" animBg="1"/>
      <p:bldP spid="49399" grpId="0" animBg="1"/>
      <p:bldP spid="49400" grpId="0" animBg="1"/>
      <p:bldP spid="49401" grpId="0"/>
      <p:bldP spid="49402" grpId="0" animBg="1"/>
      <p:bldP spid="49403" grpId="0" animBg="1"/>
      <p:bldP spid="49404" grpId="0" animBg="1"/>
      <p:bldP spid="49405" grpId="0" animBg="1"/>
      <p:bldP spid="49430" grpId="0" animBg="1"/>
      <p:bldP spid="49430" grpId="1" animBg="1"/>
      <p:bldP spid="49431" grpId="0" animBg="1"/>
      <p:bldP spid="49432" grpId="0" animBg="1"/>
      <p:bldP spid="49433" grpId="0"/>
      <p:bldP spid="49434" grpId="0" animBg="1"/>
      <p:bldP spid="49435" grpId="0" animBg="1"/>
      <p:bldP spid="49436" grpId="0" animBg="1"/>
      <p:bldP spid="49457" grpId="0" animBg="1"/>
      <p:bldP spid="49458" grpId="0"/>
      <p:bldP spid="49459" grpId="0" animBg="1"/>
      <p:bldP spid="49460" grpId="0" animBg="1"/>
      <p:bldP spid="49461" grpId="0" animBg="1"/>
      <p:bldP spid="49479" grpId="0" animBg="1"/>
      <p:bldP spid="49480" grpId="0" animBg="1"/>
      <p:bldP spid="49481" grpId="0" animBg="1"/>
      <p:bldP spid="49482" grpId="0"/>
      <p:bldP spid="49483" grpId="0" animBg="1"/>
      <p:bldP spid="49484" grpId="0" animBg="1"/>
      <p:bldP spid="49485" grpId="0" animBg="1"/>
      <p:bldP spid="49503" grpId="0" animBg="1"/>
      <p:bldP spid="49503" grpId="1" animBg="1"/>
      <p:bldP spid="49504" grpId="0" animBg="1"/>
      <p:bldP spid="49505" grpId="0" animBg="1"/>
      <p:bldP spid="49511" grpId="0" animBg="1"/>
      <p:bldP spid="49511" grpId="1" animBg="1"/>
      <p:bldP spid="49512" grpId="0" animBg="1"/>
      <p:bldP spid="49512" grpId="1" animBg="1"/>
      <p:bldP spid="49513" grpId="0" animBg="1"/>
      <p:bldP spid="49513" grpId="1" animBg="1"/>
      <p:bldP spid="49514" grpId="0" animBg="1"/>
      <p:bldP spid="49514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>
          <a:xfrm>
            <a:off x="573088" y="101600"/>
            <a:ext cx="8204200" cy="9652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Heap sort: example cont’d,</a:t>
            </a:r>
            <a:br>
              <a:rPr lang="en-US" sz="3200">
                <a:solidFill>
                  <a:srgbClr val="3333CC"/>
                </a:solidFill>
                <a:latin typeface="Times New Roman" pitchFamily="18" charset="0"/>
              </a:rPr>
            </a:br>
            <a:r>
              <a:rPr lang="en-US" sz="3200">
                <a:solidFill>
                  <a:srgbClr val="3333CC"/>
                </a:solidFill>
                <a:latin typeface="Times New Roman" pitchFamily="18" charset="0"/>
              </a:rPr>
              <a:t>sorting cont’d</a:t>
            </a:r>
          </a:p>
        </p:txBody>
      </p:sp>
      <p:sp>
        <p:nvSpPr>
          <p:cNvPr id="50342" name="Freeform 166"/>
          <p:cNvSpPr>
            <a:spLocks/>
          </p:cNvSpPr>
          <p:nvPr/>
        </p:nvSpPr>
        <p:spPr bwMode="auto">
          <a:xfrm>
            <a:off x="2325688" y="3429000"/>
            <a:ext cx="403225" cy="115888"/>
          </a:xfrm>
          <a:custGeom>
            <a:avLst/>
            <a:gdLst>
              <a:gd name="T0" fmla="*/ 0 w 144"/>
              <a:gd name="T1" fmla="*/ 0 h 96"/>
              <a:gd name="T2" fmla="*/ 752734270 w 144"/>
              <a:gd name="T3" fmla="*/ 139896131 h 96"/>
              <a:gd name="T4" fmla="*/ 1129100004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43" name="Freeform 167"/>
          <p:cNvSpPr>
            <a:spLocks/>
          </p:cNvSpPr>
          <p:nvPr/>
        </p:nvSpPr>
        <p:spPr bwMode="auto">
          <a:xfrm>
            <a:off x="6127750" y="1643063"/>
            <a:ext cx="806450" cy="519112"/>
          </a:xfrm>
          <a:custGeom>
            <a:avLst/>
            <a:gdLst>
              <a:gd name="T0" fmla="*/ 382134178 w 786"/>
              <a:gd name="T1" fmla="*/ 0 h 689"/>
              <a:gd name="T2" fmla="*/ 764269382 w 786"/>
              <a:gd name="T3" fmla="*/ 206058080 h 689"/>
              <a:gd name="T4" fmla="*/ 0 w 786"/>
              <a:gd name="T5" fmla="*/ 391113597 h 68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86" h="689">
                <a:moveTo>
                  <a:pt x="363" y="0"/>
                </a:moveTo>
                <a:cubicBezTo>
                  <a:pt x="574" y="124"/>
                  <a:pt x="786" y="248"/>
                  <a:pt x="726" y="363"/>
                </a:cubicBezTo>
                <a:cubicBezTo>
                  <a:pt x="666" y="478"/>
                  <a:pt x="333" y="583"/>
                  <a:pt x="0" y="689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29" name="Text Box 169"/>
          <p:cNvSpPr txBox="1">
            <a:spLocks noChangeArrowheads="1"/>
          </p:cNvSpPr>
          <p:nvPr/>
        </p:nvSpPr>
        <p:spPr bwMode="auto">
          <a:xfrm>
            <a:off x="596900" y="1355725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4   4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5 </a:t>
            </a:r>
          </a:p>
        </p:txBody>
      </p:sp>
      <p:sp>
        <p:nvSpPr>
          <p:cNvPr id="26630" name="Line 170"/>
          <p:cNvSpPr>
            <a:spLocks noChangeShapeType="1"/>
          </p:cNvSpPr>
          <p:nvPr/>
        </p:nvSpPr>
        <p:spPr bwMode="auto">
          <a:xfrm flipH="1">
            <a:off x="1054100" y="171291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1" name="Line 171"/>
          <p:cNvSpPr>
            <a:spLocks noChangeShapeType="1"/>
          </p:cNvSpPr>
          <p:nvPr/>
        </p:nvSpPr>
        <p:spPr bwMode="auto">
          <a:xfrm>
            <a:off x="1435100" y="1712913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2" name="Line 172"/>
          <p:cNvSpPr>
            <a:spLocks noChangeShapeType="1"/>
          </p:cNvSpPr>
          <p:nvPr/>
        </p:nvSpPr>
        <p:spPr bwMode="auto">
          <a:xfrm flipH="1">
            <a:off x="825500" y="2246313"/>
            <a:ext cx="76200" cy="228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349" name="Group 173"/>
          <p:cNvGraphicFramePr>
            <a:graphicFrameLocks noGrp="1"/>
          </p:cNvGraphicFramePr>
          <p:nvPr/>
        </p:nvGraphicFramePr>
        <p:xfrm>
          <a:off x="596900" y="3084513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649" name="Freeform 190"/>
          <p:cNvSpPr>
            <a:spLocks/>
          </p:cNvSpPr>
          <p:nvPr/>
        </p:nvSpPr>
        <p:spPr bwMode="auto">
          <a:xfrm>
            <a:off x="711200" y="1528763"/>
            <a:ext cx="457200" cy="457200"/>
          </a:xfrm>
          <a:custGeom>
            <a:avLst/>
            <a:gdLst>
              <a:gd name="T0" fmla="*/ 967740000 w 216"/>
              <a:gd name="T1" fmla="*/ 0 h 336"/>
              <a:gd name="T2" fmla="*/ 107526667 w 216"/>
              <a:gd name="T3" fmla="*/ 266622439 h 336"/>
              <a:gd name="T4" fmla="*/ 322580000 w 216"/>
              <a:gd name="T5" fmla="*/ 622118571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0" name="Freeform 191"/>
          <p:cNvSpPr>
            <a:spLocks/>
          </p:cNvSpPr>
          <p:nvPr/>
        </p:nvSpPr>
        <p:spPr bwMode="auto">
          <a:xfrm>
            <a:off x="654050" y="3430588"/>
            <a:ext cx="228600" cy="152400"/>
          </a:xfrm>
          <a:custGeom>
            <a:avLst/>
            <a:gdLst>
              <a:gd name="T0" fmla="*/ 0 w 144"/>
              <a:gd name="T1" fmla="*/ 0 h 96"/>
              <a:gd name="T2" fmla="*/ 241935000 w 144"/>
              <a:gd name="T3" fmla="*/ 241935000 h 96"/>
              <a:gd name="T4" fmla="*/ 362902500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68" name="Text Box 192"/>
          <p:cNvSpPr txBox="1">
            <a:spLocks noChangeArrowheads="1"/>
          </p:cNvSpPr>
          <p:nvPr/>
        </p:nvSpPr>
        <p:spPr bwMode="auto">
          <a:xfrm>
            <a:off x="2152650" y="1355725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3   4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50369" name="Line 193"/>
          <p:cNvSpPr>
            <a:spLocks noChangeShapeType="1"/>
          </p:cNvSpPr>
          <p:nvPr/>
        </p:nvSpPr>
        <p:spPr bwMode="auto">
          <a:xfrm flipH="1">
            <a:off x="2609850" y="171291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70" name="Line 194"/>
          <p:cNvSpPr>
            <a:spLocks noChangeShapeType="1"/>
          </p:cNvSpPr>
          <p:nvPr/>
        </p:nvSpPr>
        <p:spPr bwMode="auto">
          <a:xfrm>
            <a:off x="2990850" y="1712913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372" name="Group 196"/>
          <p:cNvGraphicFramePr>
            <a:graphicFrameLocks noGrp="1"/>
          </p:cNvGraphicFramePr>
          <p:nvPr/>
        </p:nvGraphicFramePr>
        <p:xfrm>
          <a:off x="2235200" y="3084513"/>
          <a:ext cx="1241425" cy="304800"/>
        </p:xfrm>
        <a:graphic>
          <a:graphicData uri="http://schemas.openxmlformats.org/drawingml/2006/table">
            <a:tbl>
              <a:tblPr/>
              <a:tblGrid>
                <a:gridCol w="207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391" name="Freeform 215"/>
          <p:cNvSpPr>
            <a:spLocks/>
          </p:cNvSpPr>
          <p:nvPr/>
        </p:nvSpPr>
        <p:spPr bwMode="auto">
          <a:xfrm>
            <a:off x="3073400" y="1527175"/>
            <a:ext cx="450850" cy="461963"/>
          </a:xfrm>
          <a:custGeom>
            <a:avLst/>
            <a:gdLst>
              <a:gd name="T0" fmla="*/ 0 w 284"/>
              <a:gd name="T1" fmla="*/ 0 h 291"/>
              <a:gd name="T2" fmla="*/ 640119688 w 284"/>
              <a:gd name="T3" fmla="*/ 183972399 h 291"/>
              <a:gd name="T4" fmla="*/ 458668438 w 284"/>
              <a:gd name="T5" fmla="*/ 733367056 h 29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4" h="291">
                <a:moveTo>
                  <a:pt x="0" y="0"/>
                </a:moveTo>
                <a:cubicBezTo>
                  <a:pt x="112" y="12"/>
                  <a:pt x="224" y="25"/>
                  <a:pt x="254" y="73"/>
                </a:cubicBezTo>
                <a:cubicBezTo>
                  <a:pt x="284" y="121"/>
                  <a:pt x="233" y="206"/>
                  <a:pt x="182" y="291"/>
                </a:cubicBezTo>
              </a:path>
            </a:pathLst>
          </a:custGeom>
          <a:noFill/>
          <a:ln w="1905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93" name="Text Box 217"/>
          <p:cNvSpPr txBox="1">
            <a:spLocks noChangeArrowheads="1"/>
          </p:cNvSpPr>
          <p:nvPr/>
        </p:nvSpPr>
        <p:spPr bwMode="auto">
          <a:xfrm>
            <a:off x="3938588" y="1357313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3   4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50394" name="Line 218"/>
          <p:cNvSpPr>
            <a:spLocks noChangeShapeType="1"/>
          </p:cNvSpPr>
          <p:nvPr/>
        </p:nvSpPr>
        <p:spPr bwMode="auto">
          <a:xfrm flipH="1">
            <a:off x="4395788" y="1712913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395" name="Line 219"/>
          <p:cNvSpPr>
            <a:spLocks noChangeShapeType="1"/>
          </p:cNvSpPr>
          <p:nvPr/>
        </p:nvSpPr>
        <p:spPr bwMode="auto">
          <a:xfrm>
            <a:off x="4776788" y="1712913"/>
            <a:ext cx="228600" cy="228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419" name="Group 243"/>
          <p:cNvGraphicFramePr>
            <a:graphicFrameLocks noGrp="1"/>
          </p:cNvGraphicFramePr>
          <p:nvPr/>
        </p:nvGraphicFramePr>
        <p:xfrm>
          <a:off x="4021138" y="3084513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420" name="Text Box 244"/>
          <p:cNvSpPr txBox="1">
            <a:spLocks noChangeArrowheads="1"/>
          </p:cNvSpPr>
          <p:nvPr/>
        </p:nvSpPr>
        <p:spPr bwMode="auto">
          <a:xfrm>
            <a:off x="5551488" y="1355725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4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3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50421" name="Line 245"/>
          <p:cNvSpPr>
            <a:spLocks noChangeShapeType="1"/>
          </p:cNvSpPr>
          <p:nvPr/>
        </p:nvSpPr>
        <p:spPr bwMode="auto">
          <a:xfrm flipH="1">
            <a:off x="6065838" y="171132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423" name="Group 247"/>
          <p:cNvGraphicFramePr>
            <a:graphicFrameLocks noGrp="1"/>
          </p:cNvGraphicFramePr>
          <p:nvPr/>
        </p:nvGraphicFramePr>
        <p:xfrm>
          <a:off x="5691188" y="3082925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439" name="Freeform 263"/>
          <p:cNvSpPr>
            <a:spLocks/>
          </p:cNvSpPr>
          <p:nvPr/>
        </p:nvSpPr>
        <p:spPr bwMode="auto">
          <a:xfrm>
            <a:off x="5781675" y="3429000"/>
            <a:ext cx="230188" cy="173038"/>
          </a:xfrm>
          <a:custGeom>
            <a:avLst/>
            <a:gdLst>
              <a:gd name="T0" fmla="*/ 0 w 144"/>
              <a:gd name="T1" fmla="*/ 0 h 96"/>
              <a:gd name="T2" fmla="*/ 245308474 w 144"/>
              <a:gd name="T3" fmla="*/ 311897390 h 96"/>
              <a:gd name="T4" fmla="*/ 367961912 w 144"/>
              <a:gd name="T5" fmla="*/ 0 h 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96">
                <a:moveTo>
                  <a:pt x="0" y="0"/>
                </a:moveTo>
                <a:cubicBezTo>
                  <a:pt x="36" y="48"/>
                  <a:pt x="72" y="96"/>
                  <a:pt x="96" y="96"/>
                </a:cubicBezTo>
                <a:cubicBezTo>
                  <a:pt x="120" y="96"/>
                  <a:pt x="132" y="48"/>
                  <a:pt x="144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441" name="Text Box 265"/>
          <p:cNvSpPr txBox="1">
            <a:spLocks noChangeArrowheads="1"/>
          </p:cNvSpPr>
          <p:nvPr/>
        </p:nvSpPr>
        <p:spPr bwMode="auto">
          <a:xfrm>
            <a:off x="7194550" y="1300163"/>
            <a:ext cx="12954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5pPr>
            <a:lvl6pPr marL="25146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6pPr>
            <a:lvl7pPr marL="29718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7pPr>
            <a:lvl8pPr marL="34290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8pPr>
            <a:lvl9pPr marL="3886200" indent="-228600" eaLnBrk="0" fontAlgn="base" hangingPunct="0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 Unicode MS" pitchFamily="34" charset="-128"/>
                <a:cs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  3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4  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50442" name="Line 266"/>
          <p:cNvSpPr>
            <a:spLocks noChangeShapeType="1"/>
          </p:cNvSpPr>
          <p:nvPr/>
        </p:nvSpPr>
        <p:spPr bwMode="auto">
          <a:xfrm flipH="1">
            <a:off x="7678738" y="1711325"/>
            <a:ext cx="152400" cy="2286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0464" name="Group 288"/>
          <p:cNvGraphicFramePr>
            <a:graphicFrameLocks noGrp="1"/>
          </p:cNvGraphicFramePr>
          <p:nvPr/>
        </p:nvGraphicFramePr>
        <p:xfrm>
          <a:off x="7304088" y="3082925"/>
          <a:ext cx="1241425" cy="304800"/>
        </p:xfrm>
        <a:graphic>
          <a:graphicData uri="http://schemas.openxmlformats.org/drawingml/2006/table">
            <a:tbl>
              <a:tblPr/>
              <a:tblGrid>
                <a:gridCol w="207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79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</a:t>
                      </a:r>
                    </a:p>
                  </a:txBody>
                  <a:tcPr marL="9144" marR="9144" marT="9144" marB="914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7</a:t>
                      </a:r>
                    </a:p>
                  </a:txBody>
                  <a:tcPr marL="9144" marR="9144" marT="9144" marB="9144" anchor="ctr" horzOverflow="overflow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470" name="Freeform 294"/>
          <p:cNvSpPr>
            <a:spLocks/>
          </p:cNvSpPr>
          <p:nvPr/>
        </p:nvSpPr>
        <p:spPr bwMode="auto">
          <a:xfrm>
            <a:off x="5665788" y="1589088"/>
            <a:ext cx="457200" cy="457200"/>
          </a:xfrm>
          <a:custGeom>
            <a:avLst/>
            <a:gdLst>
              <a:gd name="T0" fmla="*/ 967740000 w 216"/>
              <a:gd name="T1" fmla="*/ 0 h 336"/>
              <a:gd name="T2" fmla="*/ 107526667 w 216"/>
              <a:gd name="T3" fmla="*/ 266622439 h 336"/>
              <a:gd name="T4" fmla="*/ 322580000 w 216"/>
              <a:gd name="T5" fmla="*/ 622118571 h 3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" h="336">
                <a:moveTo>
                  <a:pt x="216" y="0"/>
                </a:moveTo>
                <a:cubicBezTo>
                  <a:pt x="132" y="44"/>
                  <a:pt x="48" y="88"/>
                  <a:pt x="24" y="144"/>
                </a:cubicBezTo>
                <a:cubicBezTo>
                  <a:pt x="0" y="200"/>
                  <a:pt x="36" y="268"/>
                  <a:pt x="72" y="336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42" grpId="0" animBg="1"/>
      <p:bldP spid="50343" grpId="0" animBg="1"/>
      <p:bldP spid="50368" grpId="0"/>
      <p:bldP spid="50369" grpId="0" animBg="1"/>
      <p:bldP spid="50370" grpId="0" animBg="1"/>
      <p:bldP spid="50391" grpId="0" animBg="1"/>
      <p:bldP spid="50393" grpId="0"/>
      <p:bldP spid="50394" grpId="0" animBg="1"/>
      <p:bldP spid="50395" grpId="0" animBg="1"/>
      <p:bldP spid="50420" grpId="0"/>
      <p:bldP spid="50421" grpId="0" animBg="1"/>
      <p:bldP spid="50439" grpId="0" animBg="1"/>
      <p:bldP spid="50441" grpId="0"/>
      <p:bldP spid="50442" grpId="0" animBg="1"/>
      <p:bldP spid="50470" grpId="0" animBg="1"/>
      <p:bldP spid="5047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>
          <a:xfrm>
            <a:off x="769938" y="274638"/>
            <a:ext cx="7527925" cy="677862"/>
          </a:xfr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sz="3200">
                <a:solidFill>
                  <a:schemeClr val="accent2"/>
                </a:solidFill>
                <a:latin typeface="Times New Roman" pitchFamily="18" charset="0"/>
              </a:rPr>
              <a:t>Sorting methods: comparison of runtimes</a:t>
            </a:r>
          </a:p>
        </p:txBody>
      </p:sp>
      <p:graphicFrame>
        <p:nvGraphicFramePr>
          <p:cNvPr id="57416" name="Group 72"/>
          <p:cNvGraphicFramePr>
            <a:graphicFrameLocks noGrp="1"/>
          </p:cNvGraphicFramePr>
          <p:nvPr>
            <p:ph idx="1"/>
          </p:nvPr>
        </p:nvGraphicFramePr>
        <p:xfrm>
          <a:off x="769938" y="1117600"/>
          <a:ext cx="7566025" cy="5070647"/>
        </p:xfrm>
        <a:graphic>
          <a:graphicData uri="http://schemas.openxmlformats.org/drawingml/2006/table">
            <a:tbl>
              <a:tblPr/>
              <a:tblGrid>
                <a:gridCol w="189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0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cs typeface="Arial" charset="0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cs typeface="Arial" charset="0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80,000</a:t>
                      </a:r>
                    </a:p>
                  </a:txBody>
                  <a:tcPr marT="45716" marB="45716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cs typeface="Arial" charset="0"/>
                      </a:endParaRPr>
                    </a:p>
                  </a:txBody>
                  <a:tcPr marT="45716" marB="45716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cs typeface="Arial" charset="0"/>
                      </a:endParaRP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ascending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random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descending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9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insertionsort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selectionsort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bubblesort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combsort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Shellsort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heapsort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mergesort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quicksort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quicksort2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radixsort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bitRadixsort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radixsort2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bitRadixsort2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countingsort </a:t>
                      </a:r>
                    </a:p>
                  </a:txBody>
                  <a:tcPr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.11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56 m 8.09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52 m 6.90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.67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1.32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3.63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2.19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.93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.77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10.98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28.40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1.16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1.83 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.22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29 m 2.73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67 m 21.31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87 m 9.62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6.52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2.75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4.56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3.35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2.04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1.92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10.82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31.04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1.26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2.42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.57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29 m 36.13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56 m 49.94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83 m 6.68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3.10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1.59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3.35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2.20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.99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.82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10.00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29.00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1.15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1.98</a:t>
                      </a: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cs typeface="Arial" charset="0"/>
                        </a:rPr>
                        <a:t>.20 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5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8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342900" marR="0" indent="-342900" algn="l" defTabSz="914400" rtl="0" eaLnBrk="1" fontAlgn="base" latinLnBrk="0" hangingPunct="1">
          <a:lnSpc>
            <a:spcPct val="5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8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10386</TotalTime>
  <Words>2037</Words>
  <Application>Microsoft Office PowerPoint</Application>
  <PresentationFormat>On-screen Show (4:3)</PresentationFormat>
  <Paragraphs>787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Unicode MS</vt:lpstr>
      <vt:lpstr>Courier New</vt:lpstr>
      <vt:lpstr>Times New Roman</vt:lpstr>
      <vt:lpstr>Default Design</vt:lpstr>
      <vt:lpstr>Insertion sort: algorithm</vt:lpstr>
      <vt:lpstr>Insertion sort: example</vt:lpstr>
      <vt:lpstr>Selection sort: algorithm</vt:lpstr>
      <vt:lpstr>Selection sort: example</vt:lpstr>
      <vt:lpstr>Bubble sort: algorithm</vt:lpstr>
      <vt:lpstr>Bubble sort: example</vt:lpstr>
      <vt:lpstr>Basic sorting algorithms: comparison</vt:lpstr>
      <vt:lpstr>Divide-and-conquer sorting</vt:lpstr>
      <vt:lpstr>Merging ordered arrays into one array</vt:lpstr>
      <vt:lpstr>Mergesort: algorithm</vt:lpstr>
      <vt:lpstr>Mergesort: example</vt:lpstr>
      <vt:lpstr>Mergesort: computational complexity</vt:lpstr>
      <vt:lpstr>Quicksort: algorithm</vt:lpstr>
      <vt:lpstr>Quicksort: implementation</vt:lpstr>
      <vt:lpstr>PowerPoint Presentation</vt:lpstr>
      <vt:lpstr>Quicksort: example</vt:lpstr>
      <vt:lpstr>Quicksort: computational complexity</vt:lpstr>
      <vt:lpstr>Heap sort</vt:lpstr>
      <vt:lpstr>Heap sort: example, transforming data into a heap</vt:lpstr>
      <vt:lpstr>Heap sort: example cont’d, sorting</vt:lpstr>
      <vt:lpstr>Heap sort: example cont’d, sorting cont’d</vt:lpstr>
      <vt:lpstr>Sorting methods: comparison of runtimes</vt:lpstr>
    </vt:vector>
  </TitlesOfParts>
  <Company>Duquesne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Adam Drozdek</dc:creator>
  <cp:lastModifiedBy>Adam Drozdek</cp:lastModifiedBy>
  <cp:revision>58</cp:revision>
  <dcterms:created xsi:type="dcterms:W3CDTF">2007-11-14T13:20:59Z</dcterms:created>
  <dcterms:modified xsi:type="dcterms:W3CDTF">2024-11-19T13:48:50Z</dcterms:modified>
</cp:coreProperties>
</file>