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9"/>
  </p:notesMasterIdLst>
  <p:handoutMasterIdLst>
    <p:handoutMasterId r:id="rId10"/>
  </p:handoutMasterIdLst>
  <p:sldIdLst>
    <p:sldId id="296" r:id="rId2"/>
    <p:sldId id="269" r:id="rId3"/>
    <p:sldId id="278" r:id="rId4"/>
    <p:sldId id="271" r:id="rId5"/>
    <p:sldId id="272" r:id="rId6"/>
    <p:sldId id="305" r:id="rId7"/>
    <p:sldId id="306" r:id="rId8"/>
  </p:sldIdLst>
  <p:sldSz cx="9144000" cy="6858000" type="screen4x3"/>
  <p:notesSz cx="6954838" cy="93091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33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2" autoAdjust="0"/>
    <p:restoredTop sz="93367" autoAdjust="0"/>
  </p:normalViewPr>
  <p:slideViewPr>
    <p:cSldViewPr>
      <p:cViewPr varScale="1">
        <p:scale>
          <a:sx n="74" d="100"/>
          <a:sy n="74" d="100"/>
        </p:scale>
        <p:origin x="11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291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0548" y="0"/>
            <a:ext cx="3014290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4202"/>
            <a:ext cx="3014291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0548" y="8844202"/>
            <a:ext cx="3014290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A4FC305-6F9A-437F-9A1D-228C9BAAB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9289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839" y="4421306"/>
            <a:ext cx="5099161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949" tIns="46474" rIns="92949" bIns="46474"/>
          <a:lstStyle/>
          <a:p>
            <a:r>
              <a:rPr lang="en-US"/>
              <a:t>Section 6.7.1.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An abbreviated version is shown in Figure 6.37.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Section 6.8.1.</a:t>
            </a:r>
          </a:p>
          <a:p>
            <a:r>
              <a:rPr lang="en-US"/>
              <a:t>Single rotation: Figure 6.46a.</a:t>
            </a:r>
          </a:p>
          <a:p>
            <a:r>
              <a:rPr lang="en-US"/>
              <a:t>Move to the root: Figure 6.46b.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Cf. Figure 6.46.</a:t>
            </a:r>
          </a:p>
          <a:p>
            <a:r>
              <a:rPr lang="en-US"/>
              <a:t>Homework: use the move-to-root method to delete from the first tree number 3 and then number 7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symmetric case to Figure 6.41.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symmetric case to Figure 6.42.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9F8DF-092D-4237-BC96-A6A4DCF43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13B43-DE12-451A-835C-91D5744157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2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57FA3-1FC6-4189-8D7E-C4E7A31E3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0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D73DE-7E52-4800-9C8C-B21A3D803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4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90B70-46D5-48DE-92DC-B721F6A84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3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3BB14-AD7C-49C2-9C22-69615C8FE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3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024DB-BE71-4CF4-9950-51F9250D7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2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2799C-C7C9-48B8-9C9D-18D83D762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3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C75AD-9978-4156-B037-6787867B2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3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E3DC3-6A8E-417A-A7FC-5689CAD4CB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31435-38DD-4246-A98D-EB9338DE2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4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EAE9F-B518-49D2-98EC-0EDA8F410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41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34EE1-33EE-429B-B0FC-41EA8AF361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5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C06EF-B83C-4A08-8D1E-A6E40B5738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3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C1E56-D646-4BA3-953A-CB00D1C57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3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fld id="{C35B52D5-8D8C-480E-B589-5B5CE027F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ü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609600"/>
            <a:ext cx="8526462" cy="5143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sz="4000"/>
              <a:t>Rotations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6388" y="1970088"/>
            <a:ext cx="8643937" cy="27368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>
                <a:latin typeface="Courier New" pitchFamily="49" charset="0"/>
              </a:rPr>
              <a:t>rotateRight(G,P,C)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	</a:t>
            </a:r>
            <a:r>
              <a:rPr lang="en-US" sz="2700">
                <a:latin typeface="Courier New" pitchFamily="49" charset="0"/>
              </a:rPr>
              <a:t>if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</a:t>
            </a:r>
            <a:r>
              <a:rPr lang="en-US" sz="2700"/>
              <a:t> </a:t>
            </a:r>
            <a:r>
              <a:rPr lang="en-US" sz="2700" i="1"/>
              <a:t>is</a:t>
            </a:r>
            <a:r>
              <a:rPr lang="en-US" sz="2700"/>
              <a:t> </a:t>
            </a:r>
            <a:r>
              <a:rPr lang="en-US" sz="2700" i="1"/>
              <a:t>not the root of the tree</a:t>
            </a:r>
            <a:r>
              <a:rPr lang="en-US" sz="2700"/>
              <a:t> // i.e., if </a:t>
            </a:r>
            <a:r>
              <a:rPr lang="en-US" sz="2700">
                <a:latin typeface="Courier New" pitchFamily="49" charset="0"/>
              </a:rPr>
              <a:t>G</a:t>
            </a:r>
            <a:r>
              <a:rPr lang="en-US" sz="2700"/>
              <a:t> is not null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1.		</a:t>
            </a:r>
            <a:r>
              <a:rPr lang="en-US" sz="2700" i="1"/>
              <a:t>grandparent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G</a:t>
            </a:r>
            <a:r>
              <a:rPr lang="en-US" sz="2700"/>
              <a:t> </a:t>
            </a:r>
            <a:r>
              <a:rPr lang="en-US" sz="2700" i="1"/>
              <a:t>of child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becomes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 i="1"/>
              <a:t>’s parent by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 i="1"/>
              <a:t>		replacing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P;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2.	</a:t>
            </a:r>
            <a:r>
              <a:rPr lang="en-US" sz="2700" i="1"/>
              <a:t>right subtree of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becomes left subtree of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’</a:t>
            </a:r>
            <a:r>
              <a:rPr lang="en-US" sz="2700" i="1"/>
              <a:t>s</a:t>
            </a:r>
            <a:r>
              <a:rPr lang="en-US" sz="2700"/>
              <a:t> </a:t>
            </a:r>
            <a:r>
              <a:rPr lang="en-US" sz="2700" i="1"/>
              <a:t>parent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P;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3.	</a:t>
            </a:r>
            <a:r>
              <a:rPr lang="en-US" sz="2700" i="1"/>
              <a:t>node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acquires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</a:t>
            </a:r>
            <a:r>
              <a:rPr lang="en-US" sz="2700"/>
              <a:t> </a:t>
            </a:r>
            <a:r>
              <a:rPr lang="en-US" sz="2700" i="1"/>
              <a:t>as its right child</a:t>
            </a:r>
            <a:r>
              <a:rPr lang="en-US" sz="2700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447800" y="152400"/>
            <a:ext cx="6400800" cy="588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3200" b="0">
                <a:solidFill>
                  <a:schemeClr val="accent2"/>
                </a:solidFill>
              </a:rPr>
              <a:t>Step-by-step right rotation</a:t>
            </a:r>
          </a:p>
        </p:txBody>
      </p:sp>
      <p:sp>
        <p:nvSpPr>
          <p:cNvPr id="21507" name="AutoShape 3"/>
          <p:cNvSpPr>
            <a:spLocks noChangeArrowheads="1"/>
          </p:cNvSpPr>
          <p:nvPr/>
        </p:nvSpPr>
        <p:spPr bwMode="auto">
          <a:xfrm>
            <a:off x="3048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334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12954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5240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1511" name="AutoShape 7"/>
          <p:cNvSpPr>
            <a:spLocks noChangeArrowheads="1"/>
          </p:cNvSpPr>
          <p:nvPr/>
        </p:nvSpPr>
        <p:spPr bwMode="auto">
          <a:xfrm>
            <a:off x="22860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5146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12192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1230313" y="8937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19050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1922463" y="15081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10668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1076325" y="197008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731838" y="2362200"/>
            <a:ext cx="411162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H="1" flipV="1">
            <a:off x="1447800" y="2362200"/>
            <a:ext cx="257175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V="1">
            <a:off x="14478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 flipH="1" flipV="1">
            <a:off x="2309813" y="1905000"/>
            <a:ext cx="381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 flipH="1" flipV="1">
            <a:off x="1600200" y="1295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6" name="AutoShape 20"/>
          <p:cNvSpPr>
            <a:spLocks noChangeArrowheads="1"/>
          </p:cNvSpPr>
          <p:nvPr/>
        </p:nvSpPr>
        <p:spPr bwMode="auto">
          <a:xfrm>
            <a:off x="32004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34290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678" name="AutoShape 22"/>
          <p:cNvSpPr>
            <a:spLocks noChangeArrowheads="1"/>
          </p:cNvSpPr>
          <p:nvPr/>
        </p:nvSpPr>
        <p:spPr bwMode="auto">
          <a:xfrm>
            <a:off x="41910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44196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680" name="AutoShape 24"/>
          <p:cNvSpPr>
            <a:spLocks noChangeArrowheads="1"/>
          </p:cNvSpPr>
          <p:nvPr/>
        </p:nvSpPr>
        <p:spPr bwMode="auto">
          <a:xfrm>
            <a:off x="51816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1" name="Text Box 25"/>
          <p:cNvSpPr txBox="1">
            <a:spLocks noChangeArrowheads="1"/>
          </p:cNvSpPr>
          <p:nvPr/>
        </p:nvSpPr>
        <p:spPr bwMode="auto">
          <a:xfrm>
            <a:off x="54102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682" name="Oval 26"/>
          <p:cNvSpPr>
            <a:spLocks noChangeArrowheads="1"/>
          </p:cNvSpPr>
          <p:nvPr/>
        </p:nvSpPr>
        <p:spPr bwMode="auto">
          <a:xfrm>
            <a:off x="41148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41148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684" name="Oval 28"/>
          <p:cNvSpPr>
            <a:spLocks noChangeArrowheads="1"/>
          </p:cNvSpPr>
          <p:nvPr/>
        </p:nvSpPr>
        <p:spPr bwMode="auto">
          <a:xfrm>
            <a:off x="48006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5" name="Text Box 29"/>
          <p:cNvSpPr txBox="1">
            <a:spLocks noChangeArrowheads="1"/>
          </p:cNvSpPr>
          <p:nvPr/>
        </p:nvSpPr>
        <p:spPr bwMode="auto">
          <a:xfrm>
            <a:off x="4805363" y="152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686" name="Oval 30"/>
          <p:cNvSpPr>
            <a:spLocks noChangeArrowheads="1"/>
          </p:cNvSpPr>
          <p:nvPr/>
        </p:nvSpPr>
        <p:spPr bwMode="auto">
          <a:xfrm>
            <a:off x="39624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7" name="Text Box 31"/>
          <p:cNvSpPr txBox="1">
            <a:spLocks noChangeArrowheads="1"/>
          </p:cNvSpPr>
          <p:nvPr/>
        </p:nvSpPr>
        <p:spPr bwMode="auto">
          <a:xfrm>
            <a:off x="3960813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688" name="Line 32"/>
          <p:cNvSpPr>
            <a:spLocks noChangeShapeType="1"/>
          </p:cNvSpPr>
          <p:nvPr/>
        </p:nvSpPr>
        <p:spPr bwMode="auto">
          <a:xfrm flipV="1">
            <a:off x="3619500" y="2362200"/>
            <a:ext cx="419100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 flipH="1" flipV="1">
            <a:off x="4343400" y="2362200"/>
            <a:ext cx="266700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 flipV="1">
            <a:off x="43434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1" name="Line 35"/>
          <p:cNvSpPr>
            <a:spLocks noChangeShapeType="1"/>
          </p:cNvSpPr>
          <p:nvPr/>
        </p:nvSpPr>
        <p:spPr bwMode="auto">
          <a:xfrm flipH="1" flipV="1">
            <a:off x="5181600" y="1905000"/>
            <a:ext cx="417513" cy="236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2" name="Line 36"/>
          <p:cNvSpPr>
            <a:spLocks noChangeShapeType="1"/>
          </p:cNvSpPr>
          <p:nvPr/>
        </p:nvSpPr>
        <p:spPr bwMode="auto">
          <a:xfrm flipH="1">
            <a:off x="4191000" y="1371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3" name="AutoShape 37"/>
          <p:cNvSpPr>
            <a:spLocks noChangeArrowheads="1"/>
          </p:cNvSpPr>
          <p:nvPr/>
        </p:nvSpPr>
        <p:spPr bwMode="auto">
          <a:xfrm>
            <a:off x="60960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4" name="Text Box 38"/>
          <p:cNvSpPr txBox="1">
            <a:spLocks noChangeArrowheads="1"/>
          </p:cNvSpPr>
          <p:nvPr/>
        </p:nvSpPr>
        <p:spPr bwMode="auto">
          <a:xfrm>
            <a:off x="63246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695" name="AutoShape 39"/>
          <p:cNvSpPr>
            <a:spLocks noChangeArrowheads="1"/>
          </p:cNvSpPr>
          <p:nvPr/>
        </p:nvSpPr>
        <p:spPr bwMode="auto">
          <a:xfrm>
            <a:off x="7037388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6" name="Text Box 40"/>
          <p:cNvSpPr txBox="1">
            <a:spLocks noChangeArrowheads="1"/>
          </p:cNvSpPr>
          <p:nvPr/>
        </p:nvSpPr>
        <p:spPr bwMode="auto">
          <a:xfrm>
            <a:off x="7265988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697" name="AutoShape 41"/>
          <p:cNvSpPr>
            <a:spLocks noChangeArrowheads="1"/>
          </p:cNvSpPr>
          <p:nvPr/>
        </p:nvSpPr>
        <p:spPr bwMode="auto">
          <a:xfrm>
            <a:off x="80772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8" name="Text Box 42"/>
          <p:cNvSpPr txBox="1">
            <a:spLocks noChangeArrowheads="1"/>
          </p:cNvSpPr>
          <p:nvPr/>
        </p:nvSpPr>
        <p:spPr bwMode="auto">
          <a:xfrm>
            <a:off x="83058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699" name="Oval 43"/>
          <p:cNvSpPr>
            <a:spLocks noChangeArrowheads="1"/>
          </p:cNvSpPr>
          <p:nvPr/>
        </p:nvSpPr>
        <p:spPr bwMode="auto">
          <a:xfrm>
            <a:off x="70104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0" name="Text Box 44"/>
          <p:cNvSpPr txBox="1">
            <a:spLocks noChangeArrowheads="1"/>
          </p:cNvSpPr>
          <p:nvPr/>
        </p:nvSpPr>
        <p:spPr bwMode="auto">
          <a:xfrm>
            <a:off x="7034213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01" name="Oval 45"/>
          <p:cNvSpPr>
            <a:spLocks noChangeArrowheads="1"/>
          </p:cNvSpPr>
          <p:nvPr/>
        </p:nvSpPr>
        <p:spPr bwMode="auto">
          <a:xfrm>
            <a:off x="76962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7724775" y="152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03" name="Oval 47"/>
          <p:cNvSpPr>
            <a:spLocks noChangeArrowheads="1"/>
          </p:cNvSpPr>
          <p:nvPr/>
        </p:nvSpPr>
        <p:spPr bwMode="auto">
          <a:xfrm>
            <a:off x="68580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4" name="Text Box 48"/>
          <p:cNvSpPr txBox="1">
            <a:spLocks noChangeArrowheads="1"/>
          </p:cNvSpPr>
          <p:nvPr/>
        </p:nvSpPr>
        <p:spPr bwMode="auto">
          <a:xfrm>
            <a:off x="6880225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05" name="Line 49"/>
          <p:cNvSpPr>
            <a:spLocks noChangeShapeType="1"/>
          </p:cNvSpPr>
          <p:nvPr/>
        </p:nvSpPr>
        <p:spPr bwMode="auto">
          <a:xfrm flipV="1">
            <a:off x="6521450" y="2362200"/>
            <a:ext cx="4127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6" name="Line 50"/>
          <p:cNvSpPr>
            <a:spLocks noChangeShapeType="1"/>
          </p:cNvSpPr>
          <p:nvPr/>
        </p:nvSpPr>
        <p:spPr bwMode="auto">
          <a:xfrm flipH="1" flipV="1">
            <a:off x="7239000" y="2362200"/>
            <a:ext cx="2286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7" name="Line 51"/>
          <p:cNvSpPr>
            <a:spLocks noChangeShapeType="1"/>
          </p:cNvSpPr>
          <p:nvPr/>
        </p:nvSpPr>
        <p:spPr bwMode="auto">
          <a:xfrm flipV="1">
            <a:off x="72390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8" name="Line 52"/>
          <p:cNvSpPr>
            <a:spLocks noChangeShapeType="1"/>
          </p:cNvSpPr>
          <p:nvPr/>
        </p:nvSpPr>
        <p:spPr bwMode="auto">
          <a:xfrm flipH="1" flipV="1">
            <a:off x="8077200" y="1905000"/>
            <a:ext cx="412750" cy="217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9" name="Line 53"/>
          <p:cNvSpPr>
            <a:spLocks noChangeShapeType="1"/>
          </p:cNvSpPr>
          <p:nvPr/>
        </p:nvSpPr>
        <p:spPr bwMode="auto">
          <a:xfrm flipH="1">
            <a:off x="7086600" y="1371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0" name="Line 54"/>
          <p:cNvSpPr>
            <a:spLocks noChangeShapeType="1"/>
          </p:cNvSpPr>
          <p:nvPr/>
        </p:nvSpPr>
        <p:spPr bwMode="auto">
          <a:xfrm flipV="1">
            <a:off x="7467600" y="1970088"/>
            <a:ext cx="368300" cy="696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1" name="Line 55"/>
          <p:cNvSpPr>
            <a:spLocks noChangeShapeType="1"/>
          </p:cNvSpPr>
          <p:nvPr/>
        </p:nvSpPr>
        <p:spPr bwMode="auto">
          <a:xfrm flipH="1" flipV="1">
            <a:off x="4495800" y="1295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2" name="AutoShape 56"/>
          <p:cNvSpPr>
            <a:spLocks noChangeArrowheads="1"/>
          </p:cNvSpPr>
          <p:nvPr/>
        </p:nvSpPr>
        <p:spPr bwMode="auto">
          <a:xfrm>
            <a:off x="990600" y="5715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3" name="Text Box 57"/>
          <p:cNvSpPr txBox="1">
            <a:spLocks noChangeArrowheads="1"/>
          </p:cNvSpPr>
          <p:nvPr/>
        </p:nvSpPr>
        <p:spPr bwMode="auto">
          <a:xfrm>
            <a:off x="1219200" y="5867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714" name="AutoShape 58"/>
          <p:cNvSpPr>
            <a:spLocks noChangeArrowheads="1"/>
          </p:cNvSpPr>
          <p:nvPr/>
        </p:nvSpPr>
        <p:spPr bwMode="auto">
          <a:xfrm>
            <a:off x="1936750" y="5715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5" name="Text Box 59"/>
          <p:cNvSpPr txBox="1">
            <a:spLocks noChangeArrowheads="1"/>
          </p:cNvSpPr>
          <p:nvPr/>
        </p:nvSpPr>
        <p:spPr bwMode="auto">
          <a:xfrm>
            <a:off x="2165350" y="5867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716" name="AutoShape 60"/>
          <p:cNvSpPr>
            <a:spLocks noChangeArrowheads="1"/>
          </p:cNvSpPr>
          <p:nvPr/>
        </p:nvSpPr>
        <p:spPr bwMode="auto">
          <a:xfrm>
            <a:off x="2971800" y="5181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7" name="Text Box 61"/>
          <p:cNvSpPr txBox="1">
            <a:spLocks noChangeArrowheads="1"/>
          </p:cNvSpPr>
          <p:nvPr/>
        </p:nvSpPr>
        <p:spPr bwMode="auto">
          <a:xfrm>
            <a:off x="3200400" y="533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718" name="Oval 62"/>
          <p:cNvSpPr>
            <a:spLocks noChangeArrowheads="1"/>
          </p:cNvSpPr>
          <p:nvPr/>
        </p:nvSpPr>
        <p:spPr bwMode="auto">
          <a:xfrm>
            <a:off x="1905000" y="3962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9" name="Text Box 63"/>
          <p:cNvSpPr txBox="1">
            <a:spLocks noChangeArrowheads="1"/>
          </p:cNvSpPr>
          <p:nvPr/>
        </p:nvSpPr>
        <p:spPr bwMode="auto">
          <a:xfrm>
            <a:off x="1925638" y="39671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20" name="Oval 64"/>
          <p:cNvSpPr>
            <a:spLocks noChangeArrowheads="1"/>
          </p:cNvSpPr>
          <p:nvPr/>
        </p:nvSpPr>
        <p:spPr bwMode="auto">
          <a:xfrm>
            <a:off x="2590800" y="4572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1" name="Text Box 65"/>
          <p:cNvSpPr txBox="1">
            <a:spLocks noChangeArrowheads="1"/>
          </p:cNvSpPr>
          <p:nvPr/>
        </p:nvSpPr>
        <p:spPr bwMode="auto">
          <a:xfrm>
            <a:off x="2613025" y="45815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22" name="Oval 66"/>
          <p:cNvSpPr>
            <a:spLocks noChangeArrowheads="1"/>
          </p:cNvSpPr>
          <p:nvPr/>
        </p:nvSpPr>
        <p:spPr bwMode="auto">
          <a:xfrm>
            <a:off x="1752600" y="5029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3" name="Text Box 67"/>
          <p:cNvSpPr txBox="1">
            <a:spLocks noChangeArrowheads="1"/>
          </p:cNvSpPr>
          <p:nvPr/>
        </p:nvSpPr>
        <p:spPr bwMode="auto">
          <a:xfrm>
            <a:off x="1733550" y="50450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24" name="Line 68"/>
          <p:cNvSpPr>
            <a:spLocks noChangeShapeType="1"/>
          </p:cNvSpPr>
          <p:nvPr/>
        </p:nvSpPr>
        <p:spPr bwMode="auto">
          <a:xfrm flipV="1">
            <a:off x="1408113" y="5410200"/>
            <a:ext cx="420687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5" name="Line 69"/>
          <p:cNvSpPr>
            <a:spLocks noChangeShapeType="1"/>
          </p:cNvSpPr>
          <p:nvPr/>
        </p:nvSpPr>
        <p:spPr bwMode="auto">
          <a:xfrm flipH="1" flipV="1">
            <a:off x="2133600" y="5410200"/>
            <a:ext cx="2286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6" name="Line 70"/>
          <p:cNvSpPr>
            <a:spLocks noChangeShapeType="1"/>
          </p:cNvSpPr>
          <p:nvPr/>
        </p:nvSpPr>
        <p:spPr bwMode="auto">
          <a:xfrm flipH="1" flipV="1">
            <a:off x="2971800" y="4953000"/>
            <a:ext cx="414338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7" name="Line 71"/>
          <p:cNvSpPr>
            <a:spLocks noChangeShapeType="1"/>
          </p:cNvSpPr>
          <p:nvPr/>
        </p:nvSpPr>
        <p:spPr bwMode="auto">
          <a:xfrm flipH="1">
            <a:off x="1981200" y="4419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8" name="Freeform 72"/>
          <p:cNvSpPr>
            <a:spLocks/>
          </p:cNvSpPr>
          <p:nvPr/>
        </p:nvSpPr>
        <p:spPr bwMode="auto">
          <a:xfrm>
            <a:off x="2133600" y="4267200"/>
            <a:ext cx="609600" cy="1384300"/>
          </a:xfrm>
          <a:custGeom>
            <a:avLst/>
            <a:gdLst>
              <a:gd name="T0" fmla="*/ 0 w 384"/>
              <a:gd name="T1" fmla="*/ 2147483647 h 872"/>
              <a:gd name="T2" fmla="*/ 2147483647 w 384"/>
              <a:gd name="T3" fmla="*/ 2147483647 h 872"/>
              <a:gd name="T4" fmla="*/ 2147483647 w 384"/>
              <a:gd name="T5" fmla="*/ 2147483647 h 872"/>
              <a:gd name="T6" fmla="*/ 2147483647 w 384"/>
              <a:gd name="T7" fmla="*/ 2147483647 h 8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872">
                <a:moveTo>
                  <a:pt x="0" y="720"/>
                </a:moveTo>
                <a:cubicBezTo>
                  <a:pt x="28" y="796"/>
                  <a:pt x="56" y="872"/>
                  <a:pt x="96" y="768"/>
                </a:cubicBezTo>
                <a:cubicBezTo>
                  <a:pt x="136" y="664"/>
                  <a:pt x="192" y="192"/>
                  <a:pt x="240" y="96"/>
                </a:cubicBezTo>
                <a:cubicBezTo>
                  <a:pt x="288" y="0"/>
                  <a:pt x="336" y="96"/>
                  <a:pt x="384" y="19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0" name="Rectangle 74"/>
          <p:cNvSpPr>
            <a:spLocks noChangeArrowheads="1"/>
          </p:cNvSpPr>
          <p:nvPr/>
        </p:nvSpPr>
        <p:spPr bwMode="auto">
          <a:xfrm>
            <a:off x="6324600" y="3276600"/>
            <a:ext cx="26892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2. </a:t>
            </a:r>
            <a:r>
              <a:rPr lang="en-US" sz="1600" i="1"/>
              <a:t>right subtree of</a:t>
            </a:r>
            <a:r>
              <a:rPr lang="en-US" sz="1600"/>
              <a:t> C </a:t>
            </a:r>
            <a:r>
              <a:rPr lang="en-US" sz="1600" i="1"/>
              <a:t>becomes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 i="1"/>
              <a:t>left subtree of</a:t>
            </a:r>
            <a:r>
              <a:rPr lang="en-US" sz="1600"/>
              <a:t> C’</a:t>
            </a:r>
            <a:r>
              <a:rPr lang="en-US" sz="1600" i="1"/>
              <a:t>s</a:t>
            </a:r>
            <a:r>
              <a:rPr lang="en-US" sz="1600"/>
              <a:t> </a:t>
            </a:r>
            <a:r>
              <a:rPr lang="en-US" sz="1600" i="1"/>
              <a:t>parent</a:t>
            </a:r>
            <a:r>
              <a:rPr lang="en-US" sz="1600"/>
              <a:t> P;</a:t>
            </a:r>
          </a:p>
        </p:txBody>
      </p:sp>
      <p:sp>
        <p:nvSpPr>
          <p:cNvPr id="70731" name="Rectangle 75"/>
          <p:cNvSpPr>
            <a:spLocks noChangeArrowheads="1"/>
          </p:cNvSpPr>
          <p:nvPr/>
        </p:nvSpPr>
        <p:spPr bwMode="auto">
          <a:xfrm>
            <a:off x="762000" y="6400800"/>
            <a:ext cx="3402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3. </a:t>
            </a:r>
            <a:r>
              <a:rPr lang="en-US" sz="1600" i="1"/>
              <a:t>node</a:t>
            </a:r>
            <a:r>
              <a:rPr lang="en-US" sz="1600"/>
              <a:t> C </a:t>
            </a:r>
            <a:r>
              <a:rPr lang="en-US" sz="1600" i="1"/>
              <a:t>acquires</a:t>
            </a:r>
            <a:r>
              <a:rPr lang="en-US" sz="1600"/>
              <a:t> P </a:t>
            </a:r>
            <a:r>
              <a:rPr lang="en-US" sz="1600" i="1"/>
              <a:t>as its right child</a:t>
            </a:r>
            <a:r>
              <a:rPr lang="en-US" sz="1600"/>
              <a:t>;</a:t>
            </a:r>
          </a:p>
        </p:txBody>
      </p:sp>
      <p:sp>
        <p:nvSpPr>
          <p:cNvPr id="70732" name="Line 76"/>
          <p:cNvSpPr>
            <a:spLocks noChangeShapeType="1"/>
          </p:cNvSpPr>
          <p:nvPr/>
        </p:nvSpPr>
        <p:spPr bwMode="auto">
          <a:xfrm flipV="1">
            <a:off x="2362200" y="5003800"/>
            <a:ext cx="366713" cy="71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3" name="Oval 77"/>
          <p:cNvSpPr>
            <a:spLocks noChangeArrowheads="1"/>
          </p:cNvSpPr>
          <p:nvPr/>
        </p:nvSpPr>
        <p:spPr bwMode="auto">
          <a:xfrm>
            <a:off x="5638800" y="3962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34" name="Text Box 78"/>
          <p:cNvSpPr txBox="1">
            <a:spLocks noChangeArrowheads="1"/>
          </p:cNvSpPr>
          <p:nvPr/>
        </p:nvSpPr>
        <p:spPr bwMode="auto">
          <a:xfrm>
            <a:off x="5651500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35" name="Oval 79"/>
          <p:cNvSpPr>
            <a:spLocks noChangeArrowheads="1"/>
          </p:cNvSpPr>
          <p:nvPr/>
        </p:nvSpPr>
        <p:spPr bwMode="auto">
          <a:xfrm>
            <a:off x="6324600" y="4572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36" name="Text Box 80"/>
          <p:cNvSpPr txBox="1">
            <a:spLocks noChangeArrowheads="1"/>
          </p:cNvSpPr>
          <p:nvPr/>
        </p:nvSpPr>
        <p:spPr bwMode="auto">
          <a:xfrm>
            <a:off x="6303963" y="4572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37" name="Line 81"/>
          <p:cNvSpPr>
            <a:spLocks noChangeShapeType="1"/>
          </p:cNvSpPr>
          <p:nvPr/>
        </p:nvSpPr>
        <p:spPr bwMode="auto">
          <a:xfrm flipV="1">
            <a:off x="5824538" y="4876800"/>
            <a:ext cx="500062" cy="236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8" name="Line 82"/>
          <p:cNvSpPr>
            <a:spLocks noChangeShapeType="1"/>
          </p:cNvSpPr>
          <p:nvPr/>
        </p:nvSpPr>
        <p:spPr bwMode="auto">
          <a:xfrm flipH="1" flipV="1">
            <a:off x="6019800" y="4343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9" name="Oval 83"/>
          <p:cNvSpPr>
            <a:spLocks noChangeArrowheads="1"/>
          </p:cNvSpPr>
          <p:nvPr/>
        </p:nvSpPr>
        <p:spPr bwMode="auto">
          <a:xfrm>
            <a:off x="7010400" y="5181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0" name="Text Box 84"/>
          <p:cNvSpPr txBox="1">
            <a:spLocks noChangeArrowheads="1"/>
          </p:cNvSpPr>
          <p:nvPr/>
        </p:nvSpPr>
        <p:spPr bwMode="auto">
          <a:xfrm>
            <a:off x="7034213" y="5181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41" name="Line 85"/>
          <p:cNvSpPr>
            <a:spLocks noChangeShapeType="1"/>
          </p:cNvSpPr>
          <p:nvPr/>
        </p:nvSpPr>
        <p:spPr bwMode="auto">
          <a:xfrm flipH="1" flipV="1">
            <a:off x="6705600" y="4953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2" name="AutoShape 86"/>
          <p:cNvSpPr>
            <a:spLocks noChangeArrowheads="1"/>
          </p:cNvSpPr>
          <p:nvPr/>
        </p:nvSpPr>
        <p:spPr bwMode="auto">
          <a:xfrm>
            <a:off x="6253163" y="5900738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3" name="Text Box 87"/>
          <p:cNvSpPr txBox="1">
            <a:spLocks noChangeArrowheads="1"/>
          </p:cNvSpPr>
          <p:nvPr/>
        </p:nvSpPr>
        <p:spPr bwMode="auto">
          <a:xfrm>
            <a:off x="6481763" y="60531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744" name="AutoShape 88"/>
          <p:cNvSpPr>
            <a:spLocks noChangeArrowheads="1"/>
          </p:cNvSpPr>
          <p:nvPr/>
        </p:nvSpPr>
        <p:spPr bwMode="auto">
          <a:xfrm>
            <a:off x="7243763" y="5900738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5" name="Text Box 89"/>
          <p:cNvSpPr txBox="1">
            <a:spLocks noChangeArrowheads="1"/>
          </p:cNvSpPr>
          <p:nvPr/>
        </p:nvSpPr>
        <p:spPr bwMode="auto">
          <a:xfrm>
            <a:off x="7472363" y="60531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746" name="Line 90"/>
          <p:cNvSpPr>
            <a:spLocks noChangeShapeType="1"/>
          </p:cNvSpPr>
          <p:nvPr/>
        </p:nvSpPr>
        <p:spPr bwMode="auto">
          <a:xfrm flipV="1">
            <a:off x="6681788" y="5595938"/>
            <a:ext cx="409575" cy="3095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7" name="Line 91"/>
          <p:cNvSpPr>
            <a:spLocks noChangeShapeType="1"/>
          </p:cNvSpPr>
          <p:nvPr/>
        </p:nvSpPr>
        <p:spPr bwMode="auto">
          <a:xfrm flipH="1" flipV="1">
            <a:off x="7396163" y="5595938"/>
            <a:ext cx="257175" cy="300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8" name="AutoShape 92"/>
          <p:cNvSpPr>
            <a:spLocks noChangeArrowheads="1"/>
          </p:cNvSpPr>
          <p:nvPr/>
        </p:nvSpPr>
        <p:spPr bwMode="auto">
          <a:xfrm>
            <a:off x="5410200" y="5105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9" name="Text Box 93"/>
          <p:cNvSpPr txBox="1">
            <a:spLocks noChangeArrowheads="1"/>
          </p:cNvSpPr>
          <p:nvPr/>
        </p:nvSpPr>
        <p:spPr bwMode="auto">
          <a:xfrm>
            <a:off x="5638800" y="5257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750" name="Rectangle 94"/>
          <p:cNvSpPr>
            <a:spLocks noChangeArrowheads="1"/>
          </p:cNvSpPr>
          <p:nvPr/>
        </p:nvSpPr>
        <p:spPr bwMode="auto">
          <a:xfrm>
            <a:off x="4343400" y="52578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>
                <a:latin typeface="Arial Unicode MS" pitchFamily="34" charset="-128"/>
              </a:rPr>
              <a:t>=</a:t>
            </a:r>
          </a:p>
        </p:txBody>
      </p:sp>
      <p:sp>
        <p:nvSpPr>
          <p:cNvPr id="21598" name="Freeform 95"/>
          <p:cNvSpPr>
            <a:spLocks/>
          </p:cNvSpPr>
          <p:nvPr/>
        </p:nvSpPr>
        <p:spPr bwMode="auto">
          <a:xfrm>
            <a:off x="1828800" y="2057400"/>
            <a:ext cx="533400" cy="152400"/>
          </a:xfrm>
          <a:custGeom>
            <a:avLst/>
            <a:gdLst>
              <a:gd name="T0" fmla="*/ 0 w 336"/>
              <a:gd name="T1" fmla="*/ 2147483647 h 96"/>
              <a:gd name="T2" fmla="*/ 2147483647 w 336"/>
              <a:gd name="T3" fmla="*/ 0 h 96"/>
              <a:gd name="T4" fmla="*/ 2147483647 w 336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96">
                <a:moveTo>
                  <a:pt x="0" y="96"/>
                </a:moveTo>
                <a:cubicBezTo>
                  <a:pt x="68" y="48"/>
                  <a:pt x="136" y="0"/>
                  <a:pt x="192" y="0"/>
                </a:cubicBezTo>
                <a:cubicBezTo>
                  <a:pt x="248" y="0"/>
                  <a:pt x="292" y="48"/>
                  <a:pt x="336" y="96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52" name="Rectangle 96"/>
          <p:cNvSpPr>
            <a:spLocks noChangeArrowheads="1"/>
          </p:cNvSpPr>
          <p:nvPr/>
        </p:nvSpPr>
        <p:spPr bwMode="auto">
          <a:xfrm>
            <a:off x="2990850" y="3276600"/>
            <a:ext cx="33385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1. </a:t>
            </a:r>
            <a:r>
              <a:rPr lang="en-US" sz="1600" i="1"/>
              <a:t>grandparent</a:t>
            </a:r>
            <a:r>
              <a:rPr lang="en-US" sz="1600"/>
              <a:t> G </a:t>
            </a:r>
            <a:r>
              <a:rPr lang="en-US" sz="1600" i="1"/>
              <a:t>of child</a:t>
            </a:r>
            <a:r>
              <a:rPr lang="en-US" sz="1600"/>
              <a:t> C </a:t>
            </a:r>
            <a:r>
              <a:rPr lang="en-US" sz="1600" i="1"/>
              <a:t>becomes</a:t>
            </a:r>
            <a:r>
              <a:rPr lang="en-US" sz="1600"/>
              <a:t> </a:t>
            </a:r>
            <a:endParaRPr lang="en-US" sz="1600" i="1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C</a:t>
            </a:r>
            <a:r>
              <a:rPr lang="en-US" sz="1600" i="1"/>
              <a:t>’s parent by replacing</a:t>
            </a:r>
            <a:r>
              <a:rPr lang="en-US" sz="1600"/>
              <a:t> P;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4" dur="500"/>
                                        <p:tgtEl>
                                          <p:spTgt spid="70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1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500"/>
                                        <p:tgtEl>
                                          <p:spTgt spid="7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38" dur="500"/>
                                        <p:tgtEl>
                                          <p:spTgt spid="70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3" dur="1000"/>
                                        <p:tgtEl>
                                          <p:spTgt spid="7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6" grpId="0" animBg="1"/>
      <p:bldP spid="70677" grpId="0"/>
      <p:bldP spid="70678" grpId="0" animBg="1"/>
      <p:bldP spid="70679" grpId="0"/>
      <p:bldP spid="70680" grpId="0" animBg="1"/>
      <p:bldP spid="70681" grpId="0"/>
      <p:bldP spid="70682" grpId="0" animBg="1"/>
      <p:bldP spid="70683" grpId="0"/>
      <p:bldP spid="70684" grpId="0" animBg="1"/>
      <p:bldP spid="70685" grpId="0"/>
      <p:bldP spid="70686" grpId="0" animBg="1"/>
      <p:bldP spid="70687" grpId="0"/>
      <p:bldP spid="70688" grpId="0" animBg="1"/>
      <p:bldP spid="70689" grpId="0" animBg="1"/>
      <p:bldP spid="70690" grpId="0" animBg="1"/>
      <p:bldP spid="70691" grpId="0" animBg="1"/>
      <p:bldP spid="70692" grpId="0" animBg="1"/>
      <p:bldP spid="70693" grpId="0" animBg="1"/>
      <p:bldP spid="70694" grpId="0"/>
      <p:bldP spid="70695" grpId="0" animBg="1"/>
      <p:bldP spid="70696" grpId="0"/>
      <p:bldP spid="70697" grpId="0" animBg="1"/>
      <p:bldP spid="70698" grpId="0"/>
      <p:bldP spid="70699" grpId="0" animBg="1"/>
      <p:bldP spid="70700" grpId="0"/>
      <p:bldP spid="70701" grpId="0" animBg="1"/>
      <p:bldP spid="70702" grpId="0"/>
      <p:bldP spid="70703" grpId="0" animBg="1"/>
      <p:bldP spid="70704" grpId="0"/>
      <p:bldP spid="70705" grpId="0" animBg="1"/>
      <p:bldP spid="70706" grpId="0" animBg="1"/>
      <p:bldP spid="70707" grpId="0" animBg="1"/>
      <p:bldP spid="70707" grpId="1" animBg="1"/>
      <p:bldP spid="70708" grpId="0" animBg="1"/>
      <p:bldP spid="70709" grpId="0" animBg="1"/>
      <p:bldP spid="70710" grpId="0" animBg="1"/>
      <p:bldP spid="70711" grpId="0" animBg="1"/>
      <p:bldP spid="70711" grpId="1" animBg="1"/>
      <p:bldP spid="70712" grpId="0" animBg="1"/>
      <p:bldP spid="70713" grpId="0"/>
      <p:bldP spid="70714" grpId="0" animBg="1"/>
      <p:bldP spid="70715" grpId="0"/>
      <p:bldP spid="70716" grpId="0" animBg="1"/>
      <p:bldP spid="70717" grpId="0"/>
      <p:bldP spid="70718" grpId="0" animBg="1"/>
      <p:bldP spid="70719" grpId="0"/>
      <p:bldP spid="70720" grpId="0" animBg="1"/>
      <p:bldP spid="70721" grpId="0"/>
      <p:bldP spid="70722" grpId="0" animBg="1"/>
      <p:bldP spid="70723" grpId="0"/>
      <p:bldP spid="70724" grpId="0" animBg="1"/>
      <p:bldP spid="70725" grpId="0" animBg="1"/>
      <p:bldP spid="70725" grpId="1" animBg="1"/>
      <p:bldP spid="70726" grpId="0" animBg="1"/>
      <p:bldP spid="70727" grpId="0" animBg="1"/>
      <p:bldP spid="70728" grpId="0" animBg="1"/>
      <p:bldP spid="70730" grpId="0"/>
      <p:bldP spid="70731" grpId="0"/>
      <p:bldP spid="70732" grpId="0" animBg="1"/>
      <p:bldP spid="70733" grpId="0" animBg="1"/>
      <p:bldP spid="70734" grpId="0"/>
      <p:bldP spid="70735" grpId="0" animBg="1"/>
      <p:bldP spid="70736" grpId="0"/>
      <p:bldP spid="70737" grpId="0" animBg="1"/>
      <p:bldP spid="70738" grpId="0" animBg="1"/>
      <p:bldP spid="70739" grpId="0" animBg="1"/>
      <p:bldP spid="70740" grpId="0"/>
      <p:bldP spid="70741" grpId="0" animBg="1"/>
      <p:bldP spid="70742" grpId="0" animBg="1"/>
      <p:bldP spid="70743" grpId="0"/>
      <p:bldP spid="70744" grpId="0" animBg="1"/>
      <p:bldP spid="70745" grpId="0"/>
      <p:bldP spid="70746" grpId="0" animBg="1"/>
      <p:bldP spid="70747" grpId="0" animBg="1"/>
      <p:bldP spid="70748" grpId="0" animBg="1"/>
      <p:bldP spid="70749" grpId="0"/>
      <p:bldP spid="70750" grpId="0"/>
      <p:bldP spid="707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668338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4000"/>
              <a:t>Left rotation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5908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2532" name="AutoShape 5"/>
          <p:cNvSpPr>
            <a:spLocks noChangeArrowheads="1"/>
          </p:cNvSpPr>
          <p:nvPr/>
        </p:nvSpPr>
        <p:spPr bwMode="auto">
          <a:xfrm>
            <a:off x="33528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35814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2534" name="AutoShape 7"/>
          <p:cNvSpPr>
            <a:spLocks noChangeArrowheads="1"/>
          </p:cNvSpPr>
          <p:nvPr/>
        </p:nvSpPr>
        <p:spPr bwMode="auto">
          <a:xfrm>
            <a:off x="1600200" y="33528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1828800" y="3505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2536" name="Oval 9"/>
          <p:cNvSpPr>
            <a:spLocks noChangeArrowheads="1"/>
          </p:cNvSpPr>
          <p:nvPr/>
        </p:nvSpPr>
        <p:spPr bwMode="auto">
          <a:xfrm>
            <a:off x="1752600" y="2133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10"/>
          <p:cNvSpPr txBox="1">
            <a:spLocks noChangeArrowheads="1"/>
          </p:cNvSpPr>
          <p:nvPr/>
        </p:nvSpPr>
        <p:spPr bwMode="auto">
          <a:xfrm>
            <a:off x="1771650" y="2133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2538" name="Oval 11"/>
          <p:cNvSpPr>
            <a:spLocks noChangeArrowheads="1"/>
          </p:cNvSpPr>
          <p:nvPr/>
        </p:nvSpPr>
        <p:spPr bwMode="auto">
          <a:xfrm>
            <a:off x="2438400" y="2743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2463800" y="2743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2540" name="Oval 13"/>
          <p:cNvSpPr>
            <a:spLocks noChangeArrowheads="1"/>
          </p:cNvSpPr>
          <p:nvPr/>
        </p:nvSpPr>
        <p:spPr bwMode="auto">
          <a:xfrm>
            <a:off x="3116263" y="3276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Text Box 14"/>
          <p:cNvSpPr txBox="1">
            <a:spLocks noChangeArrowheads="1"/>
          </p:cNvSpPr>
          <p:nvPr/>
        </p:nvSpPr>
        <p:spPr bwMode="auto">
          <a:xfrm>
            <a:off x="3124200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 flipV="1">
            <a:off x="2776538" y="3657600"/>
            <a:ext cx="409575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 flipH="1" flipV="1">
            <a:off x="3505200" y="3657600"/>
            <a:ext cx="26193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Line 17"/>
          <p:cNvSpPr>
            <a:spLocks noChangeShapeType="1"/>
          </p:cNvSpPr>
          <p:nvPr/>
        </p:nvSpPr>
        <p:spPr bwMode="auto">
          <a:xfrm flipV="1">
            <a:off x="2014538" y="3124200"/>
            <a:ext cx="500062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Line 18"/>
          <p:cNvSpPr>
            <a:spLocks noChangeShapeType="1"/>
          </p:cNvSpPr>
          <p:nvPr/>
        </p:nvSpPr>
        <p:spPr bwMode="auto">
          <a:xfrm flipH="1" flipV="1">
            <a:off x="2819400" y="3124200"/>
            <a:ext cx="361950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9"/>
          <p:cNvSpPr>
            <a:spLocks noChangeShapeType="1"/>
          </p:cNvSpPr>
          <p:nvPr/>
        </p:nvSpPr>
        <p:spPr bwMode="auto">
          <a:xfrm flipH="1" flipV="1">
            <a:off x="2133600" y="2514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Freeform 20"/>
          <p:cNvSpPr>
            <a:spLocks/>
          </p:cNvSpPr>
          <p:nvPr/>
        </p:nvSpPr>
        <p:spPr bwMode="auto">
          <a:xfrm>
            <a:off x="2362200" y="3276600"/>
            <a:ext cx="533400" cy="152400"/>
          </a:xfrm>
          <a:custGeom>
            <a:avLst/>
            <a:gdLst>
              <a:gd name="T0" fmla="*/ 0 w 336"/>
              <a:gd name="T1" fmla="*/ 2147483647 h 96"/>
              <a:gd name="T2" fmla="*/ 2147483647 w 336"/>
              <a:gd name="T3" fmla="*/ 0 h 96"/>
              <a:gd name="T4" fmla="*/ 2147483647 w 336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96">
                <a:moveTo>
                  <a:pt x="0" y="96"/>
                </a:moveTo>
                <a:cubicBezTo>
                  <a:pt x="68" y="48"/>
                  <a:pt x="136" y="0"/>
                  <a:pt x="192" y="0"/>
                </a:cubicBezTo>
                <a:cubicBezTo>
                  <a:pt x="248" y="0"/>
                  <a:pt x="292" y="48"/>
                  <a:pt x="336" y="96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8" name="AutoShape 21"/>
          <p:cNvSpPr>
            <a:spLocks noChangeArrowheads="1"/>
          </p:cNvSpPr>
          <p:nvPr/>
        </p:nvSpPr>
        <p:spPr bwMode="auto">
          <a:xfrm>
            <a:off x="23622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Text Box 22"/>
          <p:cNvSpPr txBox="1">
            <a:spLocks noChangeArrowheads="1"/>
          </p:cNvSpPr>
          <p:nvPr/>
        </p:nvSpPr>
        <p:spPr bwMode="auto">
          <a:xfrm>
            <a:off x="60198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2550" name="AutoShape 23"/>
          <p:cNvSpPr>
            <a:spLocks noChangeArrowheads="1"/>
          </p:cNvSpPr>
          <p:nvPr/>
        </p:nvSpPr>
        <p:spPr bwMode="auto">
          <a:xfrm>
            <a:off x="6477000" y="33528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Text Box 24"/>
          <p:cNvSpPr txBox="1">
            <a:spLocks noChangeArrowheads="1"/>
          </p:cNvSpPr>
          <p:nvPr/>
        </p:nvSpPr>
        <p:spPr bwMode="auto">
          <a:xfrm>
            <a:off x="6705600" y="3505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2552" name="AutoShape 25"/>
          <p:cNvSpPr>
            <a:spLocks noChangeArrowheads="1"/>
          </p:cNvSpPr>
          <p:nvPr/>
        </p:nvSpPr>
        <p:spPr bwMode="auto">
          <a:xfrm>
            <a:off x="48768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Text Box 26"/>
          <p:cNvSpPr txBox="1">
            <a:spLocks noChangeArrowheads="1"/>
          </p:cNvSpPr>
          <p:nvPr/>
        </p:nvSpPr>
        <p:spPr bwMode="auto">
          <a:xfrm>
            <a:off x="51054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2554" name="Oval 27"/>
          <p:cNvSpPr>
            <a:spLocks noChangeArrowheads="1"/>
          </p:cNvSpPr>
          <p:nvPr/>
        </p:nvSpPr>
        <p:spPr bwMode="auto">
          <a:xfrm>
            <a:off x="5562600" y="2133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5" name="Text Box 28"/>
          <p:cNvSpPr txBox="1">
            <a:spLocks noChangeArrowheads="1"/>
          </p:cNvSpPr>
          <p:nvPr/>
        </p:nvSpPr>
        <p:spPr bwMode="auto">
          <a:xfrm>
            <a:off x="5573713" y="2133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2556" name="Oval 29"/>
          <p:cNvSpPr>
            <a:spLocks noChangeArrowheads="1"/>
          </p:cNvSpPr>
          <p:nvPr/>
        </p:nvSpPr>
        <p:spPr bwMode="auto">
          <a:xfrm>
            <a:off x="5562600" y="3276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7" name="Text Box 30"/>
          <p:cNvSpPr txBox="1">
            <a:spLocks noChangeArrowheads="1"/>
          </p:cNvSpPr>
          <p:nvPr/>
        </p:nvSpPr>
        <p:spPr bwMode="auto">
          <a:xfrm>
            <a:off x="5573713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2558" name="Oval 31"/>
          <p:cNvSpPr>
            <a:spLocks noChangeArrowheads="1"/>
          </p:cNvSpPr>
          <p:nvPr/>
        </p:nvSpPr>
        <p:spPr bwMode="auto">
          <a:xfrm>
            <a:off x="6248400" y="2743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9" name="Text Box 32"/>
          <p:cNvSpPr txBox="1">
            <a:spLocks noChangeArrowheads="1"/>
          </p:cNvSpPr>
          <p:nvPr/>
        </p:nvSpPr>
        <p:spPr bwMode="auto">
          <a:xfrm>
            <a:off x="6265863" y="2743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2560" name="Line 33"/>
          <p:cNvSpPr>
            <a:spLocks noChangeShapeType="1"/>
          </p:cNvSpPr>
          <p:nvPr/>
        </p:nvSpPr>
        <p:spPr bwMode="auto">
          <a:xfrm flipV="1">
            <a:off x="5943600" y="3124200"/>
            <a:ext cx="381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Line 34"/>
          <p:cNvSpPr>
            <a:spLocks noChangeShapeType="1"/>
          </p:cNvSpPr>
          <p:nvPr/>
        </p:nvSpPr>
        <p:spPr bwMode="auto">
          <a:xfrm flipH="1" flipV="1">
            <a:off x="6629400" y="3124200"/>
            <a:ext cx="2667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Line 37"/>
          <p:cNvSpPr>
            <a:spLocks noChangeShapeType="1"/>
          </p:cNvSpPr>
          <p:nvPr/>
        </p:nvSpPr>
        <p:spPr bwMode="auto">
          <a:xfrm flipH="1" flipV="1">
            <a:off x="5943600" y="2514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3" name="AutoShape 39"/>
          <p:cNvSpPr>
            <a:spLocks noChangeArrowheads="1"/>
          </p:cNvSpPr>
          <p:nvPr/>
        </p:nvSpPr>
        <p:spPr bwMode="auto">
          <a:xfrm>
            <a:off x="57912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4" name="Line 40"/>
          <p:cNvSpPr>
            <a:spLocks noChangeShapeType="1"/>
          </p:cNvSpPr>
          <p:nvPr/>
        </p:nvSpPr>
        <p:spPr bwMode="auto">
          <a:xfrm flipV="1">
            <a:off x="5295900" y="3657600"/>
            <a:ext cx="342900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5" name="Line 41"/>
          <p:cNvSpPr>
            <a:spLocks noChangeShapeType="1"/>
          </p:cNvSpPr>
          <p:nvPr/>
        </p:nvSpPr>
        <p:spPr bwMode="auto">
          <a:xfrm flipH="1" flipV="1">
            <a:off x="5943600" y="3657600"/>
            <a:ext cx="27146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985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/>
              <a:t>Self-adjusting trees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255963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/>
            <a:r>
              <a:rPr lang="en-US">
                <a:solidFill>
                  <a:srgbClr val="FF0000"/>
                </a:solidFill>
                <a:latin typeface="Arial Unicode MS" pitchFamily="34" charset="-128"/>
              </a:rPr>
              <a:t>Single rotation</a:t>
            </a:r>
            <a:r>
              <a:rPr lang="en-US">
                <a:latin typeface="Arial Unicode MS" pitchFamily="34" charset="-128"/>
              </a:rPr>
              <a:t>: Rotate a child about parent if an element in the child is accessed unless it is the root.</a:t>
            </a:r>
          </a:p>
          <a:p>
            <a:pPr marL="609600" indent="-609600" eaLnBrk="1" hangingPunct="1"/>
            <a:r>
              <a:rPr lang="en-US">
                <a:solidFill>
                  <a:srgbClr val="FF0000"/>
                </a:solidFill>
                <a:latin typeface="Arial Unicode MS" pitchFamily="34" charset="-128"/>
              </a:rPr>
              <a:t>Moving to the root</a:t>
            </a:r>
            <a:r>
              <a:rPr lang="en-US">
                <a:latin typeface="Arial Unicode MS" pitchFamily="34" charset="-128"/>
              </a:rPr>
              <a:t>: Repeat the child‑parent rotation until the element being accessed is in the root.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04850"/>
          </a:xfrm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600"/>
              <a:t>Single rotation technique: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2667000" cy="2209800"/>
          </a:xfrm>
          <a:noFill/>
          <a:extLst>
            <a:ext uri="{91240B29-F687-4F45-9708-019B960494DF}">
              <a14:hiddenLine xmlns:a14="http://schemas.microsoft.com/office/drawing/2010/main" w="19050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      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   5     9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 3   6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2 4   7</a:t>
            </a:r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 flipH="1">
            <a:off x="1905000" y="1676400"/>
            <a:ext cx="5334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2590800" y="1676400"/>
            <a:ext cx="5334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H="1">
            <a:off x="1447800" y="22098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1905000" y="22098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H="1">
            <a:off x="1143000" y="28194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1371600" y="28194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2438400" y="28194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4" name="Freeform 12"/>
          <p:cNvSpPr>
            <a:spLocks/>
          </p:cNvSpPr>
          <p:nvPr/>
        </p:nvSpPr>
        <p:spPr bwMode="auto">
          <a:xfrm>
            <a:off x="1600200" y="2286000"/>
            <a:ext cx="381000" cy="152400"/>
          </a:xfrm>
          <a:custGeom>
            <a:avLst/>
            <a:gdLst>
              <a:gd name="T0" fmla="*/ 2147483647 w 240"/>
              <a:gd name="T1" fmla="*/ 2147483647 h 96"/>
              <a:gd name="T2" fmla="*/ 2147483647 w 240"/>
              <a:gd name="T3" fmla="*/ 0 h 96"/>
              <a:gd name="T4" fmla="*/ 0 w 240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96">
                <a:moveTo>
                  <a:pt x="240" y="96"/>
                </a:moveTo>
                <a:cubicBezTo>
                  <a:pt x="212" y="48"/>
                  <a:pt x="184" y="0"/>
                  <a:pt x="144" y="0"/>
                </a:cubicBezTo>
                <a:cubicBezTo>
                  <a:pt x="104" y="0"/>
                  <a:pt x="52" y="48"/>
                  <a:pt x="0" y="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5" name="AutoShape 13"/>
          <p:cNvSpPr>
            <a:spLocks noChangeArrowheads="1"/>
          </p:cNvSpPr>
          <p:nvPr/>
        </p:nvSpPr>
        <p:spPr bwMode="auto">
          <a:xfrm>
            <a:off x="685800" y="22860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6" name="AutoShape 14"/>
          <p:cNvSpPr>
            <a:spLocks noChangeArrowheads="1"/>
          </p:cNvSpPr>
          <p:nvPr/>
        </p:nvSpPr>
        <p:spPr bwMode="auto">
          <a:xfrm>
            <a:off x="2209800" y="2819400"/>
            <a:ext cx="685800" cy="5334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7" name="AutoShape 15"/>
          <p:cNvSpPr>
            <a:spLocks noChangeArrowheads="1"/>
          </p:cNvSpPr>
          <p:nvPr/>
        </p:nvSpPr>
        <p:spPr bwMode="auto">
          <a:xfrm>
            <a:off x="2057400" y="2819400"/>
            <a:ext cx="457200" cy="228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4495800" y="1295400"/>
            <a:ext cx="2743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3200">
                <a:latin typeface="Courier New" pitchFamily="49" charset="0"/>
              </a:rPr>
              <a:t>       8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    6   9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  5   7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3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2 4</a:t>
            </a:r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 flipH="1">
            <a:off x="5105400" y="27432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4" name="Line 22"/>
          <p:cNvSpPr>
            <a:spLocks noChangeShapeType="1"/>
          </p:cNvSpPr>
          <p:nvPr/>
        </p:nvSpPr>
        <p:spPr bwMode="auto">
          <a:xfrm flipH="1">
            <a:off x="4800600" y="33528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5" name="Line 23"/>
          <p:cNvSpPr>
            <a:spLocks noChangeShapeType="1"/>
          </p:cNvSpPr>
          <p:nvPr/>
        </p:nvSpPr>
        <p:spPr bwMode="auto">
          <a:xfrm>
            <a:off x="5029200" y="33528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H="1">
            <a:off x="5562600" y="2286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3" name="Line 31"/>
          <p:cNvSpPr>
            <a:spLocks noChangeShapeType="1"/>
          </p:cNvSpPr>
          <p:nvPr/>
        </p:nvSpPr>
        <p:spPr bwMode="auto">
          <a:xfrm flipH="1">
            <a:off x="6096000" y="1676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4" name="Line 32"/>
          <p:cNvSpPr>
            <a:spLocks noChangeShapeType="1"/>
          </p:cNvSpPr>
          <p:nvPr/>
        </p:nvSpPr>
        <p:spPr bwMode="auto">
          <a:xfrm>
            <a:off x="6096000" y="2286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5" name="Line 33"/>
          <p:cNvSpPr>
            <a:spLocks noChangeShapeType="1"/>
          </p:cNvSpPr>
          <p:nvPr/>
        </p:nvSpPr>
        <p:spPr bwMode="auto">
          <a:xfrm>
            <a:off x="6553200" y="1676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8" name="Freeform 36"/>
          <p:cNvSpPr>
            <a:spLocks/>
          </p:cNvSpPr>
          <p:nvPr/>
        </p:nvSpPr>
        <p:spPr bwMode="auto">
          <a:xfrm>
            <a:off x="6248400" y="1752600"/>
            <a:ext cx="381000" cy="152400"/>
          </a:xfrm>
          <a:custGeom>
            <a:avLst/>
            <a:gdLst>
              <a:gd name="T0" fmla="*/ 2147483647 w 240"/>
              <a:gd name="T1" fmla="*/ 2147483647 h 96"/>
              <a:gd name="T2" fmla="*/ 2147483647 w 240"/>
              <a:gd name="T3" fmla="*/ 0 h 96"/>
              <a:gd name="T4" fmla="*/ 0 w 240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96">
                <a:moveTo>
                  <a:pt x="240" y="96"/>
                </a:moveTo>
                <a:cubicBezTo>
                  <a:pt x="212" y="48"/>
                  <a:pt x="184" y="0"/>
                  <a:pt x="144" y="0"/>
                </a:cubicBezTo>
                <a:cubicBezTo>
                  <a:pt x="104" y="0"/>
                  <a:pt x="52" y="48"/>
                  <a:pt x="0" y="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9" name="Rectangle 37"/>
          <p:cNvSpPr>
            <a:spLocks noChangeArrowheads="1"/>
          </p:cNvSpPr>
          <p:nvPr/>
        </p:nvSpPr>
        <p:spPr bwMode="auto">
          <a:xfrm>
            <a:off x="1219200" y="4191000"/>
            <a:ext cx="2590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3200">
                <a:latin typeface="Courier New" pitchFamily="49" charset="0"/>
              </a:rPr>
              <a:t>     6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  5   8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3    7 9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2 4</a:t>
            </a:r>
          </a:p>
        </p:txBody>
      </p:sp>
      <p:sp>
        <p:nvSpPr>
          <p:cNvPr id="79910" name="Line 38"/>
          <p:cNvSpPr>
            <a:spLocks noChangeShapeType="1"/>
          </p:cNvSpPr>
          <p:nvPr/>
        </p:nvSpPr>
        <p:spPr bwMode="auto">
          <a:xfrm flipH="1">
            <a:off x="1828800" y="5105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1" name="Line 39"/>
          <p:cNvSpPr>
            <a:spLocks noChangeShapeType="1"/>
          </p:cNvSpPr>
          <p:nvPr/>
        </p:nvSpPr>
        <p:spPr bwMode="auto">
          <a:xfrm flipH="1">
            <a:off x="1524000" y="57150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2" name="Line 40"/>
          <p:cNvSpPr>
            <a:spLocks noChangeShapeType="1"/>
          </p:cNvSpPr>
          <p:nvPr/>
        </p:nvSpPr>
        <p:spPr bwMode="auto">
          <a:xfrm>
            <a:off x="1752600" y="57150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4" name="Line 42"/>
          <p:cNvSpPr>
            <a:spLocks noChangeShapeType="1"/>
          </p:cNvSpPr>
          <p:nvPr/>
        </p:nvSpPr>
        <p:spPr bwMode="auto">
          <a:xfrm flipH="1">
            <a:off x="23622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6" name="Line 44"/>
          <p:cNvSpPr>
            <a:spLocks noChangeShapeType="1"/>
          </p:cNvSpPr>
          <p:nvPr/>
        </p:nvSpPr>
        <p:spPr bwMode="auto">
          <a:xfrm>
            <a:off x="28194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8" name="Line 46"/>
          <p:cNvSpPr>
            <a:spLocks noChangeShapeType="1"/>
          </p:cNvSpPr>
          <p:nvPr/>
        </p:nvSpPr>
        <p:spPr bwMode="auto">
          <a:xfrm flipH="1">
            <a:off x="2971800" y="51816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9" name="Line 47"/>
          <p:cNvSpPr>
            <a:spLocks noChangeShapeType="1"/>
          </p:cNvSpPr>
          <p:nvPr/>
        </p:nvSpPr>
        <p:spPr bwMode="auto">
          <a:xfrm>
            <a:off x="3200400" y="51816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23" name="Freeform 51"/>
          <p:cNvSpPr>
            <a:spLocks/>
          </p:cNvSpPr>
          <p:nvPr/>
        </p:nvSpPr>
        <p:spPr bwMode="auto">
          <a:xfrm>
            <a:off x="2514600" y="4724400"/>
            <a:ext cx="381000" cy="152400"/>
          </a:xfrm>
          <a:custGeom>
            <a:avLst/>
            <a:gdLst>
              <a:gd name="T0" fmla="*/ 2147483647 w 240"/>
              <a:gd name="T1" fmla="*/ 2147483647 h 96"/>
              <a:gd name="T2" fmla="*/ 2147483647 w 240"/>
              <a:gd name="T3" fmla="*/ 0 h 96"/>
              <a:gd name="T4" fmla="*/ 0 w 240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96">
                <a:moveTo>
                  <a:pt x="240" y="96"/>
                </a:moveTo>
                <a:cubicBezTo>
                  <a:pt x="212" y="48"/>
                  <a:pt x="184" y="0"/>
                  <a:pt x="144" y="0"/>
                </a:cubicBezTo>
                <a:cubicBezTo>
                  <a:pt x="104" y="0"/>
                  <a:pt x="52" y="48"/>
                  <a:pt x="0" y="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24" name="AutoShape 52"/>
          <p:cNvSpPr>
            <a:spLocks noChangeArrowheads="1"/>
          </p:cNvSpPr>
          <p:nvPr/>
        </p:nvSpPr>
        <p:spPr bwMode="auto">
          <a:xfrm>
            <a:off x="1066800" y="51816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25" name="AutoShape 53"/>
          <p:cNvSpPr>
            <a:spLocks noChangeArrowheads="1"/>
          </p:cNvSpPr>
          <p:nvPr/>
        </p:nvSpPr>
        <p:spPr bwMode="auto">
          <a:xfrm>
            <a:off x="1981200" y="5105400"/>
            <a:ext cx="457200" cy="228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26" name="AutoShape 54"/>
          <p:cNvSpPr>
            <a:spLocks noChangeArrowheads="1"/>
          </p:cNvSpPr>
          <p:nvPr/>
        </p:nvSpPr>
        <p:spPr bwMode="auto">
          <a:xfrm>
            <a:off x="2514600" y="46482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38" name="Rectangle 66"/>
          <p:cNvSpPr>
            <a:spLocks noChangeArrowheads="1"/>
          </p:cNvSpPr>
          <p:nvPr/>
        </p:nvSpPr>
        <p:spPr bwMode="auto">
          <a:xfrm>
            <a:off x="5867400" y="4191000"/>
            <a:ext cx="2209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r>
              <a:rPr lang="en-US" sz="3200">
                <a:latin typeface="Courier New" pitchFamily="49" charset="0"/>
              </a:rPr>
              <a:t>   5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3   6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2 4   8</a:t>
            </a:r>
          </a:p>
          <a:p>
            <a:pPr marL="342900" indent="-342900"/>
            <a:r>
              <a:rPr lang="en-US" sz="3200">
                <a:latin typeface="Courier New" pitchFamily="49" charset="0"/>
              </a:rPr>
              <a:t>     7 9</a:t>
            </a:r>
          </a:p>
          <a:p>
            <a:pPr marL="342900" indent="-342900"/>
            <a:endParaRPr lang="en-US" sz="3200">
              <a:latin typeface="Courier New" pitchFamily="49" charset="0"/>
            </a:endParaRPr>
          </a:p>
        </p:txBody>
      </p:sp>
      <p:sp>
        <p:nvSpPr>
          <p:cNvPr id="79939" name="Line 67"/>
          <p:cNvSpPr>
            <a:spLocks noChangeShapeType="1"/>
          </p:cNvSpPr>
          <p:nvPr/>
        </p:nvSpPr>
        <p:spPr bwMode="auto">
          <a:xfrm flipH="1">
            <a:off x="6172200" y="51816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0" name="Line 68"/>
          <p:cNvSpPr>
            <a:spLocks noChangeShapeType="1"/>
          </p:cNvSpPr>
          <p:nvPr/>
        </p:nvSpPr>
        <p:spPr bwMode="auto">
          <a:xfrm>
            <a:off x="6400800" y="51816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1" name="Line 69"/>
          <p:cNvSpPr>
            <a:spLocks noChangeShapeType="1"/>
          </p:cNvSpPr>
          <p:nvPr/>
        </p:nvSpPr>
        <p:spPr bwMode="auto">
          <a:xfrm flipH="1">
            <a:off x="7391400" y="57150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2" name="Line 70"/>
          <p:cNvSpPr>
            <a:spLocks noChangeShapeType="1"/>
          </p:cNvSpPr>
          <p:nvPr/>
        </p:nvSpPr>
        <p:spPr bwMode="auto">
          <a:xfrm>
            <a:off x="7620000" y="5715000"/>
            <a:ext cx="762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3" name="Line 71"/>
          <p:cNvSpPr>
            <a:spLocks noChangeShapeType="1"/>
          </p:cNvSpPr>
          <p:nvPr/>
        </p:nvSpPr>
        <p:spPr bwMode="auto">
          <a:xfrm flipH="1">
            <a:off x="64008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4" name="Line 72"/>
          <p:cNvSpPr>
            <a:spLocks noChangeShapeType="1"/>
          </p:cNvSpPr>
          <p:nvPr/>
        </p:nvSpPr>
        <p:spPr bwMode="auto">
          <a:xfrm>
            <a:off x="69342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5" name="Line 73"/>
          <p:cNvSpPr>
            <a:spLocks noChangeShapeType="1"/>
          </p:cNvSpPr>
          <p:nvPr/>
        </p:nvSpPr>
        <p:spPr bwMode="auto">
          <a:xfrm>
            <a:off x="7391400" y="5105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48" name="AutoShape 76"/>
          <p:cNvSpPr>
            <a:spLocks noChangeArrowheads="1"/>
          </p:cNvSpPr>
          <p:nvPr/>
        </p:nvSpPr>
        <p:spPr bwMode="auto">
          <a:xfrm>
            <a:off x="1066800" y="4495800"/>
            <a:ext cx="2057400" cy="1828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49" name="AutoShape 77"/>
          <p:cNvSpPr>
            <a:spLocks noChangeArrowheads="1"/>
          </p:cNvSpPr>
          <p:nvPr/>
        </p:nvSpPr>
        <p:spPr bwMode="auto">
          <a:xfrm>
            <a:off x="2590800" y="5181600"/>
            <a:ext cx="685800" cy="5334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51" name="AutoShape 79"/>
          <p:cNvSpPr>
            <a:spLocks noChangeArrowheads="1"/>
          </p:cNvSpPr>
          <p:nvPr/>
        </p:nvSpPr>
        <p:spPr bwMode="auto">
          <a:xfrm>
            <a:off x="6934200" y="5105400"/>
            <a:ext cx="457200" cy="228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56" name="AutoShape 84"/>
          <p:cNvSpPr>
            <a:spLocks noChangeArrowheads="1"/>
          </p:cNvSpPr>
          <p:nvPr/>
        </p:nvSpPr>
        <p:spPr bwMode="auto">
          <a:xfrm>
            <a:off x="6934200" y="51816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59" name="AutoShape 87"/>
          <p:cNvSpPr>
            <a:spLocks noChangeArrowheads="1"/>
          </p:cNvSpPr>
          <p:nvPr/>
        </p:nvSpPr>
        <p:spPr bwMode="auto">
          <a:xfrm>
            <a:off x="5715000" y="46482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63" name="AutoShape 91"/>
          <p:cNvSpPr>
            <a:spLocks noChangeArrowheads="1"/>
          </p:cNvSpPr>
          <p:nvPr/>
        </p:nvSpPr>
        <p:spPr bwMode="auto">
          <a:xfrm>
            <a:off x="4343400" y="2133600"/>
            <a:ext cx="2057400" cy="1828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66" name="AutoShape 94"/>
          <p:cNvSpPr>
            <a:spLocks noChangeArrowheads="1"/>
          </p:cNvSpPr>
          <p:nvPr/>
        </p:nvSpPr>
        <p:spPr bwMode="auto">
          <a:xfrm>
            <a:off x="5257800" y="2819400"/>
            <a:ext cx="457200" cy="228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67" name="AutoShape 95"/>
          <p:cNvSpPr>
            <a:spLocks noChangeArrowheads="1"/>
          </p:cNvSpPr>
          <p:nvPr/>
        </p:nvSpPr>
        <p:spPr bwMode="auto">
          <a:xfrm>
            <a:off x="4267200" y="2819400"/>
            <a:ext cx="1295400" cy="1066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69" name="AutoShape 97"/>
          <p:cNvSpPr>
            <a:spLocks noChangeArrowheads="1"/>
          </p:cNvSpPr>
          <p:nvPr/>
        </p:nvSpPr>
        <p:spPr bwMode="auto">
          <a:xfrm>
            <a:off x="6096000" y="2286000"/>
            <a:ext cx="685800" cy="5334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71" name="AutoShape 99"/>
          <p:cNvSpPr>
            <a:spLocks noChangeArrowheads="1"/>
          </p:cNvSpPr>
          <p:nvPr/>
        </p:nvSpPr>
        <p:spPr bwMode="auto">
          <a:xfrm>
            <a:off x="3048000" y="5181600"/>
            <a:ext cx="685800" cy="5334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76" name="AutoShape 104"/>
          <p:cNvSpPr>
            <a:spLocks noChangeArrowheads="1"/>
          </p:cNvSpPr>
          <p:nvPr/>
        </p:nvSpPr>
        <p:spPr bwMode="auto">
          <a:xfrm>
            <a:off x="6553200" y="1752600"/>
            <a:ext cx="685800" cy="5334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4" grpId="0" animBg="1"/>
      <p:bldP spid="79884" grpId="1" animBg="1"/>
      <p:bldP spid="79885" grpId="0" animBg="1"/>
      <p:bldP spid="79885" grpId="1" animBg="1"/>
      <p:bldP spid="79886" grpId="0" animBg="1"/>
      <p:bldP spid="79886" grpId="1" animBg="1"/>
      <p:bldP spid="79887" grpId="0" animBg="1"/>
      <p:bldP spid="79887" grpId="1" animBg="1"/>
      <p:bldP spid="79889" grpId="0"/>
      <p:bldP spid="79892" grpId="0" animBg="1"/>
      <p:bldP spid="79894" grpId="0" animBg="1"/>
      <p:bldP spid="79895" grpId="0" animBg="1"/>
      <p:bldP spid="79902" grpId="0" animBg="1"/>
      <p:bldP spid="79903" grpId="0" animBg="1"/>
      <p:bldP spid="79904" grpId="0" animBg="1"/>
      <p:bldP spid="79905" grpId="0" animBg="1"/>
      <p:bldP spid="79908" grpId="0" animBg="1"/>
      <p:bldP spid="79908" grpId="1" animBg="1"/>
      <p:bldP spid="79909" grpId="0"/>
      <p:bldP spid="79910" grpId="0" animBg="1"/>
      <p:bldP spid="79911" grpId="0" animBg="1"/>
      <p:bldP spid="79912" grpId="0" animBg="1"/>
      <p:bldP spid="79914" grpId="0" animBg="1"/>
      <p:bldP spid="79916" grpId="0" animBg="1"/>
      <p:bldP spid="79918" grpId="0" animBg="1"/>
      <p:bldP spid="79919" grpId="0" animBg="1"/>
      <p:bldP spid="79923" grpId="0" animBg="1"/>
      <p:bldP spid="79923" grpId="1" animBg="1"/>
      <p:bldP spid="79924" grpId="0" animBg="1"/>
      <p:bldP spid="79924" grpId="1" animBg="1"/>
      <p:bldP spid="79925" grpId="0" animBg="1"/>
      <p:bldP spid="79925" grpId="1" animBg="1"/>
      <p:bldP spid="79926" grpId="0" animBg="1"/>
      <p:bldP spid="79926" grpId="1" animBg="1"/>
      <p:bldP spid="79938" grpId="0"/>
      <p:bldP spid="79939" grpId="0" animBg="1"/>
      <p:bldP spid="79940" grpId="0" animBg="1"/>
      <p:bldP spid="79941" grpId="0" animBg="1"/>
      <p:bldP spid="79942" grpId="0" animBg="1"/>
      <p:bldP spid="79943" grpId="0" animBg="1"/>
      <p:bldP spid="79944" grpId="0" animBg="1"/>
      <p:bldP spid="79945" grpId="0" animBg="1"/>
      <p:bldP spid="79948" grpId="0" animBg="1"/>
      <p:bldP spid="79948" grpId="1" animBg="1"/>
      <p:bldP spid="79949" grpId="0" animBg="1"/>
      <p:bldP spid="79949" grpId="1" animBg="1"/>
      <p:bldP spid="79951" grpId="0" animBg="1"/>
      <p:bldP spid="79951" grpId="1" animBg="1"/>
      <p:bldP spid="79956" grpId="0" animBg="1"/>
      <p:bldP spid="79956" grpId="1" animBg="1"/>
      <p:bldP spid="79959" grpId="0" animBg="1"/>
      <p:bldP spid="79959" grpId="1" animBg="1"/>
      <p:bldP spid="79963" grpId="0" animBg="1"/>
      <p:bldP spid="79963" grpId="1" animBg="1"/>
      <p:bldP spid="79966" grpId="0" animBg="1"/>
      <p:bldP spid="79966" grpId="1" animBg="1"/>
      <p:bldP spid="79967" grpId="0" animBg="1"/>
      <p:bldP spid="79967" grpId="1" animBg="1"/>
      <p:bldP spid="79969" grpId="0" animBg="1"/>
      <p:bldP spid="79969" grpId="1" animBg="1"/>
      <p:bldP spid="79969" grpId="2" animBg="1"/>
      <p:bldP spid="79969" grpId="3" animBg="1"/>
      <p:bldP spid="79971" grpId="0" animBg="1"/>
      <p:bldP spid="79971" grpId="1" animBg="1"/>
      <p:bldP spid="79976" grpId="0" animBg="1"/>
      <p:bldP spid="79976" grpId="1" animBg="1"/>
      <p:bldP spid="79976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ChangeArrowheads="1"/>
          </p:cNvSpPr>
          <p:nvPr/>
        </p:nvSpPr>
        <p:spPr bwMode="auto">
          <a:xfrm>
            <a:off x="927100" y="22240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30723" name="Line 11"/>
          <p:cNvSpPr>
            <a:spLocks noChangeShapeType="1"/>
          </p:cNvSpPr>
          <p:nvPr/>
        </p:nvSpPr>
        <p:spPr bwMode="auto">
          <a:xfrm>
            <a:off x="1763713" y="2601913"/>
            <a:ext cx="266700" cy="366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4" name="Rectangle 22"/>
          <p:cNvSpPr txBox="1">
            <a:spLocks noChangeArrowheads="1"/>
          </p:cNvSpPr>
          <p:nvPr/>
        </p:nvSpPr>
        <p:spPr bwMode="auto">
          <a:xfrm>
            <a:off x="501650" y="279400"/>
            <a:ext cx="8186738" cy="500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sz="3200" b="0">
                <a:solidFill>
                  <a:schemeClr val="accent2"/>
                </a:solidFill>
              </a:rPr>
              <a:t>AVL trees: rebalancing a tree: case 1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461963" y="28956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30726" name="Line 11"/>
          <p:cNvSpPr>
            <a:spLocks noChangeShapeType="1"/>
          </p:cNvSpPr>
          <p:nvPr/>
        </p:nvSpPr>
        <p:spPr bwMode="auto">
          <a:xfrm>
            <a:off x="1354138" y="3263900"/>
            <a:ext cx="207962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11"/>
          <p:cNvSpPr>
            <a:spLocks noChangeShapeType="1"/>
          </p:cNvSpPr>
          <p:nvPr/>
        </p:nvSpPr>
        <p:spPr bwMode="auto">
          <a:xfrm flipH="1">
            <a:off x="873125" y="3263900"/>
            <a:ext cx="228600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Isosceles Triangle 7"/>
          <p:cNvSpPr>
            <a:spLocks noChangeArrowheads="1"/>
          </p:cNvSpPr>
          <p:nvPr/>
        </p:nvSpPr>
        <p:spPr bwMode="auto">
          <a:xfrm>
            <a:off x="1279525" y="3582988"/>
            <a:ext cx="573088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30729" name="Isosceles Triangle 8"/>
          <p:cNvSpPr>
            <a:spLocks noChangeArrowheads="1"/>
          </p:cNvSpPr>
          <p:nvPr/>
        </p:nvSpPr>
        <p:spPr bwMode="auto">
          <a:xfrm>
            <a:off x="585788" y="3582988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73088" y="4092575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1392238" y="41179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30732" name="Isosceles Triangle 12"/>
          <p:cNvSpPr>
            <a:spLocks noChangeArrowheads="1"/>
          </p:cNvSpPr>
          <p:nvPr/>
        </p:nvSpPr>
        <p:spPr bwMode="auto">
          <a:xfrm>
            <a:off x="1743075" y="296862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730375" y="3478213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0734" name="Line 11"/>
          <p:cNvSpPr>
            <a:spLocks noChangeShapeType="1"/>
          </p:cNvSpPr>
          <p:nvPr/>
        </p:nvSpPr>
        <p:spPr bwMode="auto">
          <a:xfrm flipH="1">
            <a:off x="1279525" y="2584450"/>
            <a:ext cx="268288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360488" y="2222500"/>
            <a:ext cx="6223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</a:t>
            </a:r>
            <a:r>
              <a:rPr lang="en-US" sz="2000" b="0" dirty="0">
                <a:latin typeface="+mn-lt"/>
              </a:rPr>
              <a:t>1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904875" y="28956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0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1465263" y="2211388"/>
            <a:ext cx="411162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1008063" y="2901950"/>
            <a:ext cx="411162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836988" y="2251075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4675188" y="2628900"/>
            <a:ext cx="266700" cy="366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373438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>
            <a:off x="4264025" y="3290888"/>
            <a:ext cx="207963" cy="319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H="1">
            <a:off x="3762375" y="3306763"/>
            <a:ext cx="233363" cy="303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Isosceles Triangle 25"/>
          <p:cNvSpPr>
            <a:spLocks noChangeArrowheads="1"/>
          </p:cNvSpPr>
          <p:nvPr/>
        </p:nvSpPr>
        <p:spPr bwMode="auto">
          <a:xfrm>
            <a:off x="4189413" y="360997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27" name="Isosceles Triangle 26"/>
          <p:cNvSpPr>
            <a:spLocks noChangeArrowheads="1"/>
          </p:cNvSpPr>
          <p:nvPr/>
        </p:nvSpPr>
        <p:spPr bwMode="auto">
          <a:xfrm>
            <a:off x="3413125" y="3609975"/>
            <a:ext cx="698500" cy="1201738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3489325" y="44275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h+1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303713" y="414496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30" name="Isosceles Triangle 29"/>
          <p:cNvSpPr>
            <a:spLocks noChangeArrowheads="1"/>
          </p:cNvSpPr>
          <p:nvPr/>
        </p:nvSpPr>
        <p:spPr bwMode="auto">
          <a:xfrm>
            <a:off x="4654550" y="2995613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4640263" y="35052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 flipH="1">
            <a:off x="4189413" y="2611438"/>
            <a:ext cx="269875" cy="344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4270375" y="2249488"/>
            <a:ext cx="6223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2</a:t>
            </a:r>
            <a:endParaRPr lang="en-US" sz="2000" b="0" dirty="0">
              <a:latin typeface="+mn-lt"/>
            </a:endParaRP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3816350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1</a:t>
            </a:r>
            <a:endParaRPr lang="en-US" sz="2000" b="0" dirty="0">
              <a:latin typeface="+mn-lt"/>
            </a:endParaRPr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4376738" y="2238375"/>
            <a:ext cx="411162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3919538" y="2928938"/>
            <a:ext cx="411162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8074025" y="29479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>
            <a:off x="8027988" y="3316288"/>
            <a:ext cx="207962" cy="319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 flipH="1">
            <a:off x="7546975" y="3316288"/>
            <a:ext cx="228600" cy="319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Isosceles Triangle 39"/>
          <p:cNvSpPr>
            <a:spLocks noChangeArrowheads="1"/>
          </p:cNvSpPr>
          <p:nvPr/>
        </p:nvSpPr>
        <p:spPr bwMode="auto">
          <a:xfrm>
            <a:off x="7953375" y="363537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41" name="Isosceles Triangle 40"/>
          <p:cNvSpPr>
            <a:spLocks noChangeArrowheads="1"/>
          </p:cNvSpPr>
          <p:nvPr/>
        </p:nvSpPr>
        <p:spPr bwMode="auto">
          <a:xfrm>
            <a:off x="7259638" y="363537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7246938" y="4144963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8066088" y="4170363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7578725" y="29479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0</a:t>
            </a: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683500" y="2954338"/>
            <a:ext cx="411163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737350" y="22812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7629525" y="2647950"/>
            <a:ext cx="206375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11"/>
          <p:cNvSpPr>
            <a:spLocks noChangeShapeType="1"/>
          </p:cNvSpPr>
          <p:nvPr/>
        </p:nvSpPr>
        <p:spPr bwMode="auto">
          <a:xfrm flipH="1">
            <a:off x="6780213" y="2647950"/>
            <a:ext cx="596900" cy="717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Isosceles Triangle 50"/>
          <p:cNvSpPr>
            <a:spLocks noChangeArrowheads="1"/>
          </p:cNvSpPr>
          <p:nvPr/>
        </p:nvSpPr>
        <p:spPr bwMode="auto">
          <a:xfrm>
            <a:off x="6432550" y="3346450"/>
            <a:ext cx="696913" cy="1203325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507163" y="415925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h+1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7180263" y="22812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0</a:t>
            </a:r>
            <a:endParaRPr lang="en-US" sz="2000" b="0" dirty="0">
              <a:latin typeface="+mn-lt"/>
            </a:endParaRP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7283450" y="2287588"/>
            <a:ext cx="411163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0771" name="Rectangle 54"/>
          <p:cNvSpPr>
            <a:spLocks noChangeArrowheads="1"/>
          </p:cNvSpPr>
          <p:nvPr/>
        </p:nvSpPr>
        <p:spPr bwMode="auto">
          <a:xfrm>
            <a:off x="539750" y="1123950"/>
            <a:ext cx="1919288" cy="3698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before insertion</a:t>
            </a:r>
            <a:endParaRPr lang="en-US" sz="2000"/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3373438" y="1139825"/>
            <a:ext cx="2024062" cy="922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after insertion in the left subtree of the left child</a:t>
            </a:r>
            <a:endParaRPr lang="en-US" sz="2000"/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432550" y="1123950"/>
            <a:ext cx="2095500" cy="3698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after right rotation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 animBg="1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6" grpId="0"/>
      <p:bldP spid="47" grpId="0" animBg="1"/>
      <p:bldP spid="48" grpId="0"/>
      <p:bldP spid="49" grpId="0" animBg="1"/>
      <p:bldP spid="50" grpId="0" animBg="1"/>
      <p:bldP spid="51" grpId="0" animBg="1"/>
      <p:bldP spid="52" grpId="0"/>
      <p:bldP spid="53" grpId="0"/>
      <p:bldP spid="54" grpId="0" animBg="1"/>
      <p:bldP spid="56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657225" y="22240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31747" name="Line 11"/>
          <p:cNvSpPr>
            <a:spLocks noChangeShapeType="1"/>
          </p:cNvSpPr>
          <p:nvPr/>
        </p:nvSpPr>
        <p:spPr bwMode="auto">
          <a:xfrm>
            <a:off x="1495425" y="2601913"/>
            <a:ext cx="266700" cy="366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Rectangle 22"/>
          <p:cNvSpPr txBox="1">
            <a:spLocks noChangeArrowheads="1"/>
          </p:cNvSpPr>
          <p:nvPr/>
        </p:nvSpPr>
        <p:spPr bwMode="auto">
          <a:xfrm>
            <a:off x="501650" y="279400"/>
            <a:ext cx="8186738" cy="500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sz="3200" b="0">
                <a:solidFill>
                  <a:schemeClr val="accent2"/>
                </a:solidFill>
              </a:rPr>
              <a:t>AVL trees: rebalancing a tree: case 2</a:t>
            </a: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193675" y="28956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31750" name="Line 11"/>
          <p:cNvSpPr>
            <a:spLocks noChangeShapeType="1"/>
          </p:cNvSpPr>
          <p:nvPr/>
        </p:nvSpPr>
        <p:spPr bwMode="auto">
          <a:xfrm>
            <a:off x="1084263" y="3263900"/>
            <a:ext cx="207962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11"/>
          <p:cNvSpPr>
            <a:spLocks noChangeShapeType="1"/>
          </p:cNvSpPr>
          <p:nvPr/>
        </p:nvSpPr>
        <p:spPr bwMode="auto">
          <a:xfrm flipH="1">
            <a:off x="603250" y="3263900"/>
            <a:ext cx="230188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Isosceles Triangle 7"/>
          <p:cNvSpPr>
            <a:spLocks noChangeArrowheads="1"/>
          </p:cNvSpPr>
          <p:nvPr/>
        </p:nvSpPr>
        <p:spPr bwMode="auto">
          <a:xfrm>
            <a:off x="1009650" y="3582988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31753" name="Isosceles Triangle 8"/>
          <p:cNvSpPr>
            <a:spLocks noChangeArrowheads="1"/>
          </p:cNvSpPr>
          <p:nvPr/>
        </p:nvSpPr>
        <p:spPr bwMode="auto">
          <a:xfrm>
            <a:off x="317500" y="3582988"/>
            <a:ext cx="573088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03213" y="4092575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1755" name="Rectangle 10"/>
          <p:cNvSpPr>
            <a:spLocks noChangeArrowheads="1"/>
          </p:cNvSpPr>
          <p:nvPr/>
        </p:nvSpPr>
        <p:spPr bwMode="auto">
          <a:xfrm>
            <a:off x="1123950" y="41179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31756" name="Isosceles Triangle 11"/>
          <p:cNvSpPr>
            <a:spLocks noChangeArrowheads="1"/>
          </p:cNvSpPr>
          <p:nvPr/>
        </p:nvSpPr>
        <p:spPr bwMode="auto">
          <a:xfrm>
            <a:off x="1474788" y="2968625"/>
            <a:ext cx="573087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0" y="3478213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1758" name="Line 11"/>
          <p:cNvSpPr>
            <a:spLocks noChangeShapeType="1"/>
          </p:cNvSpPr>
          <p:nvPr/>
        </p:nvSpPr>
        <p:spPr bwMode="auto">
          <a:xfrm flipH="1">
            <a:off x="1009650" y="2584450"/>
            <a:ext cx="269875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090613" y="2222500"/>
            <a:ext cx="6223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</a:t>
            </a:r>
            <a:r>
              <a:rPr lang="en-US" sz="2000" b="0" dirty="0">
                <a:latin typeface="+mn-lt"/>
              </a:rPr>
              <a:t>1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36588" y="28956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0</a:t>
            </a:r>
          </a:p>
        </p:txBody>
      </p:sp>
      <p:sp>
        <p:nvSpPr>
          <p:cNvPr id="31761" name="Oval 16"/>
          <p:cNvSpPr>
            <a:spLocks noChangeArrowheads="1"/>
          </p:cNvSpPr>
          <p:nvPr/>
        </p:nvSpPr>
        <p:spPr bwMode="auto">
          <a:xfrm>
            <a:off x="1196975" y="2211388"/>
            <a:ext cx="411163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1762" name="Oval 17"/>
          <p:cNvSpPr>
            <a:spLocks noChangeArrowheads="1"/>
          </p:cNvSpPr>
          <p:nvPr/>
        </p:nvSpPr>
        <p:spPr bwMode="auto">
          <a:xfrm>
            <a:off x="739775" y="2901950"/>
            <a:ext cx="411163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808288" y="2251075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3646488" y="2628900"/>
            <a:ext cx="265112" cy="366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344738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3235325" y="3290888"/>
            <a:ext cx="227013" cy="319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 flipH="1">
            <a:off x="2754313" y="3290888"/>
            <a:ext cx="228600" cy="319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Isosceles Triangle 23"/>
          <p:cNvSpPr>
            <a:spLocks noChangeArrowheads="1"/>
          </p:cNvSpPr>
          <p:nvPr/>
        </p:nvSpPr>
        <p:spPr bwMode="auto">
          <a:xfrm>
            <a:off x="2470150" y="3609975"/>
            <a:ext cx="573088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25" name="Isosceles Triangle 24"/>
          <p:cNvSpPr>
            <a:spLocks noChangeArrowheads="1"/>
          </p:cNvSpPr>
          <p:nvPr/>
        </p:nvSpPr>
        <p:spPr bwMode="auto">
          <a:xfrm>
            <a:off x="3114675" y="3609975"/>
            <a:ext cx="696913" cy="1201738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3189288" y="44275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h+1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582863" y="414496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28" name="Isosceles Triangle 27"/>
          <p:cNvSpPr>
            <a:spLocks noChangeArrowheads="1"/>
          </p:cNvSpPr>
          <p:nvPr/>
        </p:nvSpPr>
        <p:spPr bwMode="auto">
          <a:xfrm>
            <a:off x="3625850" y="2995613"/>
            <a:ext cx="573088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3611563" y="35052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H="1">
            <a:off x="3160713" y="2611438"/>
            <a:ext cx="269875" cy="344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3241675" y="2249488"/>
            <a:ext cx="6223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2</a:t>
            </a:r>
            <a:endParaRPr lang="en-US" sz="2000" b="0" dirty="0">
              <a:latin typeface="+mn-lt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786063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+1</a:t>
            </a:r>
            <a:endParaRPr lang="en-US" sz="2000" b="0" dirty="0">
              <a:latin typeface="+mn-lt"/>
            </a:endParaRPr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3346450" y="2238375"/>
            <a:ext cx="412750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2889250" y="2928938"/>
            <a:ext cx="412750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31779" name="Rectangle 50"/>
          <p:cNvSpPr>
            <a:spLocks noChangeArrowheads="1"/>
          </p:cNvSpPr>
          <p:nvPr/>
        </p:nvSpPr>
        <p:spPr bwMode="auto">
          <a:xfrm>
            <a:off x="269875" y="1123950"/>
            <a:ext cx="1919288" cy="3698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before insertion</a:t>
            </a:r>
            <a:endParaRPr lang="en-US" sz="2000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2344738" y="1123950"/>
            <a:ext cx="2024062" cy="923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after insertion in the right subtree of the left child</a:t>
            </a:r>
            <a:endParaRPr lang="en-US" sz="2000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470650" y="1123950"/>
            <a:ext cx="2555875" cy="923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after left rotation of R about Q and then right rotation of R about P</a:t>
            </a:r>
            <a:endParaRPr lang="en-US" sz="2000"/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4843463" y="2251075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5724525" y="2611438"/>
            <a:ext cx="300038" cy="384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4379913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57" name="Line 11"/>
          <p:cNvSpPr>
            <a:spLocks noChangeShapeType="1"/>
          </p:cNvSpPr>
          <p:nvPr/>
        </p:nvSpPr>
        <p:spPr bwMode="auto">
          <a:xfrm>
            <a:off x="5262563" y="3290888"/>
            <a:ext cx="203200" cy="303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11"/>
          <p:cNvSpPr>
            <a:spLocks noChangeShapeType="1"/>
          </p:cNvSpPr>
          <p:nvPr/>
        </p:nvSpPr>
        <p:spPr bwMode="auto">
          <a:xfrm flipH="1">
            <a:off x="4751388" y="3302000"/>
            <a:ext cx="241300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Isosceles Triangle 58"/>
          <p:cNvSpPr>
            <a:spLocks noChangeArrowheads="1"/>
          </p:cNvSpPr>
          <p:nvPr/>
        </p:nvSpPr>
        <p:spPr bwMode="auto">
          <a:xfrm>
            <a:off x="4464050" y="360997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4625975" y="414496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63" name="Isosceles Triangle 62"/>
          <p:cNvSpPr>
            <a:spLocks noChangeArrowheads="1"/>
          </p:cNvSpPr>
          <p:nvPr/>
        </p:nvSpPr>
        <p:spPr bwMode="auto">
          <a:xfrm>
            <a:off x="5737225" y="2995613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5724525" y="350520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65" name="Line 11"/>
          <p:cNvSpPr>
            <a:spLocks noChangeShapeType="1"/>
          </p:cNvSpPr>
          <p:nvPr/>
        </p:nvSpPr>
        <p:spPr bwMode="auto">
          <a:xfrm flipH="1">
            <a:off x="5195888" y="2611438"/>
            <a:ext cx="269875" cy="344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Rectangle 4"/>
          <p:cNvSpPr>
            <a:spLocks noChangeArrowheads="1"/>
          </p:cNvSpPr>
          <p:nvPr/>
        </p:nvSpPr>
        <p:spPr bwMode="auto">
          <a:xfrm>
            <a:off x="5276850" y="2249488"/>
            <a:ext cx="6223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2</a:t>
            </a:r>
            <a:endParaRPr lang="en-US" sz="2000" b="0" dirty="0">
              <a:latin typeface="+mn-lt"/>
            </a:endParaRP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4822825" y="29225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+1</a:t>
            </a:r>
            <a:endParaRPr lang="en-US" sz="2000" b="0" dirty="0">
              <a:latin typeface="+mn-lt"/>
            </a:endParaRPr>
          </a:p>
        </p:txBody>
      </p: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5383213" y="2238375"/>
            <a:ext cx="411162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69" name="Oval 68"/>
          <p:cNvSpPr>
            <a:spLocks noChangeArrowheads="1"/>
          </p:cNvSpPr>
          <p:nvPr/>
        </p:nvSpPr>
        <p:spPr bwMode="auto">
          <a:xfrm>
            <a:off x="4926013" y="2928938"/>
            <a:ext cx="411162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5186363" y="3605213"/>
            <a:ext cx="6223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1</a:t>
            </a:r>
            <a:endParaRPr lang="en-US" sz="2000" b="0" dirty="0">
              <a:latin typeface="+mn-lt"/>
            </a:endParaRPr>
          </a:p>
        </p:txBody>
      </p:sp>
      <p:sp>
        <p:nvSpPr>
          <p:cNvPr id="71" name="Oval 70"/>
          <p:cNvSpPr>
            <a:spLocks noChangeArrowheads="1"/>
          </p:cNvSpPr>
          <p:nvPr/>
        </p:nvSpPr>
        <p:spPr bwMode="auto">
          <a:xfrm>
            <a:off x="5281613" y="3594100"/>
            <a:ext cx="411162" cy="41116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72" name="Line 11"/>
          <p:cNvSpPr>
            <a:spLocks noChangeShapeType="1"/>
          </p:cNvSpPr>
          <p:nvPr/>
        </p:nvSpPr>
        <p:spPr bwMode="auto">
          <a:xfrm>
            <a:off x="5608638" y="3967163"/>
            <a:ext cx="238125" cy="334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11"/>
          <p:cNvSpPr>
            <a:spLocks noChangeShapeType="1"/>
          </p:cNvSpPr>
          <p:nvPr/>
        </p:nvSpPr>
        <p:spPr bwMode="auto">
          <a:xfrm flipH="1">
            <a:off x="5173663" y="3978275"/>
            <a:ext cx="228600" cy="319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Isosceles Triangle 73"/>
          <p:cNvSpPr>
            <a:spLocks noChangeArrowheads="1"/>
          </p:cNvSpPr>
          <p:nvPr/>
        </p:nvSpPr>
        <p:spPr bwMode="auto">
          <a:xfrm>
            <a:off x="5616575" y="4297363"/>
            <a:ext cx="460375" cy="6286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75" name="Isosceles Triangle 74"/>
          <p:cNvSpPr>
            <a:spLocks noChangeArrowheads="1"/>
          </p:cNvSpPr>
          <p:nvPr/>
        </p:nvSpPr>
        <p:spPr bwMode="auto">
          <a:xfrm>
            <a:off x="4886325" y="4297363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4873625" y="4806950"/>
            <a:ext cx="6223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5616575" y="4903788"/>
            <a:ext cx="652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h-1</a:t>
            </a:r>
            <a:endParaRPr lang="en-US" sz="2000"/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4802188" y="358298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R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4648200" y="1123950"/>
            <a:ext cx="1612900" cy="647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>
                <a:solidFill>
                  <a:srgbClr val="000000"/>
                </a:solidFill>
              </a:rPr>
              <a:t>the same tree after insertion</a:t>
            </a:r>
            <a:endParaRPr lang="en-US" sz="2000"/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7675563" y="28908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81" name="Line 11"/>
          <p:cNvSpPr>
            <a:spLocks noChangeShapeType="1"/>
          </p:cNvSpPr>
          <p:nvPr/>
        </p:nvSpPr>
        <p:spPr bwMode="auto">
          <a:xfrm>
            <a:off x="8566150" y="3257550"/>
            <a:ext cx="207963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11"/>
          <p:cNvSpPr>
            <a:spLocks noChangeShapeType="1"/>
          </p:cNvSpPr>
          <p:nvPr/>
        </p:nvSpPr>
        <p:spPr bwMode="auto">
          <a:xfrm flipH="1">
            <a:off x="8069263" y="3257550"/>
            <a:ext cx="244475" cy="352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Isosceles Triangle 82"/>
          <p:cNvSpPr>
            <a:spLocks noChangeArrowheads="1"/>
          </p:cNvSpPr>
          <p:nvPr/>
        </p:nvSpPr>
        <p:spPr bwMode="auto">
          <a:xfrm>
            <a:off x="8491538" y="3578225"/>
            <a:ext cx="573087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8604250" y="41132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8116888" y="28908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+1</a:t>
            </a:r>
          </a:p>
        </p:txBody>
      </p:sp>
      <p:sp>
        <p:nvSpPr>
          <p:cNvPr id="88" name="Oval 87"/>
          <p:cNvSpPr>
            <a:spLocks noChangeArrowheads="1"/>
          </p:cNvSpPr>
          <p:nvPr/>
        </p:nvSpPr>
        <p:spPr bwMode="auto">
          <a:xfrm>
            <a:off x="8220075" y="2897188"/>
            <a:ext cx="411163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375400" y="28908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Q</a:t>
            </a: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>
            <a:off x="7265988" y="3257550"/>
            <a:ext cx="207962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11"/>
          <p:cNvSpPr>
            <a:spLocks noChangeShapeType="1"/>
          </p:cNvSpPr>
          <p:nvPr/>
        </p:nvSpPr>
        <p:spPr bwMode="auto">
          <a:xfrm flipH="1">
            <a:off x="6784975" y="3257550"/>
            <a:ext cx="230188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Isosceles Triangle 91"/>
          <p:cNvSpPr>
            <a:spLocks noChangeArrowheads="1"/>
          </p:cNvSpPr>
          <p:nvPr/>
        </p:nvSpPr>
        <p:spPr bwMode="auto">
          <a:xfrm>
            <a:off x="7191375" y="3578225"/>
            <a:ext cx="574675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93" name="Isosceles Triangle 92"/>
          <p:cNvSpPr>
            <a:spLocks noChangeArrowheads="1"/>
          </p:cNvSpPr>
          <p:nvPr/>
        </p:nvSpPr>
        <p:spPr bwMode="auto">
          <a:xfrm>
            <a:off x="6499225" y="3578225"/>
            <a:ext cx="573088" cy="9207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484938" y="4087813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h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7305675" y="41132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</a:t>
            </a:r>
            <a:endParaRPr lang="en-US" sz="2000"/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818313" y="28908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</a:rPr>
              <a:t>0</a:t>
            </a:r>
          </a:p>
        </p:txBody>
      </p:sp>
      <p:sp>
        <p:nvSpPr>
          <p:cNvPr id="97" name="Oval 96"/>
          <p:cNvSpPr>
            <a:spLocks noChangeArrowheads="1"/>
          </p:cNvSpPr>
          <p:nvPr/>
        </p:nvSpPr>
        <p:spPr bwMode="auto">
          <a:xfrm>
            <a:off x="6921500" y="2897188"/>
            <a:ext cx="411163" cy="4111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98" name="Rectangle 4"/>
          <p:cNvSpPr>
            <a:spLocks noChangeArrowheads="1"/>
          </p:cNvSpPr>
          <p:nvPr/>
        </p:nvSpPr>
        <p:spPr bwMode="auto">
          <a:xfrm>
            <a:off x="7018338" y="2128838"/>
            <a:ext cx="6223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US" sz="2400" b="0">
                <a:latin typeface="Arial Unicode MS" pitchFamily="34" charset="-128"/>
              </a:rPr>
              <a:t>R</a:t>
            </a:r>
          </a:p>
        </p:txBody>
      </p:sp>
      <p:sp>
        <p:nvSpPr>
          <p:cNvPr id="99" name="Line 11"/>
          <p:cNvSpPr>
            <a:spLocks noChangeShapeType="1"/>
          </p:cNvSpPr>
          <p:nvPr/>
        </p:nvSpPr>
        <p:spPr bwMode="auto">
          <a:xfrm>
            <a:off x="7875588" y="2489200"/>
            <a:ext cx="496887" cy="401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Line 11"/>
          <p:cNvSpPr>
            <a:spLocks noChangeShapeType="1"/>
          </p:cNvSpPr>
          <p:nvPr/>
        </p:nvSpPr>
        <p:spPr bwMode="auto">
          <a:xfrm flipH="1">
            <a:off x="7191375" y="2489200"/>
            <a:ext cx="447675" cy="412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Rectangle 4"/>
          <p:cNvSpPr>
            <a:spLocks noChangeArrowheads="1"/>
          </p:cNvSpPr>
          <p:nvPr/>
        </p:nvSpPr>
        <p:spPr bwMode="auto">
          <a:xfrm>
            <a:off x="7451725" y="2127250"/>
            <a:ext cx="6223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  <a:defRPr/>
            </a:pPr>
            <a:r>
              <a:rPr lang="en-US" sz="2000" b="0" dirty="0">
                <a:latin typeface="+mn-lt"/>
                <a:sym typeface="Symbol"/>
              </a:rPr>
              <a:t>0</a:t>
            </a:r>
            <a:endParaRPr lang="en-US" sz="2000" b="0" dirty="0">
              <a:latin typeface="+mn-lt"/>
            </a:endParaRPr>
          </a:p>
        </p:txBody>
      </p:sp>
      <p:sp>
        <p:nvSpPr>
          <p:cNvPr id="102" name="Oval 101"/>
          <p:cNvSpPr>
            <a:spLocks noChangeArrowheads="1"/>
          </p:cNvSpPr>
          <p:nvPr/>
        </p:nvSpPr>
        <p:spPr bwMode="auto">
          <a:xfrm>
            <a:off x="7556500" y="2116138"/>
            <a:ext cx="411163" cy="41275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/>
          </a:p>
        </p:txBody>
      </p:sp>
      <p:sp>
        <p:nvSpPr>
          <p:cNvPr id="104" name="Isosceles Triangle 103"/>
          <p:cNvSpPr>
            <a:spLocks noChangeArrowheads="1"/>
          </p:cNvSpPr>
          <p:nvPr/>
        </p:nvSpPr>
        <p:spPr bwMode="auto">
          <a:xfrm>
            <a:off x="7839075" y="3602038"/>
            <a:ext cx="460375" cy="62865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/>
            <a:endParaRPr lang="en-US" sz="2000"/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7839075" y="4206875"/>
            <a:ext cx="652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0">
                <a:solidFill>
                  <a:srgbClr val="000000"/>
                </a:solidFill>
              </a:rPr>
              <a:t>h-1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/>
      <p:bldP spid="30" grpId="0" animBg="1"/>
      <p:bldP spid="31" grpId="0"/>
      <p:bldP spid="32" grpId="0"/>
      <p:bldP spid="33" grpId="0" animBg="1"/>
      <p:bldP spid="34" grpId="0" animBg="1"/>
      <p:bldP spid="52" grpId="0" animBg="1"/>
      <p:bldP spid="53" grpId="0" animBg="1"/>
      <p:bldP spid="54" grpId="0"/>
      <p:bldP spid="55" grpId="0" animBg="1"/>
      <p:bldP spid="56" grpId="0"/>
      <p:bldP spid="57" grpId="0" animBg="1"/>
      <p:bldP spid="58" grpId="0" animBg="1"/>
      <p:bldP spid="59" grpId="0" animBg="1"/>
      <p:bldP spid="62" grpId="0"/>
      <p:bldP spid="63" grpId="0" animBg="1"/>
      <p:bldP spid="64" grpId="0"/>
      <p:bldP spid="65" grpId="0" animBg="1"/>
      <p:bldP spid="66" grpId="0"/>
      <p:bldP spid="67" grpId="0"/>
      <p:bldP spid="68" grpId="0" animBg="1"/>
      <p:bldP spid="69" grpId="0" animBg="1"/>
      <p:bldP spid="7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 animBg="1"/>
      <p:bldP spid="80" grpId="0"/>
      <p:bldP spid="81" grpId="0" animBg="1"/>
      <p:bldP spid="82" grpId="0" animBg="1"/>
      <p:bldP spid="83" grpId="0" animBg="1"/>
      <p:bldP spid="86" grpId="0"/>
      <p:bldP spid="87" grpId="0"/>
      <p:bldP spid="88" grpId="0" animBg="1"/>
      <p:bldP spid="89" grpId="0"/>
      <p:bldP spid="90" grpId="0" animBg="1"/>
      <p:bldP spid="91" grpId="0" animBg="1"/>
      <p:bldP spid="92" grpId="0" animBg="1"/>
      <p:bldP spid="93" grpId="0" animBg="1"/>
      <p:bldP spid="94" grpId="0"/>
      <p:bldP spid="95" grpId="0"/>
      <p:bldP spid="96" grpId="0"/>
      <p:bldP spid="97" grpId="0" animBg="1"/>
      <p:bldP spid="98" grpId="0"/>
      <p:bldP spid="99" grpId="0" animBg="1"/>
      <p:bldP spid="100" grpId="0" animBg="1"/>
      <p:bldP spid="101" grpId="0"/>
      <p:bldP spid="102" grpId="0" animBg="1"/>
      <p:bldP spid="104" grpId="0" animBg="1"/>
      <p:bldP spid="105" grpId="0"/>
    </p:bldLst>
  </p:timing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C:\sahni\cop3530\slides\template.ppt</Template>
  <TotalTime>31244</TotalTime>
  <Words>458</Words>
  <Application>Microsoft Office PowerPoint</Application>
  <PresentationFormat>On-screen Show (4:3)</PresentationFormat>
  <Paragraphs>151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Courier New</vt:lpstr>
      <vt:lpstr>Symbol</vt:lpstr>
      <vt:lpstr>Times New Roman</vt:lpstr>
      <vt:lpstr>Wingdings</vt:lpstr>
      <vt:lpstr>template</vt:lpstr>
      <vt:lpstr>Rotations</vt:lpstr>
      <vt:lpstr>PowerPoint Presentation</vt:lpstr>
      <vt:lpstr>Left rotation</vt:lpstr>
      <vt:lpstr>Self-adjusting trees</vt:lpstr>
      <vt:lpstr>Single rotation technique: example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Preferred Customer</dc:creator>
  <cp:lastModifiedBy>Adam Drozdek</cp:lastModifiedBy>
  <cp:revision>107</cp:revision>
  <cp:lastPrinted>2012-11-26T22:57:27Z</cp:lastPrinted>
  <dcterms:created xsi:type="dcterms:W3CDTF">1995-06-17T23:31:02Z</dcterms:created>
  <dcterms:modified xsi:type="dcterms:W3CDTF">2024-11-05T15:54:57Z</dcterms:modified>
</cp:coreProperties>
</file>